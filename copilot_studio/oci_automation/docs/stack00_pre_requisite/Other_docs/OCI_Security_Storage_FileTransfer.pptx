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648" r:id="rId5"/>
  </p:sldMasterIdLst>
  <p:notesMasterIdLst>
    <p:notesMasterId r:id="rId25"/>
  </p:notesMasterIdLst>
  <p:handoutMasterIdLst>
    <p:handoutMasterId r:id="rId26"/>
  </p:handoutMasterIdLst>
  <p:sldIdLst>
    <p:sldId id="1209490579" r:id="rId6"/>
    <p:sldId id="2141411993" r:id="rId7"/>
    <p:sldId id="2141412000" r:id="rId8"/>
    <p:sldId id="2141411994" r:id="rId9"/>
    <p:sldId id="259" r:id="rId10"/>
    <p:sldId id="258" r:id="rId11"/>
    <p:sldId id="268" r:id="rId12"/>
    <p:sldId id="261" r:id="rId13"/>
    <p:sldId id="269" r:id="rId14"/>
    <p:sldId id="2141411999" r:id="rId15"/>
    <p:sldId id="271" r:id="rId16"/>
    <p:sldId id="267" r:id="rId17"/>
    <p:sldId id="257" r:id="rId18"/>
    <p:sldId id="2141411996" r:id="rId19"/>
    <p:sldId id="262" r:id="rId20"/>
    <p:sldId id="2141411997" r:id="rId21"/>
    <p:sldId id="2141411998" r:id="rId22"/>
    <p:sldId id="266" r:id="rId23"/>
    <p:sldId id="214141199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8EA"/>
    <a:srgbClr val="FFFFFF"/>
    <a:srgbClr val="F5F5F5"/>
    <a:srgbClr val="FBE8DD"/>
    <a:srgbClr val="FDFAED"/>
    <a:srgbClr val="008000"/>
    <a:srgbClr val="FF6600"/>
    <a:srgbClr val="FEFCF4"/>
    <a:srgbClr val="FCF8E8"/>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44B3EF-63E4-D33C-D80D-28ECC9BD6DEC}" v="20" dt="2023-02-21T17:25:57.796"/>
    <p1510:client id="{2BE89040-C5EF-02E5-99B2-3E6C0456E4AF}" v="22" dt="2023-02-21T17:50:58.706"/>
    <p1510:client id="{9DA91672-E265-4874-BE60-0F32E3366026}" v="1" dt="2022-09-26T22:10:37.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49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2BE89040-C5EF-02E5-99B2-3E6C0456E4AF}"/>
    <pc:docChg chg="modSld">
      <pc:chgData name="" userId="" providerId="" clId="Web-{2BE89040-C5EF-02E5-99B2-3E6C0456E4AF}" dt="2023-02-21T17:49:19.844" v="1"/>
      <pc:docMkLst>
        <pc:docMk/>
      </pc:docMkLst>
      <pc:sldChg chg="delSp modSp">
        <pc:chgData name="" userId="" providerId="" clId="Web-{2BE89040-C5EF-02E5-99B2-3E6C0456E4AF}" dt="2023-02-21T17:49:19.844" v="1"/>
        <pc:sldMkLst>
          <pc:docMk/>
          <pc:sldMk cId="2344795700" sldId="2141411991"/>
        </pc:sldMkLst>
        <pc:picChg chg="del mod">
          <ac:chgData name="" userId="" providerId="" clId="Web-{2BE89040-C5EF-02E5-99B2-3E6C0456E4AF}" dt="2023-02-21T17:49:19.844" v="1"/>
          <ac:picMkLst>
            <pc:docMk/>
            <pc:sldMk cId="2344795700" sldId="2141411991"/>
            <ac:picMk id="9" creationId="{00000000-0000-0000-0000-000000000000}"/>
          </ac:picMkLst>
        </pc:picChg>
      </pc:sldChg>
    </pc:docChg>
  </pc:docChgLst>
  <pc:docChgLst>
    <pc:chgData name="Amjad Henawi" userId="S::ahenawi_delta.org#ext#@edgewater.onmicrosoft.com::1b077832-c162-4c78-a934-973d87114b5f" providerId="AD" clId="Web-{1144B3EF-63E4-D33C-D80D-28ECC9BD6DEC}"/>
    <pc:docChg chg="modSld">
      <pc:chgData name="Amjad Henawi" userId="S::ahenawi_delta.org#ext#@edgewater.onmicrosoft.com::1b077832-c162-4c78-a934-973d87114b5f" providerId="AD" clId="Web-{1144B3EF-63E4-D33C-D80D-28ECC9BD6DEC}" dt="2023-02-21T17:25:57.796" v="19" actId="1076"/>
      <pc:docMkLst>
        <pc:docMk/>
      </pc:docMkLst>
      <pc:sldChg chg="modSp">
        <pc:chgData name="Amjad Henawi" userId="S::ahenawi_delta.org#ext#@edgewater.onmicrosoft.com::1b077832-c162-4c78-a934-973d87114b5f" providerId="AD" clId="Web-{1144B3EF-63E4-D33C-D80D-28ECC9BD6DEC}" dt="2023-02-21T17:25:57.796" v="19" actId="1076"/>
        <pc:sldMkLst>
          <pc:docMk/>
          <pc:sldMk cId="2344795700" sldId="2141411991"/>
        </pc:sldMkLst>
        <pc:picChg chg="mod">
          <ac:chgData name="Amjad Henawi" userId="S::ahenawi_delta.org#ext#@edgewater.onmicrosoft.com::1b077832-c162-4c78-a934-973d87114b5f" providerId="AD" clId="Web-{1144B3EF-63E4-D33C-D80D-28ECC9BD6DEC}" dt="2023-02-21T17:25:57.796" v="19" actId="1076"/>
          <ac:picMkLst>
            <pc:docMk/>
            <pc:sldMk cId="2344795700" sldId="2141411991"/>
            <ac:picMk id="9" creationId="{00000000-0000-0000-0000-000000000000}"/>
          </ac:picMkLst>
        </pc:picChg>
      </pc:sldChg>
      <pc:sldChg chg="modSp">
        <pc:chgData name="Amjad Henawi" userId="S::ahenawi_delta.org#ext#@edgewater.onmicrosoft.com::1b077832-c162-4c78-a934-973d87114b5f" providerId="AD" clId="Web-{1144B3EF-63E4-D33C-D80D-28ECC9BD6DEC}" dt="2023-02-21T17:25:27.029" v="13" actId="1076"/>
        <pc:sldMkLst>
          <pc:docMk/>
          <pc:sldMk cId="2621951575" sldId="2141411994"/>
        </pc:sldMkLst>
        <pc:grpChg chg="mod">
          <ac:chgData name="Amjad Henawi" userId="S::ahenawi_delta.org#ext#@edgewater.onmicrosoft.com::1b077832-c162-4c78-a934-973d87114b5f" providerId="AD" clId="Web-{1144B3EF-63E4-D33C-D80D-28ECC9BD6DEC}" dt="2023-02-21T17:25:27.029" v="13" actId="1076"/>
          <ac:grpSpMkLst>
            <pc:docMk/>
            <pc:sldMk cId="2621951575" sldId="2141411994"/>
            <ac:grpSpMk id="80" creationId="{558DE50E-E940-FF54-31AC-55B4B3EEBD23}"/>
          </ac:grpSpMkLst>
        </pc:grpChg>
      </pc:sldChg>
    </pc:docChg>
  </pc:docChgLst>
  <pc:docChgLst>
    <pc:chgData name="Uma Prasath" userId="S::uma.prasath-prt@alithya.com::10b5dc1d-bcdf-406c-b6a0-e384053d82c0" providerId="AD" clId="Web-{2BE89040-C5EF-02E5-99B2-3E6C0456E4AF}"/>
    <pc:docChg chg="addSld delSld modSld addMainMaster">
      <pc:chgData name="Uma Prasath" userId="S::uma.prasath-prt@alithya.com::10b5dc1d-bcdf-406c-b6a0-e384053d82c0" providerId="AD" clId="Web-{2BE89040-C5EF-02E5-99B2-3E6C0456E4AF}" dt="2023-02-21T17:50:58.706" v="18" actId="1076"/>
      <pc:docMkLst>
        <pc:docMk/>
      </pc:docMkLst>
      <pc:sldChg chg="addSp delSp modSp del">
        <pc:chgData name="Uma Prasath" userId="S::uma.prasath-prt@alithya.com::10b5dc1d-bcdf-406c-b6a0-e384053d82c0" providerId="AD" clId="Web-{2BE89040-C5EF-02E5-99B2-3E6C0456E4AF}" dt="2023-02-21T17:50:52.753" v="17"/>
        <pc:sldMkLst>
          <pc:docMk/>
          <pc:sldMk cId="2344795700" sldId="2141411991"/>
        </pc:sldMkLst>
        <pc:picChg chg="add del mod">
          <ac:chgData name="Uma Prasath" userId="S::uma.prasath-prt@alithya.com::10b5dc1d-bcdf-406c-b6a0-e384053d82c0" providerId="AD" clId="Web-{2BE89040-C5EF-02E5-99B2-3E6C0456E4AF}" dt="2023-02-21T17:50:23.987" v="13"/>
          <ac:picMkLst>
            <pc:docMk/>
            <pc:sldMk cId="2344795700" sldId="2141411991"/>
            <ac:picMk id="2" creationId="{3630E3A5-FD88-41EA-95C4-1C35DB331657}"/>
          </ac:picMkLst>
        </pc:picChg>
        <pc:picChg chg="add mod">
          <ac:chgData name="Uma Prasath" userId="S::uma.prasath-prt@alithya.com::10b5dc1d-bcdf-406c-b6a0-e384053d82c0" providerId="AD" clId="Web-{2BE89040-C5EF-02E5-99B2-3E6C0456E4AF}" dt="2023-02-21T17:50:29.190" v="15" actId="1076"/>
          <ac:picMkLst>
            <pc:docMk/>
            <pc:sldMk cId="2344795700" sldId="2141411991"/>
            <ac:picMk id="9" creationId="{00000000-0000-0000-0000-000000000000}"/>
          </ac:picMkLst>
        </pc:picChg>
      </pc:sldChg>
      <pc:sldChg chg="modSp add">
        <pc:chgData name="Uma Prasath" userId="S::uma.prasath-prt@alithya.com::10b5dc1d-bcdf-406c-b6a0-e384053d82c0" providerId="AD" clId="Web-{2BE89040-C5EF-02E5-99B2-3E6C0456E4AF}" dt="2023-02-21T17:50:58.706" v="18" actId="1076"/>
        <pc:sldMkLst>
          <pc:docMk/>
          <pc:sldMk cId="529810655" sldId="2141412000"/>
        </pc:sldMkLst>
        <pc:picChg chg="mod">
          <ac:chgData name="Uma Prasath" userId="S::uma.prasath-prt@alithya.com::10b5dc1d-bcdf-406c-b6a0-e384053d82c0" providerId="AD" clId="Web-{2BE89040-C5EF-02E5-99B2-3E6C0456E4AF}" dt="2023-02-21T17:50:58.706" v="18" actId="1076"/>
          <ac:picMkLst>
            <pc:docMk/>
            <pc:sldMk cId="529810655" sldId="2141412000"/>
            <ac:picMk id="6" creationId="{5F2DDF3A-821E-C26D-BBCA-BA75D161A821}"/>
          </ac:picMkLst>
        </pc:picChg>
      </pc:sldChg>
      <pc:sldMasterChg chg="add addSldLayout">
        <pc:chgData name="Uma Prasath" userId="S::uma.prasath-prt@alithya.com::10b5dc1d-bcdf-406c-b6a0-e384053d82c0" providerId="AD" clId="Web-{2BE89040-C5EF-02E5-99B2-3E6C0456E4AF}" dt="2023-02-21T17:50:46.003" v="16"/>
        <pc:sldMasterMkLst>
          <pc:docMk/>
          <pc:sldMasterMk cId="0" sldId="2147483648"/>
        </pc:sldMasterMkLst>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49"/>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0"/>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1"/>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2"/>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3"/>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4"/>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5"/>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6"/>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7"/>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8"/>
          </pc:sldLayoutMkLst>
        </pc:sldLayoutChg>
        <pc:sldLayoutChg chg="add">
          <pc:chgData name="Uma Prasath" userId="S::uma.prasath-prt@alithya.com::10b5dc1d-bcdf-406c-b6a0-e384053d82c0" providerId="AD" clId="Web-{2BE89040-C5EF-02E5-99B2-3E6C0456E4AF}" dt="2023-02-21T17:50:46.003" v="16"/>
          <pc:sldLayoutMkLst>
            <pc:docMk/>
            <pc:sldMasterMk cId="0" sldId="2147483648"/>
            <pc:sldLayoutMk cId="0" sldId="214748365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622684-6AA4-A63B-6911-D061EFA3F2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8DC2158-D2C2-5EFD-487A-8A4E6AB59D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6F7106-BB66-4225-B079-67EC758C1522}" type="datetimeFigureOut">
              <a:rPr lang="en-IN" smtClean="0"/>
              <a:pPr/>
              <a:t>10-05-2023</a:t>
            </a:fld>
            <a:endParaRPr lang="en-IN"/>
          </a:p>
        </p:txBody>
      </p:sp>
      <p:sp>
        <p:nvSpPr>
          <p:cNvPr id="4" name="Footer Placeholder 3">
            <a:extLst>
              <a:ext uri="{FF2B5EF4-FFF2-40B4-BE49-F238E27FC236}">
                <a16:creationId xmlns:a16="http://schemas.microsoft.com/office/drawing/2014/main" id="{3B839C0C-83EF-1EAF-3A34-16ECCE7416C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E9A04ED-A201-7117-42C0-3C157A5BFF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9A9672-F203-46D0-BD54-1F0F5E3A0A53}" type="slidenum">
              <a:rPr lang="en-IN" smtClean="0"/>
              <a:pPr/>
              <a:t>‹#›</a:t>
            </a:fld>
            <a:endParaRPr lang="en-IN"/>
          </a:p>
        </p:txBody>
      </p:sp>
    </p:spTree>
    <p:extLst>
      <p:ext uri="{BB962C8B-B14F-4D97-AF65-F5344CB8AC3E}">
        <p14:creationId xmlns:p14="http://schemas.microsoft.com/office/powerpoint/2010/main" val="3620668512"/>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26T04:12:18.235"/>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9-26T04:13:17.758"/>
    </inkml:context>
    <inkml:brush xml:id="br0">
      <inkml:brushProperty name="width" value="0.05" units="cm"/>
      <inkml:brushProperty name="height" value="0.05" units="cm"/>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0BD858-6611-40AB-8B2F-B64146966F4E}" type="datetimeFigureOut">
              <a:rPr lang="en-IN" smtClean="0"/>
              <a:pPr/>
              <a:t>10-05-2023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8A2D34-5861-4F0C-AE15-ECCEE8A27AEF}" type="slidenum">
              <a:rPr lang="en-IN" smtClean="0"/>
              <a:pPr/>
              <a:t>‹#›</a:t>
            </a:fld>
            <a:endParaRPr lang="en-IN"/>
          </a:p>
        </p:txBody>
      </p:sp>
    </p:spTree>
    <p:extLst>
      <p:ext uri="{BB962C8B-B14F-4D97-AF65-F5344CB8AC3E}">
        <p14:creationId xmlns:p14="http://schemas.microsoft.com/office/powerpoint/2010/main" val="39834024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99b1690b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99b1690b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3754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499b1690b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499b1690b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51f6c94566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51f6c94566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499b1690b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499b1690b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9163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51f6c94566_2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51f6c94566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51f6c94566_2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51f6c94566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0473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1f6c94566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51f6c94566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1f6c94566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51f6c94566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132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49c1669b3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49c1669b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11190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2" name="LA logo">
            <a:extLst>
              <a:ext uri="{FF2B5EF4-FFF2-40B4-BE49-F238E27FC236}">
                <a16:creationId xmlns:a16="http://schemas.microsoft.com/office/drawing/2014/main" id="{D3CA55DD-E3C9-4CDA-BE88-00D4C53FF3A3}"/>
              </a:ext>
            </a:extLst>
          </p:cNvPr>
          <p:cNvPicPr>
            <a:picLocks noChangeAspect="1"/>
          </p:cNvPicPr>
          <p:nvPr/>
        </p:nvPicPr>
        <p:blipFill>
          <a:blip r:embed="rId2" cstate="print">
            <a:alphaModFix amt="23000"/>
            <a:extLst>
              <a:ext uri="{28A0092B-C50C-407E-A947-70E740481C1C}">
                <a14:useLocalDpi xmlns:a14="http://schemas.microsoft.com/office/drawing/2010/main" val="0"/>
              </a:ext>
            </a:extLst>
          </a:blip>
          <a:stretch>
            <a:fillRect/>
          </a:stretch>
        </p:blipFill>
        <p:spPr>
          <a:xfrm>
            <a:off x="-213155" y="-834455"/>
            <a:ext cx="9814355" cy="11071234"/>
          </a:xfrm>
          <a:prstGeom prst="rect">
            <a:avLst/>
          </a:prstGeom>
          <a:effectLst>
            <a:outerShdw blurRad="762000" dist="50800" dir="8640000" algn="ctr" rotWithShape="0">
              <a:srgbClr val="000000">
                <a:alpha val="43137"/>
              </a:srgbClr>
            </a:outerShdw>
          </a:effectLst>
        </p:spPr>
      </p:pic>
      <p:sp>
        <p:nvSpPr>
          <p:cNvPr id="3" name="Content Placeholder 2">
            <a:extLst>
              <a:ext uri="{FF2B5EF4-FFF2-40B4-BE49-F238E27FC236}">
                <a16:creationId xmlns:a16="http://schemas.microsoft.com/office/drawing/2014/main" id="{15E85F9B-08BD-45B2-89F9-71930FCE5683}"/>
              </a:ext>
            </a:extLst>
          </p:cNvPr>
          <p:cNvSpPr>
            <a:spLocks noGrp="1"/>
          </p:cNvSpPr>
          <p:nvPr>
            <p:ph sz="quarter" idx="13" hasCustomPrompt="1"/>
          </p:nvPr>
        </p:nvSpPr>
        <p:spPr>
          <a:xfrm>
            <a:off x="979358" y="1607664"/>
            <a:ext cx="6088062" cy="1576388"/>
          </a:xfrm>
          <a:prstGeom prst="rect">
            <a:avLst/>
          </a:prstGeom>
        </p:spPr>
        <p:txBody>
          <a:bodyPr/>
          <a:lstStyle>
            <a:lvl1pPr marL="0" indent="0" algn="l" defTabSz="914400" rtl="0" eaLnBrk="1" latinLnBrk="0" hangingPunct="1">
              <a:buNone/>
              <a:defRPr kumimoji="0" lang="en-US" sz="4800" b="0" i="0" u="none" strike="noStrike" kern="1200" cap="none" spc="0" normalizeH="0" baseline="0" dirty="0" smtClean="0">
                <a:ln>
                  <a:noFill/>
                </a:ln>
                <a:solidFill>
                  <a:srgbClr val="00338D"/>
                </a:solidFill>
                <a:effectLst/>
                <a:uLnTx/>
                <a:uFillTx/>
                <a:latin typeface="KPMG Light"/>
                <a:ea typeface="+mj-ea"/>
                <a:cs typeface="+mj-cs"/>
              </a:defRPr>
            </a:lvl1pPr>
            <a:lvl2pPr marL="0" indent="0" algn="l" defTabSz="914400" rtl="0" eaLnBrk="1" latinLnBrk="0" hangingPunct="1">
              <a:buNone/>
              <a:defRPr kumimoji="0" lang="en-US" sz="4800" b="0" i="0" u="none" strike="noStrike" kern="1200" cap="none" spc="0" normalizeH="0" baseline="0" dirty="0" smtClean="0">
                <a:ln>
                  <a:noFill/>
                </a:ln>
                <a:solidFill>
                  <a:srgbClr val="00338D"/>
                </a:solidFill>
                <a:effectLst/>
                <a:uLnTx/>
                <a:uFillTx/>
                <a:latin typeface="KPMG Light"/>
                <a:ea typeface="+mj-ea"/>
                <a:cs typeface="+mj-cs"/>
              </a:defRPr>
            </a:lvl2pPr>
            <a:lvl3pPr marL="0" indent="0" algn="l" defTabSz="914400" rtl="0" eaLnBrk="1" latinLnBrk="0" hangingPunct="1">
              <a:buNone/>
              <a:defRPr kumimoji="0" lang="en-US" sz="4800" b="0" i="0" u="none" strike="noStrike" kern="1200" cap="none" spc="0" normalizeH="0" baseline="0" dirty="0" smtClean="0">
                <a:ln>
                  <a:noFill/>
                </a:ln>
                <a:solidFill>
                  <a:srgbClr val="00338D"/>
                </a:solidFill>
                <a:effectLst/>
                <a:uLnTx/>
                <a:uFillTx/>
                <a:latin typeface="KPMG Light"/>
                <a:ea typeface="+mj-ea"/>
                <a:cs typeface="+mj-cs"/>
              </a:defRPr>
            </a:lvl3pPr>
            <a:lvl4pPr marL="1371600" indent="0">
              <a:buNone/>
              <a:defRPr/>
            </a:lvl4pPr>
            <a:lvl5pPr marL="1828800" indent="0">
              <a:buNone/>
              <a:defRPr/>
            </a:lvl5pPr>
          </a:lstStyle>
          <a:p>
            <a:pPr lvl="0"/>
            <a:r>
              <a:rPr lang="en-US"/>
              <a:t>Click to edit Title</a:t>
            </a:r>
          </a:p>
          <a:p>
            <a:pPr lvl="1"/>
            <a:endParaRPr lang="en-US"/>
          </a:p>
        </p:txBody>
      </p:sp>
      <p:sp>
        <p:nvSpPr>
          <p:cNvPr id="4" name="Date Placeholder 3"/>
          <p:cNvSpPr>
            <a:spLocks noGrp="1"/>
          </p:cNvSpPr>
          <p:nvPr>
            <p:ph type="dt" sz="half" idx="10"/>
          </p:nvPr>
        </p:nvSpPr>
        <p:spPr>
          <a:xfrm>
            <a:off x="989596" y="5703795"/>
            <a:ext cx="2743200" cy="365125"/>
          </a:xfrm>
          <a:prstGeom prst="rect">
            <a:avLst/>
          </a:prstGeom>
        </p:spPr>
        <p:txBody>
          <a:bodyPr/>
          <a:lstStyle>
            <a:lvl1pPr>
              <a:defRPr>
                <a:solidFill>
                  <a:srgbClr val="00338D"/>
                </a:solidFill>
              </a:defRPr>
            </a:lvl1pPr>
          </a:lstStyle>
          <a:p>
            <a:fld id="{BC2D3E13-ABC5-46D8-A320-83665842E65F}" type="datetimeFigureOut">
              <a:rPr lang="en-IN" smtClean="0"/>
              <a:pPr/>
              <a:t>10-05-2023</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a:defRPr>
                <a:solidFill>
                  <a:srgbClr val="00338D"/>
                </a:solidFill>
              </a:defRPr>
            </a:lvl1p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lvl1pPr>
              <a:defRPr sz="1100">
                <a:solidFill>
                  <a:srgbClr val="00338D"/>
                </a:solidFill>
              </a:defRPr>
            </a:lvl1pPr>
          </a:lstStyle>
          <a:p>
            <a:fld id="{EE664B4A-8DD3-4F23-8EE8-BF18733E589F}" type="slidenum">
              <a:rPr lang="en-IN" smtClean="0"/>
              <a:pPr/>
              <a:t>‹#›</a:t>
            </a:fld>
            <a:endParaRPr lang="en-IN"/>
          </a:p>
        </p:txBody>
      </p:sp>
      <p:grpSp>
        <p:nvGrpSpPr>
          <p:cNvPr id="7" name="Group 6">
            <a:extLst>
              <a:ext uri="{FF2B5EF4-FFF2-40B4-BE49-F238E27FC236}">
                <a16:creationId xmlns:a16="http://schemas.microsoft.com/office/drawing/2014/main" id="{79B77DAC-8E4A-4924-8ABE-5AE63F7DD5D8}"/>
              </a:ext>
            </a:extLst>
          </p:cNvPr>
          <p:cNvGrpSpPr/>
          <p:nvPr/>
        </p:nvGrpSpPr>
        <p:grpSpPr>
          <a:xfrm>
            <a:off x="0" y="328997"/>
            <a:ext cx="13149576" cy="1128483"/>
            <a:chOff x="9064" y="328997"/>
            <a:chExt cx="13149576" cy="1128483"/>
          </a:xfrm>
        </p:grpSpPr>
        <p:sp>
          <p:nvSpPr>
            <p:cNvPr id="8" name="GREEN BANNER BG">
              <a:extLst>
                <a:ext uri="{FF2B5EF4-FFF2-40B4-BE49-F238E27FC236}">
                  <a16:creationId xmlns:a16="http://schemas.microsoft.com/office/drawing/2014/main" id="{A36524FE-017E-484E-A01F-751D2E383593}"/>
                </a:ext>
              </a:extLst>
            </p:cNvPr>
            <p:cNvSpPr/>
            <p:nvPr/>
          </p:nvSpPr>
          <p:spPr>
            <a:xfrm>
              <a:off x="9064" y="328997"/>
              <a:ext cx="10407416" cy="1128483"/>
            </a:xfrm>
            <a:custGeom>
              <a:avLst/>
              <a:gdLst>
                <a:gd name="connsiteX0" fmla="*/ 0 w 9921240"/>
                <a:gd name="connsiteY0" fmla="*/ 0 h 1099488"/>
                <a:gd name="connsiteX1" fmla="*/ 9921240 w 9921240"/>
                <a:gd name="connsiteY1" fmla="*/ 0 h 1099488"/>
                <a:gd name="connsiteX2" fmla="*/ 9921240 w 9921240"/>
                <a:gd name="connsiteY2" fmla="*/ 1099488 h 1099488"/>
                <a:gd name="connsiteX3" fmla="*/ 0 w 9921240"/>
                <a:gd name="connsiteY3" fmla="*/ 1099488 h 1099488"/>
                <a:gd name="connsiteX4" fmla="*/ 0 w 9921240"/>
                <a:gd name="connsiteY4" fmla="*/ 0 h 1099488"/>
                <a:gd name="connsiteX0" fmla="*/ 0 w 10314432"/>
                <a:gd name="connsiteY0" fmla="*/ 0 h 1099488"/>
                <a:gd name="connsiteX1" fmla="*/ 10314432 w 10314432"/>
                <a:gd name="connsiteY1" fmla="*/ 18288 h 1099488"/>
                <a:gd name="connsiteX2" fmla="*/ 9921240 w 10314432"/>
                <a:gd name="connsiteY2" fmla="*/ 1099488 h 1099488"/>
                <a:gd name="connsiteX3" fmla="*/ 0 w 10314432"/>
                <a:gd name="connsiteY3" fmla="*/ 1099488 h 1099488"/>
                <a:gd name="connsiteX4" fmla="*/ 0 w 10314432"/>
                <a:gd name="connsiteY4" fmla="*/ 0 h 1099488"/>
                <a:gd name="connsiteX0" fmla="*/ 0 w 10314432"/>
                <a:gd name="connsiteY0" fmla="*/ 0 h 1099488"/>
                <a:gd name="connsiteX1" fmla="*/ 10314432 w 10314432"/>
                <a:gd name="connsiteY1" fmla="*/ 18288 h 1099488"/>
                <a:gd name="connsiteX2" fmla="*/ 9820656 w 10314432"/>
                <a:gd name="connsiteY2" fmla="*/ 1081200 h 1099488"/>
                <a:gd name="connsiteX3" fmla="*/ 0 w 10314432"/>
                <a:gd name="connsiteY3" fmla="*/ 1099488 h 1099488"/>
                <a:gd name="connsiteX4" fmla="*/ 0 w 10314432"/>
                <a:gd name="connsiteY4" fmla="*/ 0 h 1099488"/>
                <a:gd name="connsiteX0" fmla="*/ 0 w 10314432"/>
                <a:gd name="connsiteY0" fmla="*/ 0 h 1099488"/>
                <a:gd name="connsiteX1" fmla="*/ 10314432 w 10314432"/>
                <a:gd name="connsiteY1" fmla="*/ 18288 h 1099488"/>
                <a:gd name="connsiteX2" fmla="*/ 9742747 w 10314432"/>
                <a:gd name="connsiteY2" fmla="*/ 1068898 h 1099488"/>
                <a:gd name="connsiteX3" fmla="*/ 0 w 10314432"/>
                <a:gd name="connsiteY3" fmla="*/ 1099488 h 1099488"/>
                <a:gd name="connsiteX4" fmla="*/ 0 w 10314432"/>
                <a:gd name="connsiteY4" fmla="*/ 0 h 1099488"/>
                <a:gd name="connsiteX0" fmla="*/ 0 w 10314432"/>
                <a:gd name="connsiteY0" fmla="*/ 0 h 1099488"/>
                <a:gd name="connsiteX1" fmla="*/ 10314432 w 10314432"/>
                <a:gd name="connsiteY1" fmla="*/ 18288 h 1099488"/>
                <a:gd name="connsiteX2" fmla="*/ 9763249 w 10314432"/>
                <a:gd name="connsiteY2" fmla="*/ 1089401 h 1099488"/>
                <a:gd name="connsiteX3" fmla="*/ 0 w 10314432"/>
                <a:gd name="connsiteY3" fmla="*/ 1099488 h 1099488"/>
                <a:gd name="connsiteX4" fmla="*/ 0 w 10314432"/>
                <a:gd name="connsiteY4" fmla="*/ 0 h 1099488"/>
                <a:gd name="connsiteX0" fmla="*/ 0 w 10339035"/>
                <a:gd name="connsiteY0" fmla="*/ 0 h 1099488"/>
                <a:gd name="connsiteX1" fmla="*/ 10339035 w 10339035"/>
                <a:gd name="connsiteY1" fmla="*/ 10088 h 1099488"/>
                <a:gd name="connsiteX2" fmla="*/ 9763249 w 10339035"/>
                <a:gd name="connsiteY2" fmla="*/ 1089401 h 1099488"/>
                <a:gd name="connsiteX3" fmla="*/ 0 w 10339035"/>
                <a:gd name="connsiteY3" fmla="*/ 1099488 h 1099488"/>
                <a:gd name="connsiteX4" fmla="*/ 0 w 10339035"/>
                <a:gd name="connsiteY4" fmla="*/ 0 h 1099488"/>
                <a:gd name="connsiteX0" fmla="*/ 0 w 10339035"/>
                <a:gd name="connsiteY0" fmla="*/ 0 h 1096403"/>
                <a:gd name="connsiteX1" fmla="*/ 10339035 w 10339035"/>
                <a:gd name="connsiteY1" fmla="*/ 7003 h 1096403"/>
                <a:gd name="connsiteX2" fmla="*/ 9763249 w 10339035"/>
                <a:gd name="connsiteY2" fmla="*/ 1086316 h 1096403"/>
                <a:gd name="connsiteX3" fmla="*/ 0 w 10339035"/>
                <a:gd name="connsiteY3" fmla="*/ 1096403 h 1096403"/>
                <a:gd name="connsiteX4" fmla="*/ 0 w 10339035"/>
                <a:gd name="connsiteY4" fmla="*/ 0 h 1096403"/>
                <a:gd name="connsiteX0" fmla="*/ 0 w 10348506"/>
                <a:gd name="connsiteY0" fmla="*/ 0 h 1096403"/>
                <a:gd name="connsiteX1" fmla="*/ 10348506 w 10348506"/>
                <a:gd name="connsiteY1" fmla="*/ 3918 h 1096403"/>
                <a:gd name="connsiteX2" fmla="*/ 9763249 w 10348506"/>
                <a:gd name="connsiteY2" fmla="*/ 1086316 h 1096403"/>
                <a:gd name="connsiteX3" fmla="*/ 0 w 10348506"/>
                <a:gd name="connsiteY3" fmla="*/ 1096403 h 1096403"/>
                <a:gd name="connsiteX4" fmla="*/ 0 w 10348506"/>
                <a:gd name="connsiteY4" fmla="*/ 0 h 1096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8506" h="1096403">
                  <a:moveTo>
                    <a:pt x="0" y="0"/>
                  </a:moveTo>
                  <a:lnTo>
                    <a:pt x="10348506" y="3918"/>
                  </a:lnTo>
                  <a:lnTo>
                    <a:pt x="9763249" y="1086316"/>
                  </a:lnTo>
                  <a:lnTo>
                    <a:pt x="0" y="1096403"/>
                  </a:lnTo>
                  <a:lnTo>
                    <a:pt x="0" y="0"/>
                  </a:lnTo>
                  <a:close/>
                </a:path>
              </a:pathLst>
            </a:custGeom>
            <a:solidFill>
              <a:srgbClr val="76A540">
                <a:alpha val="70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BLACK BANNER BG">
              <a:extLst>
                <a:ext uri="{FF2B5EF4-FFF2-40B4-BE49-F238E27FC236}">
                  <a16:creationId xmlns:a16="http://schemas.microsoft.com/office/drawing/2014/main" id="{D209D5A5-F32C-4FFB-A4FF-77FE839EFA38}"/>
                </a:ext>
              </a:extLst>
            </p:cNvPr>
            <p:cNvSpPr/>
            <p:nvPr/>
          </p:nvSpPr>
          <p:spPr>
            <a:xfrm>
              <a:off x="9899651" y="334812"/>
              <a:ext cx="3258989" cy="1119493"/>
            </a:xfrm>
            <a:custGeom>
              <a:avLst/>
              <a:gdLst>
                <a:gd name="connsiteX0" fmla="*/ 0 w 2743200"/>
                <a:gd name="connsiteY0" fmla="*/ 0 h 1097280"/>
                <a:gd name="connsiteX1" fmla="*/ 2743200 w 2743200"/>
                <a:gd name="connsiteY1" fmla="*/ 0 h 1097280"/>
                <a:gd name="connsiteX2" fmla="*/ 2743200 w 2743200"/>
                <a:gd name="connsiteY2" fmla="*/ 1097280 h 1097280"/>
                <a:gd name="connsiteX3" fmla="*/ 0 w 2743200"/>
                <a:gd name="connsiteY3" fmla="*/ 1097280 h 1097280"/>
                <a:gd name="connsiteX4" fmla="*/ 0 w 2743200"/>
                <a:gd name="connsiteY4" fmla="*/ 0 h 1097280"/>
                <a:gd name="connsiteX0" fmla="*/ 490654 w 3233854"/>
                <a:gd name="connsiteY0" fmla="*/ 0 h 1097280"/>
                <a:gd name="connsiteX1" fmla="*/ 3233854 w 3233854"/>
                <a:gd name="connsiteY1" fmla="*/ 0 h 1097280"/>
                <a:gd name="connsiteX2" fmla="*/ 3233854 w 3233854"/>
                <a:gd name="connsiteY2" fmla="*/ 1097280 h 1097280"/>
                <a:gd name="connsiteX3" fmla="*/ 0 w 3233854"/>
                <a:gd name="connsiteY3" fmla="*/ 1080554 h 1097280"/>
                <a:gd name="connsiteX4" fmla="*/ 490654 w 3233854"/>
                <a:gd name="connsiteY4" fmla="*/ 0 h 1097280"/>
                <a:gd name="connsiteX0" fmla="*/ 557562 w 3233854"/>
                <a:gd name="connsiteY0" fmla="*/ 0 h 1097280"/>
                <a:gd name="connsiteX1" fmla="*/ 3233854 w 3233854"/>
                <a:gd name="connsiteY1" fmla="*/ 0 h 1097280"/>
                <a:gd name="connsiteX2" fmla="*/ 3233854 w 3233854"/>
                <a:gd name="connsiteY2" fmla="*/ 1097280 h 1097280"/>
                <a:gd name="connsiteX3" fmla="*/ 0 w 3233854"/>
                <a:gd name="connsiteY3" fmla="*/ 1080554 h 1097280"/>
                <a:gd name="connsiteX4" fmla="*/ 557562 w 3233854"/>
                <a:gd name="connsiteY4" fmla="*/ 0 h 1097280"/>
                <a:gd name="connsiteX0" fmla="*/ 579864 w 3256156"/>
                <a:gd name="connsiteY0" fmla="*/ 0 h 1097281"/>
                <a:gd name="connsiteX1" fmla="*/ 3256156 w 3256156"/>
                <a:gd name="connsiteY1" fmla="*/ 0 h 1097281"/>
                <a:gd name="connsiteX2" fmla="*/ 3256156 w 3256156"/>
                <a:gd name="connsiteY2" fmla="*/ 1097280 h 1097281"/>
                <a:gd name="connsiteX3" fmla="*/ 0 w 3256156"/>
                <a:gd name="connsiteY3" fmla="*/ 1097281 h 1097281"/>
                <a:gd name="connsiteX4" fmla="*/ 579864 w 3256156"/>
                <a:gd name="connsiteY4" fmla="*/ 0 h 1097281"/>
                <a:gd name="connsiteX0" fmla="*/ 591439 w 3267731"/>
                <a:gd name="connsiteY0" fmla="*/ 0 h 1132845"/>
                <a:gd name="connsiteX1" fmla="*/ 3267731 w 3267731"/>
                <a:gd name="connsiteY1" fmla="*/ 0 h 1132845"/>
                <a:gd name="connsiteX2" fmla="*/ 3267731 w 3267731"/>
                <a:gd name="connsiteY2" fmla="*/ 1097280 h 1132845"/>
                <a:gd name="connsiteX3" fmla="*/ 0 w 3267731"/>
                <a:gd name="connsiteY3" fmla="*/ 1132845 h 1132845"/>
                <a:gd name="connsiteX4" fmla="*/ 591439 w 3267731"/>
                <a:gd name="connsiteY4" fmla="*/ 0 h 1132845"/>
                <a:gd name="connsiteX0" fmla="*/ 579864 w 3267731"/>
                <a:gd name="connsiteY0" fmla="*/ 0 h 1138772"/>
                <a:gd name="connsiteX1" fmla="*/ 3267731 w 3267731"/>
                <a:gd name="connsiteY1" fmla="*/ 5927 h 1138772"/>
                <a:gd name="connsiteX2" fmla="*/ 3267731 w 3267731"/>
                <a:gd name="connsiteY2" fmla="*/ 1103207 h 1138772"/>
                <a:gd name="connsiteX3" fmla="*/ 0 w 3267731"/>
                <a:gd name="connsiteY3" fmla="*/ 1138772 h 1138772"/>
                <a:gd name="connsiteX4" fmla="*/ 579864 w 3267731"/>
                <a:gd name="connsiteY4" fmla="*/ 0 h 1138772"/>
                <a:gd name="connsiteX0" fmla="*/ 579864 w 3267731"/>
                <a:gd name="connsiteY0" fmla="*/ 0 h 1138772"/>
                <a:gd name="connsiteX1" fmla="*/ 3267731 w 3267731"/>
                <a:gd name="connsiteY1" fmla="*/ 5927 h 1138772"/>
                <a:gd name="connsiteX2" fmla="*/ 3261944 w 3267731"/>
                <a:gd name="connsiteY2" fmla="*/ 1132844 h 1138772"/>
                <a:gd name="connsiteX3" fmla="*/ 0 w 3267731"/>
                <a:gd name="connsiteY3" fmla="*/ 1138772 h 1138772"/>
                <a:gd name="connsiteX4" fmla="*/ 579864 w 3267731"/>
                <a:gd name="connsiteY4" fmla="*/ 0 h 1138772"/>
                <a:gd name="connsiteX0" fmla="*/ 579864 w 3267731"/>
                <a:gd name="connsiteY0" fmla="*/ 577 h 1132845"/>
                <a:gd name="connsiteX1" fmla="*/ 3267731 w 3267731"/>
                <a:gd name="connsiteY1" fmla="*/ 0 h 1132845"/>
                <a:gd name="connsiteX2" fmla="*/ 3261944 w 3267731"/>
                <a:gd name="connsiteY2" fmla="*/ 1126917 h 1132845"/>
                <a:gd name="connsiteX3" fmla="*/ 0 w 3267731"/>
                <a:gd name="connsiteY3" fmla="*/ 1132845 h 1132845"/>
                <a:gd name="connsiteX4" fmla="*/ 579864 w 3267731"/>
                <a:gd name="connsiteY4" fmla="*/ 577 h 1132845"/>
                <a:gd name="connsiteX0" fmla="*/ 579864 w 3261944"/>
                <a:gd name="connsiteY0" fmla="*/ 0 h 1132268"/>
                <a:gd name="connsiteX1" fmla="*/ 3261381 w 3261944"/>
                <a:gd name="connsiteY1" fmla="*/ 2675 h 1132268"/>
                <a:gd name="connsiteX2" fmla="*/ 3261944 w 3261944"/>
                <a:gd name="connsiteY2" fmla="*/ 1126340 h 1132268"/>
                <a:gd name="connsiteX3" fmla="*/ 0 w 3261944"/>
                <a:gd name="connsiteY3" fmla="*/ 1132268 h 1132268"/>
                <a:gd name="connsiteX4" fmla="*/ 579864 w 3261944"/>
                <a:gd name="connsiteY4" fmla="*/ 0 h 1132268"/>
                <a:gd name="connsiteX0" fmla="*/ 579864 w 3261944"/>
                <a:gd name="connsiteY0" fmla="*/ 3828 h 1136096"/>
                <a:gd name="connsiteX1" fmla="*/ 3261381 w 3261944"/>
                <a:gd name="connsiteY1" fmla="*/ 0 h 1136096"/>
                <a:gd name="connsiteX2" fmla="*/ 3261944 w 3261944"/>
                <a:gd name="connsiteY2" fmla="*/ 1130168 h 1136096"/>
                <a:gd name="connsiteX3" fmla="*/ 0 w 3261944"/>
                <a:gd name="connsiteY3" fmla="*/ 1136096 h 1136096"/>
                <a:gd name="connsiteX4" fmla="*/ 579864 w 3261944"/>
                <a:gd name="connsiteY4" fmla="*/ 3828 h 1136096"/>
                <a:gd name="connsiteX0" fmla="*/ 579864 w 3270908"/>
                <a:gd name="connsiteY0" fmla="*/ 7080 h 1139348"/>
                <a:gd name="connsiteX1" fmla="*/ 3270906 w 3270908"/>
                <a:gd name="connsiteY1" fmla="*/ 0 h 1139348"/>
                <a:gd name="connsiteX2" fmla="*/ 3261944 w 3270908"/>
                <a:gd name="connsiteY2" fmla="*/ 1133420 h 1139348"/>
                <a:gd name="connsiteX3" fmla="*/ 0 w 3270908"/>
                <a:gd name="connsiteY3" fmla="*/ 1139348 h 1139348"/>
                <a:gd name="connsiteX4" fmla="*/ 579864 w 3270908"/>
                <a:gd name="connsiteY4" fmla="*/ 7080 h 1139348"/>
                <a:gd name="connsiteX0" fmla="*/ 579864 w 3282782"/>
                <a:gd name="connsiteY0" fmla="*/ 0 h 1132268"/>
                <a:gd name="connsiteX1" fmla="*/ 3282781 w 3282782"/>
                <a:gd name="connsiteY1" fmla="*/ 11164 h 1132268"/>
                <a:gd name="connsiteX2" fmla="*/ 3261944 w 3282782"/>
                <a:gd name="connsiteY2" fmla="*/ 1126340 h 1132268"/>
                <a:gd name="connsiteX3" fmla="*/ 0 w 3282782"/>
                <a:gd name="connsiteY3" fmla="*/ 1132268 h 1132268"/>
                <a:gd name="connsiteX4" fmla="*/ 579864 w 3282782"/>
                <a:gd name="connsiteY4" fmla="*/ 0 h 1132268"/>
                <a:gd name="connsiteX0" fmla="*/ 573926 w 3282782"/>
                <a:gd name="connsiteY0" fmla="*/ 0 h 1126186"/>
                <a:gd name="connsiteX1" fmla="*/ 3282781 w 3282782"/>
                <a:gd name="connsiteY1" fmla="*/ 5082 h 1126186"/>
                <a:gd name="connsiteX2" fmla="*/ 3261944 w 3282782"/>
                <a:gd name="connsiteY2" fmla="*/ 1120258 h 1126186"/>
                <a:gd name="connsiteX3" fmla="*/ 0 w 3282782"/>
                <a:gd name="connsiteY3" fmla="*/ 1126186 h 1126186"/>
                <a:gd name="connsiteX4" fmla="*/ 573926 w 3282782"/>
                <a:gd name="connsiteY4" fmla="*/ 0 h 1126186"/>
                <a:gd name="connsiteX0" fmla="*/ 528207 w 3237063"/>
                <a:gd name="connsiteY0" fmla="*/ 0 h 1121570"/>
                <a:gd name="connsiteX1" fmla="*/ 3237062 w 3237063"/>
                <a:gd name="connsiteY1" fmla="*/ 5082 h 1121570"/>
                <a:gd name="connsiteX2" fmla="*/ 3216225 w 3237063"/>
                <a:gd name="connsiteY2" fmla="*/ 1120258 h 1121570"/>
                <a:gd name="connsiteX3" fmla="*/ 0 w 3237063"/>
                <a:gd name="connsiteY3" fmla="*/ 1121570 h 1121570"/>
                <a:gd name="connsiteX4" fmla="*/ 528207 w 3237063"/>
                <a:gd name="connsiteY4" fmla="*/ 0 h 1121570"/>
                <a:gd name="connsiteX0" fmla="*/ 573926 w 3282782"/>
                <a:gd name="connsiteY0" fmla="*/ 0 h 1131326"/>
                <a:gd name="connsiteX1" fmla="*/ 3282781 w 3282782"/>
                <a:gd name="connsiteY1" fmla="*/ 5082 h 1131326"/>
                <a:gd name="connsiteX2" fmla="*/ 3261944 w 3282782"/>
                <a:gd name="connsiteY2" fmla="*/ 1120258 h 1131326"/>
                <a:gd name="connsiteX3" fmla="*/ 0 w 3282782"/>
                <a:gd name="connsiteY3" fmla="*/ 1131326 h 1131326"/>
                <a:gd name="connsiteX4" fmla="*/ 573926 w 3282782"/>
                <a:gd name="connsiteY4" fmla="*/ 0 h 1131326"/>
                <a:gd name="connsiteX0" fmla="*/ 573926 w 3282781"/>
                <a:gd name="connsiteY0" fmla="*/ 0 h 1136517"/>
                <a:gd name="connsiteX1" fmla="*/ 3282781 w 3282781"/>
                <a:gd name="connsiteY1" fmla="*/ 5082 h 1136517"/>
                <a:gd name="connsiteX2" fmla="*/ 3252419 w 3282781"/>
                <a:gd name="connsiteY2" fmla="*/ 1136517 h 1136517"/>
                <a:gd name="connsiteX3" fmla="*/ 0 w 3282781"/>
                <a:gd name="connsiteY3" fmla="*/ 1131326 h 1136517"/>
                <a:gd name="connsiteX4" fmla="*/ 573926 w 3282781"/>
                <a:gd name="connsiteY4" fmla="*/ 0 h 1136517"/>
                <a:gd name="connsiteX0" fmla="*/ 573926 w 3260559"/>
                <a:gd name="connsiteY0" fmla="*/ 0 h 1136517"/>
                <a:gd name="connsiteX1" fmla="*/ 3260556 w 3260559"/>
                <a:gd name="connsiteY1" fmla="*/ 5082 h 1136517"/>
                <a:gd name="connsiteX2" fmla="*/ 3252419 w 3260559"/>
                <a:gd name="connsiteY2" fmla="*/ 1136517 h 1136517"/>
                <a:gd name="connsiteX3" fmla="*/ 0 w 3260559"/>
                <a:gd name="connsiteY3" fmla="*/ 1131326 h 1136517"/>
                <a:gd name="connsiteX4" fmla="*/ 573926 w 3260559"/>
                <a:gd name="connsiteY4" fmla="*/ 0 h 1136517"/>
                <a:gd name="connsiteX0" fmla="*/ 580310 w 3260559"/>
                <a:gd name="connsiteY0" fmla="*/ 0 h 1139740"/>
                <a:gd name="connsiteX1" fmla="*/ 3260556 w 3260559"/>
                <a:gd name="connsiteY1" fmla="*/ 8305 h 1139740"/>
                <a:gd name="connsiteX2" fmla="*/ 3252419 w 3260559"/>
                <a:gd name="connsiteY2" fmla="*/ 1139740 h 1139740"/>
                <a:gd name="connsiteX3" fmla="*/ 0 w 3260559"/>
                <a:gd name="connsiteY3" fmla="*/ 1134549 h 1139740"/>
                <a:gd name="connsiteX4" fmla="*/ 580310 w 3260559"/>
                <a:gd name="connsiteY4" fmla="*/ 0 h 1139740"/>
                <a:gd name="connsiteX0" fmla="*/ 583502 w 3263751"/>
                <a:gd name="connsiteY0" fmla="*/ 0 h 1139740"/>
                <a:gd name="connsiteX1" fmla="*/ 3263748 w 3263751"/>
                <a:gd name="connsiteY1" fmla="*/ 8305 h 1139740"/>
                <a:gd name="connsiteX2" fmla="*/ 3255611 w 3263751"/>
                <a:gd name="connsiteY2" fmla="*/ 1139740 h 1139740"/>
                <a:gd name="connsiteX3" fmla="*/ 0 w 3263751"/>
                <a:gd name="connsiteY3" fmla="*/ 1134549 h 1139740"/>
                <a:gd name="connsiteX4" fmla="*/ 583502 w 3263751"/>
                <a:gd name="connsiteY4" fmla="*/ 0 h 1139740"/>
                <a:gd name="connsiteX0" fmla="*/ 583502 w 3284340"/>
                <a:gd name="connsiteY0" fmla="*/ 0 h 1142963"/>
                <a:gd name="connsiteX1" fmla="*/ 3263748 w 3284340"/>
                <a:gd name="connsiteY1" fmla="*/ 8305 h 1142963"/>
                <a:gd name="connsiteX2" fmla="*/ 3284340 w 3284340"/>
                <a:gd name="connsiteY2" fmla="*/ 1142963 h 1142963"/>
                <a:gd name="connsiteX3" fmla="*/ 0 w 3284340"/>
                <a:gd name="connsiteY3" fmla="*/ 1134549 h 1142963"/>
                <a:gd name="connsiteX4" fmla="*/ 583502 w 3284340"/>
                <a:gd name="connsiteY4" fmla="*/ 0 h 1142963"/>
                <a:gd name="connsiteX0" fmla="*/ 583502 w 3263752"/>
                <a:gd name="connsiteY0" fmla="*/ 0 h 1136516"/>
                <a:gd name="connsiteX1" fmla="*/ 3263748 w 3263752"/>
                <a:gd name="connsiteY1" fmla="*/ 8305 h 1136516"/>
                <a:gd name="connsiteX2" fmla="*/ 3258803 w 3263752"/>
                <a:gd name="connsiteY2" fmla="*/ 1136516 h 1136516"/>
                <a:gd name="connsiteX3" fmla="*/ 0 w 3263752"/>
                <a:gd name="connsiteY3" fmla="*/ 1134549 h 1136516"/>
                <a:gd name="connsiteX4" fmla="*/ 583502 w 3263752"/>
                <a:gd name="connsiteY4" fmla="*/ 0 h 1136516"/>
                <a:gd name="connsiteX0" fmla="*/ 583502 w 3276517"/>
                <a:gd name="connsiteY0" fmla="*/ 0 h 1136516"/>
                <a:gd name="connsiteX1" fmla="*/ 3276516 w 3276517"/>
                <a:gd name="connsiteY1" fmla="*/ 1859 h 1136516"/>
                <a:gd name="connsiteX2" fmla="*/ 3258803 w 3276517"/>
                <a:gd name="connsiteY2" fmla="*/ 1136516 h 1136516"/>
                <a:gd name="connsiteX3" fmla="*/ 0 w 3276517"/>
                <a:gd name="connsiteY3" fmla="*/ 1134549 h 1136516"/>
                <a:gd name="connsiteX4" fmla="*/ 583502 w 3276517"/>
                <a:gd name="connsiteY4" fmla="*/ 0 h 1136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6517" h="1136516">
                  <a:moveTo>
                    <a:pt x="583502" y="0"/>
                  </a:moveTo>
                  <a:lnTo>
                    <a:pt x="3276516" y="1859"/>
                  </a:lnTo>
                  <a:cubicBezTo>
                    <a:pt x="3276704" y="376414"/>
                    <a:pt x="3258615" y="761961"/>
                    <a:pt x="3258803" y="1136516"/>
                  </a:cubicBezTo>
                  <a:lnTo>
                    <a:pt x="0" y="1134549"/>
                  </a:lnTo>
                  <a:lnTo>
                    <a:pt x="583502" y="0"/>
                  </a:lnTo>
                  <a:close/>
                </a:path>
              </a:pathLst>
            </a:custGeom>
            <a:solidFill>
              <a:schemeClr val="tx1">
                <a:alpha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OLA LOGO">
              <a:extLst>
                <a:ext uri="{FF2B5EF4-FFF2-40B4-BE49-F238E27FC236}">
                  <a16:creationId xmlns:a16="http://schemas.microsoft.com/office/drawing/2014/main" id="{25D92D28-BA47-4CAD-A89B-65F3544F5F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18581" y="410834"/>
              <a:ext cx="850270" cy="921126"/>
            </a:xfrm>
            <a:prstGeom prst="rect">
              <a:avLst/>
            </a:prstGeom>
            <a:effectLst>
              <a:outerShdw blurRad="50800" dist="38100" dir="2700000" algn="tl" rotWithShape="0">
                <a:prstClr val="black">
                  <a:alpha val="40000"/>
                </a:prstClr>
              </a:outerShdw>
            </a:effectLst>
          </p:spPr>
        </p:pic>
      </p:grpSp>
      <p:sp>
        <p:nvSpPr>
          <p:cNvPr id="11" name="Left Triangle ">
            <a:extLst>
              <a:ext uri="{FF2B5EF4-FFF2-40B4-BE49-F238E27FC236}">
                <a16:creationId xmlns:a16="http://schemas.microsoft.com/office/drawing/2014/main" id="{674C4CDC-E790-4A1A-9785-663E61E3175E}"/>
              </a:ext>
            </a:extLst>
          </p:cNvPr>
          <p:cNvSpPr/>
          <p:nvPr/>
        </p:nvSpPr>
        <p:spPr>
          <a:xfrm rot="5400000">
            <a:off x="-3517938" y="1480991"/>
            <a:ext cx="6858002" cy="3896017"/>
          </a:xfrm>
          <a:prstGeom prst="rtTriangle">
            <a:avLst/>
          </a:prstGeom>
          <a:solidFill>
            <a:srgbClr val="76A54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5">
            <a:extLst>
              <a:ext uri="{FF2B5EF4-FFF2-40B4-BE49-F238E27FC236}">
                <a16:creationId xmlns:a16="http://schemas.microsoft.com/office/drawing/2014/main" id="{1DC0CFE9-810B-40F8-8DE0-B72735E212BA}"/>
              </a:ext>
            </a:extLst>
          </p:cNvPr>
          <p:cNvSpPr txBox="1">
            <a:spLocks/>
          </p:cNvSpPr>
          <p:nvPr/>
        </p:nvSpPr>
        <p:spPr>
          <a:xfrm>
            <a:off x="1177408" y="4261457"/>
            <a:ext cx="3241783" cy="1453167"/>
          </a:xfrm>
          <a:prstGeom prst="rect">
            <a:avLst/>
          </a:prstGeom>
        </p:spPr>
        <p:txBody>
          <a:bodyPr vert="horz" lIns="0" tIns="0" rIns="0" bIns="0" rtlCol="0" anchor="t" anchorCtr="0">
            <a:noAutofit/>
          </a:bodyPr>
          <a:lstStyle>
            <a:lvl1pPr marL="0" marR="0" indent="0" algn="l" defTabSz="914400" rtl="0" eaLnBrk="1" fontAlgn="auto" latinLnBrk="0" hangingPunct="1">
              <a:lnSpc>
                <a:spcPct val="100000"/>
              </a:lnSpc>
              <a:spcBef>
                <a:spcPts val="0"/>
              </a:spcBef>
              <a:spcAft>
                <a:spcPts val="600"/>
              </a:spcAft>
              <a:buClrTx/>
              <a:buSzTx/>
              <a:buFontTx/>
              <a:buNone/>
              <a:tabLst/>
              <a:defRPr sz="14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kern="1200">
                <a:solidFill>
                  <a:schemeClr val="bg1"/>
                </a:solidFill>
                <a:latin typeface="+mn-lt"/>
                <a:ea typeface="+mn-ea"/>
                <a:cs typeface="+mn-cs"/>
              </a:defRPr>
            </a:lvl2pPr>
            <a:lvl3pPr marL="284400" indent="-2844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576000" indent="-2304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824400" indent="-2844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00338D"/>
                </a:solidFill>
                <a:latin typeface="Arial" panose="020B0604020202020204" pitchFamily="34" charset="0"/>
                <a:cs typeface="Arial" panose="020B0604020202020204" pitchFamily="34" charset="0"/>
              </a:rPr>
              <a:t>The Port of Los Angeles</a:t>
            </a:r>
          </a:p>
          <a:p>
            <a:r>
              <a:rPr lang="en-US" sz="1200" b="0">
                <a:solidFill>
                  <a:srgbClr val="00338D"/>
                </a:solidFill>
                <a:latin typeface="Arial" panose="020B0604020202020204" pitchFamily="34" charset="0"/>
                <a:cs typeface="Arial" panose="020B0604020202020204" pitchFamily="34" charset="0"/>
              </a:rPr>
              <a:t>Oracle Enterprise Resource Planning (ERP) Cloud Solution for The City of Los Angeles Harbor Department (Harbor Department)</a:t>
            </a:r>
          </a:p>
          <a:p>
            <a:endParaRPr lang="en-US" sz="1200" b="0">
              <a:cs typeface="Arial"/>
            </a:endParaRPr>
          </a:p>
        </p:txBody>
      </p:sp>
    </p:spTree>
    <p:extLst>
      <p:ext uri="{BB962C8B-B14F-4D97-AF65-F5344CB8AC3E}">
        <p14:creationId xmlns:p14="http://schemas.microsoft.com/office/powerpoint/2010/main" val="334351228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351338"/>
          </a:xfrm>
          <a:prstGeom prst="rect">
            <a:avLst/>
          </a:prstGeom>
        </p:spPr>
        <p:txBody>
          <a:bodyPr/>
          <a:lstStyle>
            <a:lvl1pPr>
              <a:defRPr>
                <a:solidFill>
                  <a:srgbClr val="1D4A9A"/>
                </a:solidFill>
              </a:defRPr>
            </a:lvl1pPr>
            <a:lvl2pPr>
              <a:defRPr>
                <a:solidFill>
                  <a:srgbClr val="1D4A9A"/>
                </a:solidFill>
              </a:defRPr>
            </a:lvl2pPr>
            <a:lvl3pPr>
              <a:defRPr>
                <a:solidFill>
                  <a:srgbClr val="1D4A9A"/>
                </a:solidFill>
              </a:defRPr>
            </a:lvl3pPr>
            <a:lvl4pPr>
              <a:defRPr>
                <a:solidFill>
                  <a:srgbClr val="1D4A9A"/>
                </a:solidFill>
              </a:defRPr>
            </a:lvl4pPr>
            <a:lvl5pPr>
              <a:defRPr>
                <a:solidFill>
                  <a:srgbClr val="1D4A9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lvl1pPr>
              <a:defRPr sz="900">
                <a:solidFill>
                  <a:srgbClr val="00338D"/>
                </a:solidFill>
              </a:defRPr>
            </a:lvl1pPr>
          </a:lstStyle>
          <a:p>
            <a:fld id="{EE664B4A-8DD3-4F23-8EE8-BF18733E589F}" type="slidenum">
              <a:rPr lang="en-IN" smtClean="0"/>
              <a:pPr/>
              <a:t>‹#›</a:t>
            </a:fld>
            <a:endParaRPr lang="en-IN"/>
          </a:p>
        </p:txBody>
      </p:sp>
      <p:sp>
        <p:nvSpPr>
          <p:cNvPr id="7" name="Title 1">
            <a:extLst>
              <a:ext uri="{FF2B5EF4-FFF2-40B4-BE49-F238E27FC236}">
                <a16:creationId xmlns:a16="http://schemas.microsoft.com/office/drawing/2014/main" id="{B8A72041-DB5A-4C37-AFCD-3AF61B83FAE4}"/>
              </a:ext>
            </a:extLst>
          </p:cNvPr>
          <p:cNvSpPr>
            <a:spLocks noGrp="1"/>
          </p:cNvSpPr>
          <p:nvPr>
            <p:ph type="title"/>
          </p:nvPr>
        </p:nvSpPr>
        <p:spPr>
          <a:xfrm>
            <a:off x="838200" y="776378"/>
            <a:ext cx="10515600" cy="690114"/>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9250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776378"/>
            <a:ext cx="10515600" cy="690114"/>
          </a:xfrm>
          <a:prstGeom prst="rect">
            <a:avLst/>
          </a:prstGeo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lvl1pPr>
              <a:defRPr>
                <a:solidFill>
                  <a:srgbClr val="1D4A9A"/>
                </a:solidFill>
              </a:defRPr>
            </a:lvl1pPr>
            <a:lvl2pPr>
              <a:defRPr>
                <a:solidFill>
                  <a:srgbClr val="1D4A9A"/>
                </a:solidFill>
              </a:defRPr>
            </a:lvl2pPr>
            <a:lvl3pPr>
              <a:defRPr>
                <a:solidFill>
                  <a:srgbClr val="1D4A9A"/>
                </a:solidFill>
              </a:defRPr>
            </a:lvl3pPr>
            <a:lvl4pPr>
              <a:defRPr>
                <a:solidFill>
                  <a:srgbClr val="1D4A9A"/>
                </a:solidFill>
              </a:defRPr>
            </a:lvl4pPr>
            <a:lvl5pPr>
              <a:defRPr>
                <a:solidFill>
                  <a:srgbClr val="1D4A9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lvl1pPr>
              <a:defRPr>
                <a:solidFill>
                  <a:srgbClr val="1D4A9A"/>
                </a:solidFill>
              </a:defRPr>
            </a:lvl1pPr>
            <a:lvl2pPr>
              <a:defRPr>
                <a:solidFill>
                  <a:srgbClr val="1D4A9A"/>
                </a:solidFill>
              </a:defRPr>
            </a:lvl2pPr>
            <a:lvl3pPr>
              <a:defRPr>
                <a:solidFill>
                  <a:srgbClr val="1D4A9A"/>
                </a:solidFill>
              </a:defRPr>
            </a:lvl3pPr>
            <a:lvl4pPr>
              <a:defRPr>
                <a:solidFill>
                  <a:srgbClr val="1D4A9A"/>
                </a:solidFill>
              </a:defRPr>
            </a:lvl4pPr>
            <a:lvl5pPr>
              <a:defRPr>
                <a:solidFill>
                  <a:srgbClr val="1D4A9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BC2D3E13-ABC5-46D8-A320-83665842E65F}" type="datetimeFigureOut">
              <a:rPr lang="en-IN" smtClean="0"/>
              <a:pPr/>
              <a:t>10-05-2023</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E664B4A-8DD3-4F23-8EE8-BF18733E589F}" type="slidenum">
              <a:rPr lang="en-IN" smtClean="0"/>
              <a:pPr/>
              <a:t>‹#›</a:t>
            </a:fld>
            <a:endParaRPr lang="en-IN"/>
          </a:p>
        </p:txBody>
      </p:sp>
    </p:spTree>
    <p:extLst>
      <p:ext uri="{BB962C8B-B14F-4D97-AF65-F5344CB8AC3E}">
        <p14:creationId xmlns:p14="http://schemas.microsoft.com/office/powerpoint/2010/main" val="3970742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solidFill>
                  <a:srgbClr val="1D4A9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lvl1pPr>
              <a:defRPr>
                <a:solidFill>
                  <a:srgbClr val="1D4A9A"/>
                </a:solidFill>
              </a:defRPr>
            </a:lvl1pPr>
            <a:lvl2pPr>
              <a:defRPr>
                <a:solidFill>
                  <a:srgbClr val="1D4A9A"/>
                </a:solidFill>
              </a:defRPr>
            </a:lvl2pPr>
            <a:lvl3pPr>
              <a:defRPr>
                <a:solidFill>
                  <a:srgbClr val="1D4A9A"/>
                </a:solidFill>
              </a:defRPr>
            </a:lvl3pPr>
            <a:lvl4pPr>
              <a:defRPr>
                <a:solidFill>
                  <a:srgbClr val="1D4A9A"/>
                </a:solidFill>
              </a:defRPr>
            </a:lvl4pPr>
            <a:lvl5pPr>
              <a:defRPr>
                <a:solidFill>
                  <a:srgbClr val="1D4A9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solidFill>
                  <a:srgbClr val="1D4A9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lvl1pPr>
              <a:defRPr>
                <a:solidFill>
                  <a:srgbClr val="1D4A9A"/>
                </a:solidFill>
              </a:defRPr>
            </a:lvl1pPr>
            <a:lvl2pPr>
              <a:defRPr>
                <a:solidFill>
                  <a:srgbClr val="1D4A9A"/>
                </a:solidFill>
              </a:defRPr>
            </a:lvl2pPr>
            <a:lvl3pPr>
              <a:defRPr>
                <a:solidFill>
                  <a:srgbClr val="1D4A9A"/>
                </a:solidFill>
              </a:defRPr>
            </a:lvl3pPr>
            <a:lvl4pPr>
              <a:defRPr>
                <a:solidFill>
                  <a:srgbClr val="1D4A9A"/>
                </a:solidFill>
              </a:defRPr>
            </a:lvl4pPr>
            <a:lvl5pPr>
              <a:defRPr>
                <a:solidFill>
                  <a:srgbClr val="1D4A9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BC2D3E13-ABC5-46D8-A320-83665842E65F}" type="datetimeFigureOut">
              <a:rPr lang="en-IN" smtClean="0"/>
              <a:pPr/>
              <a:t>10-05-2023</a:t>
            </a:fld>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EE664B4A-8DD3-4F23-8EE8-BF18733E589F}" type="slidenum">
              <a:rPr lang="en-IN" smtClean="0"/>
              <a:pPr/>
              <a:t>‹#›</a:t>
            </a:fld>
            <a:endParaRPr lang="en-IN"/>
          </a:p>
        </p:txBody>
      </p:sp>
      <p:sp>
        <p:nvSpPr>
          <p:cNvPr id="10" name="Title 1">
            <a:extLst>
              <a:ext uri="{FF2B5EF4-FFF2-40B4-BE49-F238E27FC236}">
                <a16:creationId xmlns:a16="http://schemas.microsoft.com/office/drawing/2014/main" id="{2D7B921E-AD2D-47E3-9698-8978E220597D}"/>
              </a:ext>
            </a:extLst>
          </p:cNvPr>
          <p:cNvSpPr>
            <a:spLocks noGrp="1"/>
          </p:cNvSpPr>
          <p:nvPr>
            <p:ph type="title"/>
          </p:nvPr>
        </p:nvSpPr>
        <p:spPr>
          <a:xfrm>
            <a:off x="838200" y="776378"/>
            <a:ext cx="10515600" cy="690114"/>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15890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fld id="{BC2D3E13-ABC5-46D8-A320-83665842E65F}" type="datetimeFigureOut">
              <a:rPr lang="en-IN" smtClean="0"/>
              <a:pPr/>
              <a:t>10-05-2023</a:t>
            </a:fld>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EE664B4A-8DD3-4F23-8EE8-BF18733E589F}" type="slidenum">
              <a:rPr lang="en-IN" smtClean="0"/>
              <a:pPr/>
              <a:t>‹#›</a:t>
            </a:fld>
            <a:endParaRPr lang="en-IN"/>
          </a:p>
        </p:txBody>
      </p:sp>
      <p:sp>
        <p:nvSpPr>
          <p:cNvPr id="6" name="Title 1">
            <a:extLst>
              <a:ext uri="{FF2B5EF4-FFF2-40B4-BE49-F238E27FC236}">
                <a16:creationId xmlns:a16="http://schemas.microsoft.com/office/drawing/2014/main" id="{343ADF17-96C6-404B-98AD-6EEADE3FA8F9}"/>
              </a:ext>
            </a:extLst>
          </p:cNvPr>
          <p:cNvSpPr>
            <a:spLocks noGrp="1"/>
          </p:cNvSpPr>
          <p:nvPr>
            <p:ph type="title"/>
          </p:nvPr>
        </p:nvSpPr>
        <p:spPr>
          <a:xfrm>
            <a:off x="838200" y="776378"/>
            <a:ext cx="10515600" cy="690114"/>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392165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1F096-7370-2B02-AEAD-6480F7834A13}"/>
              </a:ext>
            </a:extLst>
          </p:cNvPr>
          <p:cNvSpPr>
            <a:spLocks noGrp="1"/>
          </p:cNvSpPr>
          <p:nvPr>
            <p:ph type="dt" sz="half" idx="10"/>
          </p:nvPr>
        </p:nvSpPr>
        <p:spPr/>
        <p:txBody>
          <a:bodyPr/>
          <a:lstStyle/>
          <a:p>
            <a:fld id="{BC2D3E13-ABC5-46D8-A320-83665842E65F}" type="datetimeFigureOut">
              <a:rPr lang="en-IN" smtClean="0"/>
              <a:pPr/>
              <a:t>10-05-2023</a:t>
            </a:fld>
            <a:endParaRPr lang="en-IN"/>
          </a:p>
        </p:txBody>
      </p:sp>
      <p:sp>
        <p:nvSpPr>
          <p:cNvPr id="3" name="Footer Placeholder 2">
            <a:extLst>
              <a:ext uri="{FF2B5EF4-FFF2-40B4-BE49-F238E27FC236}">
                <a16:creationId xmlns:a16="http://schemas.microsoft.com/office/drawing/2014/main" id="{5DA6A7C8-137A-7E78-96AB-3FE5D1E47F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E8DC1A-810A-EE35-263F-A3E90C9F35AE}"/>
              </a:ext>
            </a:extLst>
          </p:cNvPr>
          <p:cNvSpPr>
            <a:spLocks noGrp="1"/>
          </p:cNvSpPr>
          <p:nvPr>
            <p:ph type="sldNum" sz="quarter" idx="12"/>
          </p:nvPr>
        </p:nvSpPr>
        <p:spPr/>
        <p:txBody>
          <a:bodyPr/>
          <a:lstStyle/>
          <a:p>
            <a:fld id="{EE664B4A-8DD3-4F23-8EE8-BF18733E589F}" type="slidenum">
              <a:rPr lang="en-IN" smtClean="0"/>
              <a:pPr/>
              <a:t>‹#›</a:t>
            </a:fld>
            <a:endParaRPr lang="en-IN"/>
          </a:p>
        </p:txBody>
      </p:sp>
    </p:spTree>
    <p:extLst>
      <p:ext uri="{BB962C8B-B14F-4D97-AF65-F5344CB8AC3E}">
        <p14:creationId xmlns:p14="http://schemas.microsoft.com/office/powerpoint/2010/main" val="2703264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2800"/>
              <a:buFont typeface="Arial"/>
              <a:buNone/>
              <a:defRPr sz="2400"/>
            </a:lvl2pPr>
            <a:lvl3pPr lvl="2">
              <a:spcBef>
                <a:spcPts val="0"/>
              </a:spcBef>
              <a:spcAft>
                <a:spcPts val="0"/>
              </a:spcAft>
              <a:buSzPts val="2800"/>
              <a:buFont typeface="Arial"/>
              <a:buNone/>
              <a:defRPr sz="2400"/>
            </a:lvl3pPr>
            <a:lvl4pPr lvl="3">
              <a:spcBef>
                <a:spcPts val="0"/>
              </a:spcBef>
              <a:spcAft>
                <a:spcPts val="0"/>
              </a:spcAft>
              <a:buSzPts val="2800"/>
              <a:buFont typeface="Arial"/>
              <a:buNone/>
              <a:defRPr sz="2400"/>
            </a:lvl4pPr>
            <a:lvl5pPr lvl="4">
              <a:spcBef>
                <a:spcPts val="0"/>
              </a:spcBef>
              <a:spcAft>
                <a:spcPts val="0"/>
              </a:spcAft>
              <a:buSzPts val="2800"/>
              <a:buFont typeface="Arial"/>
              <a:buNone/>
              <a:defRPr sz="2400"/>
            </a:lvl5pPr>
            <a:lvl6pPr lvl="5">
              <a:spcBef>
                <a:spcPts val="0"/>
              </a:spcBef>
              <a:spcAft>
                <a:spcPts val="0"/>
              </a:spcAft>
              <a:buSzPts val="2800"/>
              <a:buFont typeface="Arial"/>
              <a:buNone/>
              <a:defRPr sz="2400"/>
            </a:lvl6pPr>
            <a:lvl7pPr lvl="6">
              <a:spcBef>
                <a:spcPts val="0"/>
              </a:spcBef>
              <a:spcAft>
                <a:spcPts val="0"/>
              </a:spcAft>
              <a:buSzPts val="2800"/>
              <a:buFont typeface="Arial"/>
              <a:buNone/>
              <a:defRPr sz="2400"/>
            </a:lvl7pPr>
            <a:lvl8pPr lvl="7">
              <a:spcBef>
                <a:spcPts val="0"/>
              </a:spcBef>
              <a:spcAft>
                <a:spcPts val="0"/>
              </a:spcAft>
              <a:buSzPts val="2800"/>
              <a:buFont typeface="Arial"/>
              <a:buNone/>
              <a:defRPr sz="2400"/>
            </a:lvl8pPr>
            <a:lvl9pPr lvl="8">
              <a:spcBef>
                <a:spcPts val="0"/>
              </a:spcBef>
              <a:spcAft>
                <a:spcPts val="0"/>
              </a:spcAft>
              <a:buSzPts val="2800"/>
              <a:buFont typeface="Arial"/>
              <a:buNone/>
              <a:defRPr sz="2400"/>
            </a:lvl9pPr>
          </a:lstStyle>
          <a:p>
            <a:endParaRPr/>
          </a:p>
        </p:txBody>
      </p:sp>
      <p:sp>
        <p:nvSpPr>
          <p:cNvPr id="31" name="Google Shape;31;p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marR="0" lvl="0" indent="-457189" algn="l" rtl="0">
              <a:lnSpc>
                <a:spcPct val="90000"/>
              </a:lnSpc>
              <a:spcBef>
                <a:spcPts val="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1219170" marR="0" lvl="1" indent="-423323" algn="l" rtl="0">
              <a:lnSpc>
                <a:spcPct val="90000"/>
              </a:lnSpc>
              <a:spcBef>
                <a:spcPts val="0"/>
              </a:spcBef>
              <a:spcAft>
                <a:spcPts val="0"/>
              </a:spcAft>
              <a:buClr>
                <a:schemeClr val="dk1"/>
              </a:buClr>
              <a:buSzPts val="1400"/>
              <a:buFont typeface="Arial"/>
              <a:buChar char="○"/>
              <a:defRPr sz="2400" b="0" i="0" u="none" strike="noStrike" cap="none">
                <a:solidFill>
                  <a:schemeClr val="dk1"/>
                </a:solidFill>
                <a:latin typeface="Calibri"/>
                <a:ea typeface="Calibri"/>
                <a:cs typeface="Calibri"/>
                <a:sym typeface="Calibri"/>
              </a:defRPr>
            </a:lvl2pPr>
            <a:lvl3pPr marL="1828754" marR="0" lvl="2" indent="-423323" algn="l" rtl="0">
              <a:lnSpc>
                <a:spcPct val="90000"/>
              </a:lnSpc>
              <a:spcBef>
                <a:spcPts val="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1pPr>
            <a:lvl2pPr marL="0" marR="0" lvl="1"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2pPr>
            <a:lvl3pPr marL="0" marR="0" lvl="2"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3pPr>
            <a:lvl4pPr marL="0" marR="0" lvl="3"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4pPr>
            <a:lvl5pPr marL="0" marR="0" lvl="4"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5pPr>
            <a:lvl6pPr marL="0" marR="0" lvl="5"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6pPr>
            <a:lvl7pPr marL="0" marR="0" lvl="6"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7pPr>
            <a:lvl8pPr marL="0" marR="0" lvl="7"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8pPr>
            <a:lvl9pPr marL="0" marR="0" lvl="8" indent="0" algn="r" rtl="0">
              <a:spcBef>
                <a:spcPts val="0"/>
              </a:spcBef>
              <a:spcAft>
                <a:spcPts val="0"/>
              </a:spcAft>
              <a:buClr>
                <a:schemeClr val="dk1"/>
              </a:buClr>
              <a:buSzPts val="1800"/>
              <a:buFont typeface="Calibri"/>
              <a:buNone/>
              <a:defRPr sz="2400" b="0" i="0" u="none" strike="noStrike" cap="none">
                <a:solidFill>
                  <a:schemeClr val="dk1"/>
                </a:solidFill>
                <a:latin typeface="Calibri"/>
                <a:ea typeface="Calibri"/>
                <a:cs typeface="Calibri"/>
                <a:sym typeface="Calibri"/>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78428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8" name="LA logo" descr="LA logo"/>
          <p:cNvPicPr>
            <a:picLocks noChangeAspect="1"/>
          </p:cNvPicPr>
          <p:nvPr/>
        </p:nvPicPr>
        <p:blipFill>
          <a:blip r:embed="rId2" cstate="print">
            <a:alphaModFix amt="23000"/>
          </a:blip>
          <a:stretch>
            <a:fillRect/>
          </a:stretch>
        </p:blipFill>
        <p:spPr>
          <a:xfrm>
            <a:off x="-213155" y="-834455"/>
            <a:ext cx="9814356" cy="11071235"/>
          </a:xfrm>
          <a:prstGeom prst="rect">
            <a:avLst/>
          </a:prstGeom>
          <a:ln w="12700">
            <a:miter lim="400000"/>
          </a:ln>
          <a:effectLst>
            <a:outerShdw blurRad="762000" dist="50800" dir="8640000" rotWithShape="0">
              <a:srgbClr val="000000">
                <a:alpha val="43137"/>
              </a:srgbClr>
            </a:outerShdw>
          </a:effectLst>
        </p:spPr>
      </p:pic>
      <p:sp>
        <p:nvSpPr>
          <p:cNvPr id="19" name="Body Level One…"/>
          <p:cNvSpPr txBox="1">
            <a:spLocks noGrp="1"/>
          </p:cNvSpPr>
          <p:nvPr>
            <p:ph type="body" sz="quarter" idx="1" hasCustomPrompt="1"/>
          </p:nvPr>
        </p:nvSpPr>
        <p:spPr>
          <a:xfrm>
            <a:off x="979357" y="1607663"/>
            <a:ext cx="6088064" cy="1576389"/>
          </a:xfrm>
          <a:prstGeom prst="rect">
            <a:avLst/>
          </a:prstGeom>
        </p:spPr>
        <p:txBody>
          <a:bodyPr/>
          <a:lstStyle>
            <a:lvl1pPr marL="0" indent="0">
              <a:buSzTx/>
              <a:buFontTx/>
              <a:buNone/>
              <a:defRPr sz="4800">
                <a:solidFill>
                  <a:srgbClr val="00338D"/>
                </a:solidFill>
                <a:latin typeface="KPMG Light"/>
                <a:ea typeface="KPMG Light"/>
                <a:cs typeface="KPMG Light"/>
                <a:sym typeface="KPMG Light"/>
              </a:defRPr>
            </a:lvl1pPr>
            <a:lvl2pPr marL="0" indent="0">
              <a:buSzTx/>
              <a:buFontTx/>
              <a:buNone/>
              <a:defRPr sz="4800">
                <a:solidFill>
                  <a:srgbClr val="00338D"/>
                </a:solidFill>
                <a:latin typeface="KPMG Light"/>
                <a:ea typeface="KPMG Light"/>
                <a:cs typeface="KPMG Light"/>
                <a:sym typeface="KPMG Light"/>
              </a:defRPr>
            </a:lvl2pPr>
            <a:lvl3pPr marL="0" indent="0">
              <a:buSzTx/>
              <a:buFontTx/>
              <a:buNone/>
              <a:defRPr sz="4800">
                <a:solidFill>
                  <a:srgbClr val="00338D"/>
                </a:solidFill>
                <a:latin typeface="KPMG Light"/>
                <a:ea typeface="KPMG Light"/>
                <a:cs typeface="KPMG Light"/>
                <a:sym typeface="KPMG Light"/>
              </a:defRPr>
            </a:lvl3pPr>
            <a:lvl4pPr marL="0" indent="1371600">
              <a:buSzTx/>
              <a:buFontTx/>
              <a:buNone/>
              <a:defRPr sz="4800">
                <a:solidFill>
                  <a:srgbClr val="00338D"/>
                </a:solidFill>
                <a:latin typeface="KPMG Light"/>
                <a:ea typeface="KPMG Light"/>
                <a:cs typeface="KPMG Light"/>
                <a:sym typeface="KPMG Light"/>
              </a:defRPr>
            </a:lvl4pPr>
            <a:lvl5pPr marL="0" indent="1828800">
              <a:buSzTx/>
              <a:buFontTx/>
              <a:buNone/>
              <a:defRPr sz="4800">
                <a:solidFill>
                  <a:srgbClr val="00338D"/>
                </a:solidFill>
                <a:latin typeface="KPMG Light"/>
                <a:ea typeface="KPMG Light"/>
                <a:cs typeface="KPMG Light"/>
                <a:sym typeface="KPMG Light"/>
              </a:defRPr>
            </a:lvl5pPr>
          </a:lstStyle>
          <a:p>
            <a:r>
              <a:t>Click to edit Title</a:t>
            </a:r>
          </a:p>
          <a:p>
            <a:pPr lvl="1"/>
            <a:endParaRPr/>
          </a:p>
          <a:p>
            <a:pPr lvl="2"/>
            <a:endParaRPr/>
          </a:p>
          <a:p>
            <a:pPr lvl="3"/>
            <a:endParaRPr/>
          </a:p>
          <a:p>
            <a:pPr lvl="4"/>
            <a:endParaRPr/>
          </a:p>
        </p:txBody>
      </p:sp>
      <p:grpSp>
        <p:nvGrpSpPr>
          <p:cNvPr id="23" name="Group 6"/>
          <p:cNvGrpSpPr/>
          <p:nvPr/>
        </p:nvGrpSpPr>
        <p:grpSpPr>
          <a:xfrm>
            <a:off x="0" y="328997"/>
            <a:ext cx="13149576" cy="1128483"/>
            <a:chOff x="0" y="0"/>
            <a:chExt cx="13149576" cy="1128482"/>
          </a:xfrm>
        </p:grpSpPr>
        <p:sp>
          <p:nvSpPr>
            <p:cNvPr id="20" name="GREEN BANNER BG"/>
            <p:cNvSpPr/>
            <p:nvPr/>
          </p:nvSpPr>
          <p:spPr>
            <a:xfrm>
              <a:off x="-1" y="0"/>
              <a:ext cx="10407417" cy="11284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7"/>
                  </a:lnTo>
                  <a:lnTo>
                    <a:pt x="20378" y="21401"/>
                  </a:lnTo>
                  <a:lnTo>
                    <a:pt x="0" y="21600"/>
                  </a:lnTo>
                  <a:lnTo>
                    <a:pt x="0" y="0"/>
                  </a:lnTo>
                  <a:close/>
                </a:path>
              </a:pathLst>
            </a:custGeom>
            <a:solidFill>
              <a:srgbClr val="76A540">
                <a:alpha val="7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21" name="BLACK BANNER BG"/>
            <p:cNvSpPr/>
            <p:nvPr/>
          </p:nvSpPr>
          <p:spPr>
            <a:xfrm>
              <a:off x="9890586" y="5815"/>
              <a:ext cx="3258991" cy="1119493"/>
            </a:xfrm>
            <a:custGeom>
              <a:avLst/>
              <a:gdLst/>
              <a:ahLst/>
              <a:cxnLst>
                <a:cxn ang="0">
                  <a:pos x="wd2" y="hd2"/>
                </a:cxn>
                <a:cxn ang="5400000">
                  <a:pos x="wd2" y="hd2"/>
                </a:cxn>
                <a:cxn ang="10800000">
                  <a:pos x="wd2" y="hd2"/>
                </a:cxn>
                <a:cxn ang="16200000">
                  <a:pos x="wd2" y="hd2"/>
                </a:cxn>
              </a:cxnLst>
              <a:rect l="0" t="0" r="r" b="b"/>
              <a:pathLst>
                <a:path w="21599" h="21600" extrusionOk="0">
                  <a:moveTo>
                    <a:pt x="3846" y="0"/>
                  </a:moveTo>
                  <a:lnTo>
                    <a:pt x="21599" y="35"/>
                  </a:lnTo>
                  <a:cubicBezTo>
                    <a:pt x="21600" y="7154"/>
                    <a:pt x="21481" y="14481"/>
                    <a:pt x="21482" y="21600"/>
                  </a:cubicBezTo>
                  <a:lnTo>
                    <a:pt x="0" y="21563"/>
                  </a:lnTo>
                  <a:lnTo>
                    <a:pt x="3846" y="0"/>
                  </a:lnTo>
                  <a:close/>
                </a:path>
              </a:pathLst>
            </a:custGeom>
            <a:solidFill>
              <a:srgbClr val="000000">
                <a:alpha val="5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pic>
          <p:nvPicPr>
            <p:cNvPr id="22" name="POLA LOGO" descr="POLA LOGO"/>
            <p:cNvPicPr>
              <a:picLocks noChangeAspect="1"/>
            </p:cNvPicPr>
            <p:nvPr/>
          </p:nvPicPr>
          <p:blipFill>
            <a:blip r:embed="rId3" cstate="print"/>
            <a:stretch>
              <a:fillRect/>
            </a:stretch>
          </p:blipFill>
          <p:spPr>
            <a:xfrm>
              <a:off x="10809516" y="81837"/>
              <a:ext cx="850271" cy="921126"/>
            </a:xfrm>
            <a:prstGeom prst="rect">
              <a:avLst/>
            </a:prstGeom>
            <a:ln w="12700" cap="flat">
              <a:noFill/>
              <a:miter lim="400000"/>
            </a:ln>
            <a:effectLst>
              <a:outerShdw blurRad="50800" dist="38100" dir="2700000" rotWithShape="0">
                <a:srgbClr val="000000">
                  <a:alpha val="40000"/>
                </a:srgbClr>
              </a:outerShdw>
            </a:effectLst>
          </p:spPr>
        </p:pic>
      </p:grpSp>
      <p:sp>
        <p:nvSpPr>
          <p:cNvPr id="24" name="Left Triangle "/>
          <p:cNvSpPr/>
          <p:nvPr/>
        </p:nvSpPr>
        <p:spPr>
          <a:xfrm rot="5400000">
            <a:off x="-3517938" y="1480991"/>
            <a:ext cx="6858003" cy="38960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76A541">
              <a:alpha val="30000"/>
            </a:srgbClr>
          </a:solidFill>
          <a:ln w="12700">
            <a:miter lim="400000"/>
          </a:ln>
        </p:spPr>
        <p:txBody>
          <a:bodyPr lIns="45719" rIns="45719" anchor="ctr"/>
          <a:lstStyle/>
          <a:p>
            <a:pPr algn="ctr">
              <a:defRPr>
                <a:solidFill>
                  <a:srgbClr val="FFFFFF"/>
                </a:solidFill>
              </a:defRPr>
            </a:pPr>
            <a:endParaRPr/>
          </a:p>
        </p:txBody>
      </p:sp>
      <p:sp>
        <p:nvSpPr>
          <p:cNvPr id="25" name="Text Placeholder 5"/>
          <p:cNvSpPr txBox="1"/>
          <p:nvPr/>
        </p:nvSpPr>
        <p:spPr>
          <a:xfrm>
            <a:off x="1177407" y="4261456"/>
            <a:ext cx="3241785" cy="107836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p>
            <a:pPr>
              <a:spcBef>
                <a:spcPts val="600"/>
              </a:spcBef>
              <a:defRPr sz="1400" b="1">
                <a:solidFill>
                  <a:srgbClr val="00338D"/>
                </a:solidFill>
                <a:latin typeface="Arial"/>
                <a:ea typeface="Arial"/>
                <a:cs typeface="Arial"/>
                <a:sym typeface="Arial"/>
              </a:defRPr>
            </a:pPr>
            <a:r>
              <a:t>The Port of Los Angeles</a:t>
            </a:r>
            <a:endParaRPr>
              <a:solidFill>
                <a:srgbClr val="323232"/>
              </a:solidFill>
              <a:latin typeface="+mj-lt"/>
              <a:ea typeface="+mj-ea"/>
              <a:cs typeface="+mj-cs"/>
              <a:sym typeface="Calibri"/>
            </a:endParaRPr>
          </a:p>
          <a:p>
            <a:pPr>
              <a:spcBef>
                <a:spcPts val="600"/>
              </a:spcBef>
              <a:defRPr sz="1200">
                <a:solidFill>
                  <a:srgbClr val="00338D"/>
                </a:solidFill>
                <a:latin typeface="Arial"/>
                <a:ea typeface="Arial"/>
                <a:cs typeface="Arial"/>
                <a:sym typeface="Arial"/>
              </a:defRPr>
            </a:pPr>
            <a:r>
              <a:t>Oracle Enterprise Resource Planning (ERP) Cloud Solution for The City of Los Angeles Harbor Department (Harbor Department)</a:t>
            </a:r>
            <a:endParaRPr sz="1400" b="1">
              <a:solidFill>
                <a:srgbClr val="323232"/>
              </a:solidFill>
              <a:latin typeface="+mj-lt"/>
              <a:ea typeface="+mj-ea"/>
              <a:cs typeface="+mj-cs"/>
              <a:sym typeface="Calibri"/>
            </a:endParaRPr>
          </a:p>
        </p:txBody>
      </p:sp>
      <p:sp>
        <p:nvSpPr>
          <p:cNvPr id="26" name="Slide Number"/>
          <p:cNvSpPr txBox="1">
            <a:spLocks noGrp="1"/>
          </p:cNvSpPr>
          <p:nvPr>
            <p:ph type="sldNum" sz="quarter" idx="2"/>
          </p:nvPr>
        </p:nvSpPr>
        <p:spPr>
          <a:xfrm>
            <a:off x="8610600" y="6356350"/>
            <a:ext cx="245750" cy="225708"/>
          </a:xfrm>
          <a:prstGeom prst="rect">
            <a:avLst/>
          </a:prstGeom>
        </p:spPr>
        <p:txBody>
          <a:bodyPr/>
          <a:lstStyle>
            <a:lvl1pPr>
              <a:defRPr sz="1100"/>
            </a:lvl1pPr>
          </a:lstStyle>
          <a:p>
            <a:fld id="{86CB4B4D-7CA3-9044-876B-883B54F8677D}" type="slidenum">
              <a:rPr/>
              <a:p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Slide 0">
    <p:spTree>
      <p:nvGrpSpPr>
        <p:cNvPr id="1" name=""/>
        <p:cNvGrpSpPr/>
        <p:nvPr/>
      </p:nvGrpSpPr>
      <p:grpSpPr>
        <a:xfrm>
          <a:off x="0" y="0"/>
          <a:ext cx="0" cy="0"/>
          <a:chOff x="0" y="0"/>
          <a:chExt cx="0" cy="0"/>
        </a:xfrm>
      </p:grpSpPr>
      <p:sp>
        <p:nvSpPr>
          <p:cNvPr id="33" name="Body Level One…"/>
          <p:cNvSpPr txBox="1">
            <a:spLocks noGrp="1"/>
          </p:cNvSpPr>
          <p:nvPr>
            <p:ph type="body" sz="quarter" idx="1" hasCustomPrompt="1"/>
          </p:nvPr>
        </p:nvSpPr>
        <p:spPr>
          <a:xfrm>
            <a:off x="979357" y="1607663"/>
            <a:ext cx="6088064" cy="1576389"/>
          </a:xfrm>
          <a:prstGeom prst="rect">
            <a:avLst/>
          </a:prstGeom>
        </p:spPr>
        <p:txBody>
          <a:bodyPr/>
          <a:lstStyle>
            <a:lvl1pPr marL="0" indent="0">
              <a:buSzTx/>
              <a:buFontTx/>
              <a:buNone/>
              <a:defRPr sz="4800">
                <a:solidFill>
                  <a:srgbClr val="00338D"/>
                </a:solidFill>
                <a:latin typeface="KPMG Light"/>
                <a:ea typeface="KPMG Light"/>
                <a:cs typeface="KPMG Light"/>
                <a:sym typeface="KPMG Light"/>
              </a:defRPr>
            </a:lvl1pPr>
            <a:lvl2pPr marL="0" indent="0">
              <a:buSzTx/>
              <a:buFontTx/>
              <a:buNone/>
              <a:defRPr sz="4800">
                <a:solidFill>
                  <a:srgbClr val="00338D"/>
                </a:solidFill>
                <a:latin typeface="KPMG Light"/>
                <a:ea typeface="KPMG Light"/>
                <a:cs typeface="KPMG Light"/>
                <a:sym typeface="KPMG Light"/>
              </a:defRPr>
            </a:lvl2pPr>
            <a:lvl3pPr marL="0" indent="0">
              <a:buSzTx/>
              <a:buFontTx/>
              <a:buNone/>
              <a:defRPr sz="4800">
                <a:solidFill>
                  <a:srgbClr val="00338D"/>
                </a:solidFill>
                <a:latin typeface="KPMG Light"/>
                <a:ea typeface="KPMG Light"/>
                <a:cs typeface="KPMG Light"/>
                <a:sym typeface="KPMG Light"/>
              </a:defRPr>
            </a:lvl3pPr>
            <a:lvl4pPr marL="0" indent="1371600">
              <a:buSzTx/>
              <a:buFontTx/>
              <a:buNone/>
              <a:defRPr sz="4800">
                <a:solidFill>
                  <a:srgbClr val="00338D"/>
                </a:solidFill>
                <a:latin typeface="KPMG Light"/>
                <a:ea typeface="KPMG Light"/>
                <a:cs typeface="KPMG Light"/>
                <a:sym typeface="KPMG Light"/>
              </a:defRPr>
            </a:lvl4pPr>
            <a:lvl5pPr marL="0" indent="1828800">
              <a:buSzTx/>
              <a:buFontTx/>
              <a:buNone/>
              <a:defRPr sz="4800">
                <a:solidFill>
                  <a:srgbClr val="00338D"/>
                </a:solidFill>
                <a:latin typeface="KPMG Light"/>
                <a:ea typeface="KPMG Light"/>
                <a:cs typeface="KPMG Light"/>
                <a:sym typeface="KPMG Light"/>
              </a:defRPr>
            </a:lvl5pPr>
          </a:lstStyle>
          <a:p>
            <a:r>
              <a:t>Click to edit Title</a:t>
            </a:r>
          </a:p>
          <a:p>
            <a:pPr lvl="1"/>
            <a:endParaRPr/>
          </a:p>
          <a:p>
            <a:pPr lvl="2"/>
            <a:endParaRPr/>
          </a:p>
          <a:p>
            <a:pPr lvl="3"/>
            <a:endParaRPr/>
          </a:p>
          <a:p>
            <a:pPr lvl="4"/>
            <a:endParaRPr/>
          </a:p>
        </p:txBody>
      </p:sp>
      <p:sp>
        <p:nvSpPr>
          <p:cNvPr id="34" name="Slide Number"/>
          <p:cNvSpPr txBox="1">
            <a:spLocks noGrp="1"/>
          </p:cNvSpPr>
          <p:nvPr>
            <p:ph type="sldNum" sz="quarter" idx="2"/>
          </p:nvPr>
        </p:nvSpPr>
        <p:spPr>
          <a:xfrm>
            <a:off x="8610600" y="6356350"/>
            <a:ext cx="245750" cy="225708"/>
          </a:xfrm>
          <a:prstGeom prst="rect">
            <a:avLst/>
          </a:prstGeom>
        </p:spPr>
        <p:txBody>
          <a:bodyPr/>
          <a:lstStyle>
            <a:lvl1pPr>
              <a:defRPr sz="1100"/>
            </a:lvl1pPr>
          </a:lstStyle>
          <a:p>
            <a:fld id="{86CB4B4D-7CA3-9044-876B-883B54F8677D}" type="slidenum">
              <a:rPr/>
              <a:pPr/>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4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2" name="Title Text"/>
          <p:cNvSpPr txBox="1">
            <a:spLocks noGrp="1"/>
          </p:cNvSpPr>
          <p:nvPr>
            <p:ph type="title"/>
          </p:nvPr>
        </p:nvSpPr>
        <p:spPr>
          <a:prstGeom prst="rect">
            <a:avLst/>
          </a:prstGeom>
        </p:spPr>
        <p:txBody>
          <a:bodyPr/>
          <a:lstStyle/>
          <a:p>
            <a:r>
              <a:t>Title Text</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50" name="Title Text"/>
          <p:cNvSpPr txBox="1">
            <a:spLocks noGrp="1"/>
          </p:cNvSpPr>
          <p:nvPr>
            <p:ph type="title"/>
          </p:nvPr>
        </p:nvSpPr>
        <p:spPr>
          <a:prstGeom prst="rect">
            <a:avLst/>
          </a:prstGeom>
        </p:spPr>
        <p:txBody>
          <a:bodyPr/>
          <a:lstStyle/>
          <a:p>
            <a:r>
              <a:t>Title Text</a:t>
            </a:r>
          </a:p>
        </p:txBody>
      </p:sp>
      <p:sp>
        <p:nvSpPr>
          <p:cNvPr id="51"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9"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60"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61" name="Title Text"/>
          <p:cNvSpPr txBox="1">
            <a:spLocks noGrp="1"/>
          </p:cNvSpPr>
          <p:nvPr>
            <p:ph type="title"/>
          </p:nvPr>
        </p:nvSpPr>
        <p:spPr>
          <a:prstGeom prst="rect">
            <a:avLst/>
          </a:prstGeom>
        </p:spPr>
        <p:txBody>
          <a:bodyPr/>
          <a:lstStyle/>
          <a:p>
            <a:r>
              <a:t>Title Text</a:t>
            </a:r>
          </a:p>
        </p:txBody>
      </p:sp>
      <p:sp>
        <p:nvSpPr>
          <p:cNvPr id="62"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9" name="Title Text"/>
          <p:cNvSpPr txBox="1">
            <a:spLocks noGrp="1"/>
          </p:cNvSpPr>
          <p:nvPr>
            <p:ph type="title"/>
          </p:nvPr>
        </p:nvSpPr>
        <p:spPr>
          <a:prstGeom prst="rect">
            <a:avLst/>
          </a:prstGeom>
        </p:spPr>
        <p:txBody>
          <a:bodyPr/>
          <a:lstStyle/>
          <a:p>
            <a:r>
              <a:t>Title Text</a:t>
            </a:r>
          </a:p>
        </p:txBody>
      </p:sp>
      <p:sp>
        <p:nvSpPr>
          <p:cNvPr id="70"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 Only 0">
    <p:spTree>
      <p:nvGrpSpPr>
        <p:cNvPr id="1" name=""/>
        <p:cNvGrpSpPr/>
        <p:nvPr/>
      </p:nvGrpSpPr>
      <p:grpSpPr>
        <a:xfrm>
          <a:off x="0" y="0"/>
          <a:ext cx="0" cy="0"/>
          <a:chOff x="0" y="0"/>
          <a:chExt cx="0" cy="0"/>
        </a:xfrm>
      </p:grpSpPr>
      <p:sp>
        <p:nvSpPr>
          <p:cNvPr id="77" name="Title Text"/>
          <p:cNvSpPr txBox="1">
            <a:spLocks noGrp="1"/>
          </p:cNvSpPr>
          <p:nvPr>
            <p:ph type="title"/>
          </p:nvPr>
        </p:nvSpPr>
        <p:spPr>
          <a:prstGeom prst="rect">
            <a:avLst/>
          </a:prstGeom>
        </p:spPr>
        <p:txBody>
          <a:bodyPr/>
          <a:lstStyle/>
          <a:p>
            <a:r>
              <a:t>Title Text</a:t>
            </a:r>
          </a:p>
        </p:txBody>
      </p:sp>
      <p:sp>
        <p:nvSpPr>
          <p:cNvPr id="78"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5" name="Title Text"/>
          <p:cNvSpPr txBox="1">
            <a:spLocks noGrp="1"/>
          </p:cNvSpPr>
          <p:nvPr>
            <p:ph type="title"/>
          </p:nvPr>
        </p:nvSpPr>
        <p:spPr>
          <a:xfrm>
            <a:off x="1524000" y="1122362"/>
            <a:ext cx="9144000" cy="2387601"/>
          </a:xfrm>
          <a:prstGeom prst="rect">
            <a:avLst/>
          </a:prstGeom>
        </p:spPr>
        <p:txBody>
          <a:bodyPr anchor="b"/>
          <a:lstStyle>
            <a:lvl1pPr algn="ctr">
              <a:defRPr sz="6000">
                <a:solidFill>
                  <a:srgbClr val="000000"/>
                </a:solidFill>
              </a:defRPr>
            </a:lvl1pPr>
          </a:lstStyle>
          <a:p>
            <a:r>
              <a:t>Title Text</a:t>
            </a:r>
          </a:p>
        </p:txBody>
      </p:sp>
      <p:sp>
        <p:nvSpPr>
          <p:cNvPr id="86"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solidFill>
                  <a:srgbClr val="000000"/>
                </a:solidFill>
              </a:defRPr>
            </a:lvl1pPr>
            <a:lvl2pPr marL="0" indent="457200" algn="ctr">
              <a:buSzTx/>
              <a:buFontTx/>
              <a:buNone/>
              <a:defRPr sz="2400">
                <a:solidFill>
                  <a:srgbClr val="000000"/>
                </a:solidFill>
              </a:defRPr>
            </a:lvl2pPr>
            <a:lvl3pPr marL="0" indent="914400" algn="ctr">
              <a:buSzTx/>
              <a:buFontTx/>
              <a:buNone/>
              <a:defRPr sz="2400">
                <a:solidFill>
                  <a:srgbClr val="000000"/>
                </a:solidFill>
              </a:defRPr>
            </a:lvl3pPr>
            <a:lvl4pPr marL="0" indent="1371600" algn="ctr">
              <a:buSzTx/>
              <a:buFontTx/>
              <a:buNone/>
              <a:defRPr sz="2400">
                <a:solidFill>
                  <a:srgbClr val="000000"/>
                </a:solidFill>
              </a:defRPr>
            </a:lvl4pPr>
            <a:lvl5pPr marL="0" indent="1828800" algn="ctr">
              <a:buSzTx/>
              <a:buFont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87" name="Slide Number"/>
          <p:cNvSpPr txBox="1">
            <a:spLocks noGrp="1"/>
          </p:cNvSpPr>
          <p:nvPr>
            <p:ph type="sldNum" sz="quarter" idx="2"/>
          </p:nvPr>
        </p:nvSpPr>
        <p:spPr>
          <a:xfrm>
            <a:off x="0" y="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1_Title Slide 0">
    <p:spTree>
      <p:nvGrpSpPr>
        <p:cNvPr id="1" name=""/>
        <p:cNvGrpSpPr/>
        <p:nvPr/>
      </p:nvGrpSpPr>
      <p:grpSpPr>
        <a:xfrm>
          <a:off x="0" y="0"/>
          <a:ext cx="0" cy="0"/>
          <a:chOff x="0" y="0"/>
          <a:chExt cx="0" cy="0"/>
        </a:xfrm>
      </p:grpSpPr>
      <p:sp>
        <p:nvSpPr>
          <p:cNvPr id="94" name="Title Text"/>
          <p:cNvSpPr txBox="1">
            <a:spLocks noGrp="1"/>
          </p:cNvSpPr>
          <p:nvPr>
            <p:ph type="title"/>
          </p:nvPr>
        </p:nvSpPr>
        <p:spPr>
          <a:xfrm>
            <a:off x="1524000" y="1122362"/>
            <a:ext cx="9144000" cy="2387601"/>
          </a:xfrm>
          <a:prstGeom prst="rect">
            <a:avLst/>
          </a:prstGeom>
        </p:spPr>
        <p:txBody>
          <a:bodyPr anchor="b"/>
          <a:lstStyle>
            <a:lvl1pPr algn="ctr">
              <a:defRPr sz="6000">
                <a:solidFill>
                  <a:srgbClr val="000000"/>
                </a:solidFill>
              </a:defRPr>
            </a:lvl1pPr>
          </a:lstStyle>
          <a:p>
            <a:r>
              <a:t>Title Text</a:t>
            </a:r>
          </a:p>
        </p:txBody>
      </p:sp>
      <p:sp>
        <p:nvSpPr>
          <p:cNvPr id="95"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solidFill>
                  <a:srgbClr val="000000"/>
                </a:solidFill>
              </a:defRPr>
            </a:lvl1pPr>
            <a:lvl2pPr marL="0" indent="457200" algn="ctr">
              <a:buSzTx/>
              <a:buFontTx/>
              <a:buNone/>
              <a:defRPr sz="2400">
                <a:solidFill>
                  <a:srgbClr val="000000"/>
                </a:solidFill>
              </a:defRPr>
            </a:lvl2pPr>
            <a:lvl3pPr marL="0" indent="914400" algn="ctr">
              <a:buSzTx/>
              <a:buFontTx/>
              <a:buNone/>
              <a:defRPr sz="2400">
                <a:solidFill>
                  <a:srgbClr val="000000"/>
                </a:solidFill>
              </a:defRPr>
            </a:lvl3pPr>
            <a:lvl4pPr marL="0" indent="1371600" algn="ctr">
              <a:buSzTx/>
              <a:buFontTx/>
              <a:buNone/>
              <a:defRPr sz="2400">
                <a:solidFill>
                  <a:srgbClr val="000000"/>
                </a:solidFill>
              </a:defRPr>
            </a:lvl4pPr>
            <a:lvl5pPr marL="0" indent="1828800" algn="ctr">
              <a:buSzTx/>
              <a:buFont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96" name="Slide Number"/>
          <p:cNvSpPr txBox="1">
            <a:spLocks noGrp="1"/>
          </p:cNvSpPr>
          <p:nvPr>
            <p:ph type="sldNum" sz="quarter" idx="2"/>
          </p:nvPr>
        </p:nvSpPr>
        <p:spPr>
          <a:xfrm>
            <a:off x="0" y="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3"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Blank 0">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1.png"/><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image" Target="../media/image3.png"/><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Rectangle 2"/>
          <p:cNvSpPr/>
          <p:nvPr/>
        </p:nvSpPr>
        <p:spPr>
          <a:xfrm>
            <a:off x="0" y="0"/>
            <a:ext cx="12192000" cy="68580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1.png">
            <a:extLst>
              <a:ext uri="{FF2B5EF4-FFF2-40B4-BE49-F238E27FC236}">
                <a16:creationId xmlns:a16="http://schemas.microsoft.com/office/drawing/2014/main" id="{D8CF5111-7EE1-45A6-BCE7-40D07AEC3189}"/>
              </a:ext>
            </a:extLst>
          </p:cNvPr>
          <p:cNvPicPr/>
          <p:nvPr/>
        </p:nvPicPr>
        <p:blipFill>
          <a:blip r:embed="rId9" cstate="print"/>
          <a:stretch>
            <a:fillRect/>
          </a:stretch>
        </p:blipFill>
        <p:spPr>
          <a:xfrm>
            <a:off x="10407416" y="208913"/>
            <a:ext cx="1442085" cy="685800"/>
          </a:xfrm>
          <a:prstGeom prst="rect">
            <a:avLst/>
          </a:prstGeom>
        </p:spPr>
      </p:pic>
      <p:pic>
        <p:nvPicPr>
          <p:cNvPr id="5" name="Picture 4">
            <a:extLst>
              <a:ext uri="{FF2B5EF4-FFF2-40B4-BE49-F238E27FC236}">
                <a16:creationId xmlns:a16="http://schemas.microsoft.com/office/drawing/2014/main" id="{5DBB4D32-9A7C-49F9-A2EC-89711AA2BFC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133260" y="5799260"/>
            <a:ext cx="1058740" cy="1058740"/>
          </a:xfrm>
          <a:prstGeom prst="rect">
            <a:avLst/>
          </a:prstGeom>
        </p:spPr>
      </p:pic>
      <p:grpSp>
        <p:nvGrpSpPr>
          <p:cNvPr id="19" name="Group 18">
            <a:extLst>
              <a:ext uri="{FF2B5EF4-FFF2-40B4-BE49-F238E27FC236}">
                <a16:creationId xmlns:a16="http://schemas.microsoft.com/office/drawing/2014/main" id="{A2B163C2-9CEC-4CB3-BD03-7BE8BC5F990A}"/>
              </a:ext>
            </a:extLst>
          </p:cNvPr>
          <p:cNvGrpSpPr/>
          <p:nvPr/>
        </p:nvGrpSpPr>
        <p:grpSpPr>
          <a:xfrm>
            <a:off x="0" y="328997"/>
            <a:ext cx="13149576" cy="1128483"/>
            <a:chOff x="9064" y="328997"/>
            <a:chExt cx="13149576" cy="1128483"/>
          </a:xfrm>
        </p:grpSpPr>
        <p:sp>
          <p:nvSpPr>
            <p:cNvPr id="20" name="GREEN BANNER BG">
              <a:extLst>
                <a:ext uri="{FF2B5EF4-FFF2-40B4-BE49-F238E27FC236}">
                  <a16:creationId xmlns:a16="http://schemas.microsoft.com/office/drawing/2014/main" id="{3D61A146-4FF9-44E7-B0C3-AAFF1BE60C41}"/>
                </a:ext>
              </a:extLst>
            </p:cNvPr>
            <p:cNvSpPr/>
            <p:nvPr/>
          </p:nvSpPr>
          <p:spPr>
            <a:xfrm>
              <a:off x="9064" y="328997"/>
              <a:ext cx="10407416" cy="1128483"/>
            </a:xfrm>
            <a:custGeom>
              <a:avLst/>
              <a:gdLst>
                <a:gd name="connsiteX0" fmla="*/ 0 w 9921240"/>
                <a:gd name="connsiteY0" fmla="*/ 0 h 1099488"/>
                <a:gd name="connsiteX1" fmla="*/ 9921240 w 9921240"/>
                <a:gd name="connsiteY1" fmla="*/ 0 h 1099488"/>
                <a:gd name="connsiteX2" fmla="*/ 9921240 w 9921240"/>
                <a:gd name="connsiteY2" fmla="*/ 1099488 h 1099488"/>
                <a:gd name="connsiteX3" fmla="*/ 0 w 9921240"/>
                <a:gd name="connsiteY3" fmla="*/ 1099488 h 1099488"/>
                <a:gd name="connsiteX4" fmla="*/ 0 w 9921240"/>
                <a:gd name="connsiteY4" fmla="*/ 0 h 1099488"/>
                <a:gd name="connsiteX0" fmla="*/ 0 w 10314432"/>
                <a:gd name="connsiteY0" fmla="*/ 0 h 1099488"/>
                <a:gd name="connsiteX1" fmla="*/ 10314432 w 10314432"/>
                <a:gd name="connsiteY1" fmla="*/ 18288 h 1099488"/>
                <a:gd name="connsiteX2" fmla="*/ 9921240 w 10314432"/>
                <a:gd name="connsiteY2" fmla="*/ 1099488 h 1099488"/>
                <a:gd name="connsiteX3" fmla="*/ 0 w 10314432"/>
                <a:gd name="connsiteY3" fmla="*/ 1099488 h 1099488"/>
                <a:gd name="connsiteX4" fmla="*/ 0 w 10314432"/>
                <a:gd name="connsiteY4" fmla="*/ 0 h 1099488"/>
                <a:gd name="connsiteX0" fmla="*/ 0 w 10314432"/>
                <a:gd name="connsiteY0" fmla="*/ 0 h 1099488"/>
                <a:gd name="connsiteX1" fmla="*/ 10314432 w 10314432"/>
                <a:gd name="connsiteY1" fmla="*/ 18288 h 1099488"/>
                <a:gd name="connsiteX2" fmla="*/ 9820656 w 10314432"/>
                <a:gd name="connsiteY2" fmla="*/ 1081200 h 1099488"/>
                <a:gd name="connsiteX3" fmla="*/ 0 w 10314432"/>
                <a:gd name="connsiteY3" fmla="*/ 1099488 h 1099488"/>
                <a:gd name="connsiteX4" fmla="*/ 0 w 10314432"/>
                <a:gd name="connsiteY4" fmla="*/ 0 h 1099488"/>
                <a:gd name="connsiteX0" fmla="*/ 0 w 10314432"/>
                <a:gd name="connsiteY0" fmla="*/ 0 h 1099488"/>
                <a:gd name="connsiteX1" fmla="*/ 10314432 w 10314432"/>
                <a:gd name="connsiteY1" fmla="*/ 18288 h 1099488"/>
                <a:gd name="connsiteX2" fmla="*/ 9742747 w 10314432"/>
                <a:gd name="connsiteY2" fmla="*/ 1068898 h 1099488"/>
                <a:gd name="connsiteX3" fmla="*/ 0 w 10314432"/>
                <a:gd name="connsiteY3" fmla="*/ 1099488 h 1099488"/>
                <a:gd name="connsiteX4" fmla="*/ 0 w 10314432"/>
                <a:gd name="connsiteY4" fmla="*/ 0 h 1099488"/>
                <a:gd name="connsiteX0" fmla="*/ 0 w 10314432"/>
                <a:gd name="connsiteY0" fmla="*/ 0 h 1099488"/>
                <a:gd name="connsiteX1" fmla="*/ 10314432 w 10314432"/>
                <a:gd name="connsiteY1" fmla="*/ 18288 h 1099488"/>
                <a:gd name="connsiteX2" fmla="*/ 9763249 w 10314432"/>
                <a:gd name="connsiteY2" fmla="*/ 1089401 h 1099488"/>
                <a:gd name="connsiteX3" fmla="*/ 0 w 10314432"/>
                <a:gd name="connsiteY3" fmla="*/ 1099488 h 1099488"/>
                <a:gd name="connsiteX4" fmla="*/ 0 w 10314432"/>
                <a:gd name="connsiteY4" fmla="*/ 0 h 1099488"/>
                <a:gd name="connsiteX0" fmla="*/ 0 w 10339035"/>
                <a:gd name="connsiteY0" fmla="*/ 0 h 1099488"/>
                <a:gd name="connsiteX1" fmla="*/ 10339035 w 10339035"/>
                <a:gd name="connsiteY1" fmla="*/ 10088 h 1099488"/>
                <a:gd name="connsiteX2" fmla="*/ 9763249 w 10339035"/>
                <a:gd name="connsiteY2" fmla="*/ 1089401 h 1099488"/>
                <a:gd name="connsiteX3" fmla="*/ 0 w 10339035"/>
                <a:gd name="connsiteY3" fmla="*/ 1099488 h 1099488"/>
                <a:gd name="connsiteX4" fmla="*/ 0 w 10339035"/>
                <a:gd name="connsiteY4" fmla="*/ 0 h 1099488"/>
                <a:gd name="connsiteX0" fmla="*/ 0 w 10339035"/>
                <a:gd name="connsiteY0" fmla="*/ 0 h 1096403"/>
                <a:gd name="connsiteX1" fmla="*/ 10339035 w 10339035"/>
                <a:gd name="connsiteY1" fmla="*/ 7003 h 1096403"/>
                <a:gd name="connsiteX2" fmla="*/ 9763249 w 10339035"/>
                <a:gd name="connsiteY2" fmla="*/ 1086316 h 1096403"/>
                <a:gd name="connsiteX3" fmla="*/ 0 w 10339035"/>
                <a:gd name="connsiteY3" fmla="*/ 1096403 h 1096403"/>
                <a:gd name="connsiteX4" fmla="*/ 0 w 10339035"/>
                <a:gd name="connsiteY4" fmla="*/ 0 h 1096403"/>
                <a:gd name="connsiteX0" fmla="*/ 0 w 10348506"/>
                <a:gd name="connsiteY0" fmla="*/ 0 h 1096403"/>
                <a:gd name="connsiteX1" fmla="*/ 10348506 w 10348506"/>
                <a:gd name="connsiteY1" fmla="*/ 3918 h 1096403"/>
                <a:gd name="connsiteX2" fmla="*/ 9763249 w 10348506"/>
                <a:gd name="connsiteY2" fmla="*/ 1086316 h 1096403"/>
                <a:gd name="connsiteX3" fmla="*/ 0 w 10348506"/>
                <a:gd name="connsiteY3" fmla="*/ 1096403 h 1096403"/>
                <a:gd name="connsiteX4" fmla="*/ 0 w 10348506"/>
                <a:gd name="connsiteY4" fmla="*/ 0 h 1096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8506" h="1096403">
                  <a:moveTo>
                    <a:pt x="0" y="0"/>
                  </a:moveTo>
                  <a:lnTo>
                    <a:pt x="10348506" y="3918"/>
                  </a:lnTo>
                  <a:lnTo>
                    <a:pt x="9763249" y="1086316"/>
                  </a:lnTo>
                  <a:lnTo>
                    <a:pt x="0" y="1096403"/>
                  </a:lnTo>
                  <a:lnTo>
                    <a:pt x="0" y="0"/>
                  </a:lnTo>
                  <a:close/>
                </a:path>
              </a:pathLst>
            </a:custGeom>
            <a:solidFill>
              <a:srgbClr val="76A540">
                <a:alpha val="70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BLACK BANNER BG">
              <a:extLst>
                <a:ext uri="{FF2B5EF4-FFF2-40B4-BE49-F238E27FC236}">
                  <a16:creationId xmlns:a16="http://schemas.microsoft.com/office/drawing/2014/main" id="{AC2084D1-6F55-4400-805F-9B016638CFEF}"/>
                </a:ext>
              </a:extLst>
            </p:cNvPr>
            <p:cNvSpPr/>
            <p:nvPr/>
          </p:nvSpPr>
          <p:spPr>
            <a:xfrm>
              <a:off x="9899651" y="334812"/>
              <a:ext cx="3258989" cy="1119493"/>
            </a:xfrm>
            <a:custGeom>
              <a:avLst/>
              <a:gdLst>
                <a:gd name="connsiteX0" fmla="*/ 0 w 2743200"/>
                <a:gd name="connsiteY0" fmla="*/ 0 h 1097280"/>
                <a:gd name="connsiteX1" fmla="*/ 2743200 w 2743200"/>
                <a:gd name="connsiteY1" fmla="*/ 0 h 1097280"/>
                <a:gd name="connsiteX2" fmla="*/ 2743200 w 2743200"/>
                <a:gd name="connsiteY2" fmla="*/ 1097280 h 1097280"/>
                <a:gd name="connsiteX3" fmla="*/ 0 w 2743200"/>
                <a:gd name="connsiteY3" fmla="*/ 1097280 h 1097280"/>
                <a:gd name="connsiteX4" fmla="*/ 0 w 2743200"/>
                <a:gd name="connsiteY4" fmla="*/ 0 h 1097280"/>
                <a:gd name="connsiteX0" fmla="*/ 490654 w 3233854"/>
                <a:gd name="connsiteY0" fmla="*/ 0 h 1097280"/>
                <a:gd name="connsiteX1" fmla="*/ 3233854 w 3233854"/>
                <a:gd name="connsiteY1" fmla="*/ 0 h 1097280"/>
                <a:gd name="connsiteX2" fmla="*/ 3233854 w 3233854"/>
                <a:gd name="connsiteY2" fmla="*/ 1097280 h 1097280"/>
                <a:gd name="connsiteX3" fmla="*/ 0 w 3233854"/>
                <a:gd name="connsiteY3" fmla="*/ 1080554 h 1097280"/>
                <a:gd name="connsiteX4" fmla="*/ 490654 w 3233854"/>
                <a:gd name="connsiteY4" fmla="*/ 0 h 1097280"/>
                <a:gd name="connsiteX0" fmla="*/ 557562 w 3233854"/>
                <a:gd name="connsiteY0" fmla="*/ 0 h 1097280"/>
                <a:gd name="connsiteX1" fmla="*/ 3233854 w 3233854"/>
                <a:gd name="connsiteY1" fmla="*/ 0 h 1097280"/>
                <a:gd name="connsiteX2" fmla="*/ 3233854 w 3233854"/>
                <a:gd name="connsiteY2" fmla="*/ 1097280 h 1097280"/>
                <a:gd name="connsiteX3" fmla="*/ 0 w 3233854"/>
                <a:gd name="connsiteY3" fmla="*/ 1080554 h 1097280"/>
                <a:gd name="connsiteX4" fmla="*/ 557562 w 3233854"/>
                <a:gd name="connsiteY4" fmla="*/ 0 h 1097280"/>
                <a:gd name="connsiteX0" fmla="*/ 579864 w 3256156"/>
                <a:gd name="connsiteY0" fmla="*/ 0 h 1097281"/>
                <a:gd name="connsiteX1" fmla="*/ 3256156 w 3256156"/>
                <a:gd name="connsiteY1" fmla="*/ 0 h 1097281"/>
                <a:gd name="connsiteX2" fmla="*/ 3256156 w 3256156"/>
                <a:gd name="connsiteY2" fmla="*/ 1097280 h 1097281"/>
                <a:gd name="connsiteX3" fmla="*/ 0 w 3256156"/>
                <a:gd name="connsiteY3" fmla="*/ 1097281 h 1097281"/>
                <a:gd name="connsiteX4" fmla="*/ 579864 w 3256156"/>
                <a:gd name="connsiteY4" fmla="*/ 0 h 1097281"/>
                <a:gd name="connsiteX0" fmla="*/ 591439 w 3267731"/>
                <a:gd name="connsiteY0" fmla="*/ 0 h 1132845"/>
                <a:gd name="connsiteX1" fmla="*/ 3267731 w 3267731"/>
                <a:gd name="connsiteY1" fmla="*/ 0 h 1132845"/>
                <a:gd name="connsiteX2" fmla="*/ 3267731 w 3267731"/>
                <a:gd name="connsiteY2" fmla="*/ 1097280 h 1132845"/>
                <a:gd name="connsiteX3" fmla="*/ 0 w 3267731"/>
                <a:gd name="connsiteY3" fmla="*/ 1132845 h 1132845"/>
                <a:gd name="connsiteX4" fmla="*/ 591439 w 3267731"/>
                <a:gd name="connsiteY4" fmla="*/ 0 h 1132845"/>
                <a:gd name="connsiteX0" fmla="*/ 579864 w 3267731"/>
                <a:gd name="connsiteY0" fmla="*/ 0 h 1138772"/>
                <a:gd name="connsiteX1" fmla="*/ 3267731 w 3267731"/>
                <a:gd name="connsiteY1" fmla="*/ 5927 h 1138772"/>
                <a:gd name="connsiteX2" fmla="*/ 3267731 w 3267731"/>
                <a:gd name="connsiteY2" fmla="*/ 1103207 h 1138772"/>
                <a:gd name="connsiteX3" fmla="*/ 0 w 3267731"/>
                <a:gd name="connsiteY3" fmla="*/ 1138772 h 1138772"/>
                <a:gd name="connsiteX4" fmla="*/ 579864 w 3267731"/>
                <a:gd name="connsiteY4" fmla="*/ 0 h 1138772"/>
                <a:gd name="connsiteX0" fmla="*/ 579864 w 3267731"/>
                <a:gd name="connsiteY0" fmla="*/ 0 h 1138772"/>
                <a:gd name="connsiteX1" fmla="*/ 3267731 w 3267731"/>
                <a:gd name="connsiteY1" fmla="*/ 5927 h 1138772"/>
                <a:gd name="connsiteX2" fmla="*/ 3261944 w 3267731"/>
                <a:gd name="connsiteY2" fmla="*/ 1132844 h 1138772"/>
                <a:gd name="connsiteX3" fmla="*/ 0 w 3267731"/>
                <a:gd name="connsiteY3" fmla="*/ 1138772 h 1138772"/>
                <a:gd name="connsiteX4" fmla="*/ 579864 w 3267731"/>
                <a:gd name="connsiteY4" fmla="*/ 0 h 1138772"/>
                <a:gd name="connsiteX0" fmla="*/ 579864 w 3267731"/>
                <a:gd name="connsiteY0" fmla="*/ 577 h 1132845"/>
                <a:gd name="connsiteX1" fmla="*/ 3267731 w 3267731"/>
                <a:gd name="connsiteY1" fmla="*/ 0 h 1132845"/>
                <a:gd name="connsiteX2" fmla="*/ 3261944 w 3267731"/>
                <a:gd name="connsiteY2" fmla="*/ 1126917 h 1132845"/>
                <a:gd name="connsiteX3" fmla="*/ 0 w 3267731"/>
                <a:gd name="connsiteY3" fmla="*/ 1132845 h 1132845"/>
                <a:gd name="connsiteX4" fmla="*/ 579864 w 3267731"/>
                <a:gd name="connsiteY4" fmla="*/ 577 h 1132845"/>
                <a:gd name="connsiteX0" fmla="*/ 579864 w 3261944"/>
                <a:gd name="connsiteY0" fmla="*/ 0 h 1132268"/>
                <a:gd name="connsiteX1" fmla="*/ 3261381 w 3261944"/>
                <a:gd name="connsiteY1" fmla="*/ 2675 h 1132268"/>
                <a:gd name="connsiteX2" fmla="*/ 3261944 w 3261944"/>
                <a:gd name="connsiteY2" fmla="*/ 1126340 h 1132268"/>
                <a:gd name="connsiteX3" fmla="*/ 0 w 3261944"/>
                <a:gd name="connsiteY3" fmla="*/ 1132268 h 1132268"/>
                <a:gd name="connsiteX4" fmla="*/ 579864 w 3261944"/>
                <a:gd name="connsiteY4" fmla="*/ 0 h 1132268"/>
                <a:gd name="connsiteX0" fmla="*/ 579864 w 3261944"/>
                <a:gd name="connsiteY0" fmla="*/ 3828 h 1136096"/>
                <a:gd name="connsiteX1" fmla="*/ 3261381 w 3261944"/>
                <a:gd name="connsiteY1" fmla="*/ 0 h 1136096"/>
                <a:gd name="connsiteX2" fmla="*/ 3261944 w 3261944"/>
                <a:gd name="connsiteY2" fmla="*/ 1130168 h 1136096"/>
                <a:gd name="connsiteX3" fmla="*/ 0 w 3261944"/>
                <a:gd name="connsiteY3" fmla="*/ 1136096 h 1136096"/>
                <a:gd name="connsiteX4" fmla="*/ 579864 w 3261944"/>
                <a:gd name="connsiteY4" fmla="*/ 3828 h 1136096"/>
                <a:gd name="connsiteX0" fmla="*/ 579864 w 3270908"/>
                <a:gd name="connsiteY0" fmla="*/ 7080 h 1139348"/>
                <a:gd name="connsiteX1" fmla="*/ 3270906 w 3270908"/>
                <a:gd name="connsiteY1" fmla="*/ 0 h 1139348"/>
                <a:gd name="connsiteX2" fmla="*/ 3261944 w 3270908"/>
                <a:gd name="connsiteY2" fmla="*/ 1133420 h 1139348"/>
                <a:gd name="connsiteX3" fmla="*/ 0 w 3270908"/>
                <a:gd name="connsiteY3" fmla="*/ 1139348 h 1139348"/>
                <a:gd name="connsiteX4" fmla="*/ 579864 w 3270908"/>
                <a:gd name="connsiteY4" fmla="*/ 7080 h 1139348"/>
                <a:gd name="connsiteX0" fmla="*/ 579864 w 3282782"/>
                <a:gd name="connsiteY0" fmla="*/ 0 h 1132268"/>
                <a:gd name="connsiteX1" fmla="*/ 3282781 w 3282782"/>
                <a:gd name="connsiteY1" fmla="*/ 11164 h 1132268"/>
                <a:gd name="connsiteX2" fmla="*/ 3261944 w 3282782"/>
                <a:gd name="connsiteY2" fmla="*/ 1126340 h 1132268"/>
                <a:gd name="connsiteX3" fmla="*/ 0 w 3282782"/>
                <a:gd name="connsiteY3" fmla="*/ 1132268 h 1132268"/>
                <a:gd name="connsiteX4" fmla="*/ 579864 w 3282782"/>
                <a:gd name="connsiteY4" fmla="*/ 0 h 1132268"/>
                <a:gd name="connsiteX0" fmla="*/ 573926 w 3282782"/>
                <a:gd name="connsiteY0" fmla="*/ 0 h 1126186"/>
                <a:gd name="connsiteX1" fmla="*/ 3282781 w 3282782"/>
                <a:gd name="connsiteY1" fmla="*/ 5082 h 1126186"/>
                <a:gd name="connsiteX2" fmla="*/ 3261944 w 3282782"/>
                <a:gd name="connsiteY2" fmla="*/ 1120258 h 1126186"/>
                <a:gd name="connsiteX3" fmla="*/ 0 w 3282782"/>
                <a:gd name="connsiteY3" fmla="*/ 1126186 h 1126186"/>
                <a:gd name="connsiteX4" fmla="*/ 573926 w 3282782"/>
                <a:gd name="connsiteY4" fmla="*/ 0 h 1126186"/>
                <a:gd name="connsiteX0" fmla="*/ 528207 w 3237063"/>
                <a:gd name="connsiteY0" fmla="*/ 0 h 1121570"/>
                <a:gd name="connsiteX1" fmla="*/ 3237062 w 3237063"/>
                <a:gd name="connsiteY1" fmla="*/ 5082 h 1121570"/>
                <a:gd name="connsiteX2" fmla="*/ 3216225 w 3237063"/>
                <a:gd name="connsiteY2" fmla="*/ 1120258 h 1121570"/>
                <a:gd name="connsiteX3" fmla="*/ 0 w 3237063"/>
                <a:gd name="connsiteY3" fmla="*/ 1121570 h 1121570"/>
                <a:gd name="connsiteX4" fmla="*/ 528207 w 3237063"/>
                <a:gd name="connsiteY4" fmla="*/ 0 h 1121570"/>
                <a:gd name="connsiteX0" fmla="*/ 573926 w 3282782"/>
                <a:gd name="connsiteY0" fmla="*/ 0 h 1131326"/>
                <a:gd name="connsiteX1" fmla="*/ 3282781 w 3282782"/>
                <a:gd name="connsiteY1" fmla="*/ 5082 h 1131326"/>
                <a:gd name="connsiteX2" fmla="*/ 3261944 w 3282782"/>
                <a:gd name="connsiteY2" fmla="*/ 1120258 h 1131326"/>
                <a:gd name="connsiteX3" fmla="*/ 0 w 3282782"/>
                <a:gd name="connsiteY3" fmla="*/ 1131326 h 1131326"/>
                <a:gd name="connsiteX4" fmla="*/ 573926 w 3282782"/>
                <a:gd name="connsiteY4" fmla="*/ 0 h 1131326"/>
                <a:gd name="connsiteX0" fmla="*/ 573926 w 3282781"/>
                <a:gd name="connsiteY0" fmla="*/ 0 h 1136517"/>
                <a:gd name="connsiteX1" fmla="*/ 3282781 w 3282781"/>
                <a:gd name="connsiteY1" fmla="*/ 5082 h 1136517"/>
                <a:gd name="connsiteX2" fmla="*/ 3252419 w 3282781"/>
                <a:gd name="connsiteY2" fmla="*/ 1136517 h 1136517"/>
                <a:gd name="connsiteX3" fmla="*/ 0 w 3282781"/>
                <a:gd name="connsiteY3" fmla="*/ 1131326 h 1136517"/>
                <a:gd name="connsiteX4" fmla="*/ 573926 w 3282781"/>
                <a:gd name="connsiteY4" fmla="*/ 0 h 1136517"/>
                <a:gd name="connsiteX0" fmla="*/ 573926 w 3260559"/>
                <a:gd name="connsiteY0" fmla="*/ 0 h 1136517"/>
                <a:gd name="connsiteX1" fmla="*/ 3260556 w 3260559"/>
                <a:gd name="connsiteY1" fmla="*/ 5082 h 1136517"/>
                <a:gd name="connsiteX2" fmla="*/ 3252419 w 3260559"/>
                <a:gd name="connsiteY2" fmla="*/ 1136517 h 1136517"/>
                <a:gd name="connsiteX3" fmla="*/ 0 w 3260559"/>
                <a:gd name="connsiteY3" fmla="*/ 1131326 h 1136517"/>
                <a:gd name="connsiteX4" fmla="*/ 573926 w 3260559"/>
                <a:gd name="connsiteY4" fmla="*/ 0 h 1136517"/>
                <a:gd name="connsiteX0" fmla="*/ 580310 w 3260559"/>
                <a:gd name="connsiteY0" fmla="*/ 0 h 1139740"/>
                <a:gd name="connsiteX1" fmla="*/ 3260556 w 3260559"/>
                <a:gd name="connsiteY1" fmla="*/ 8305 h 1139740"/>
                <a:gd name="connsiteX2" fmla="*/ 3252419 w 3260559"/>
                <a:gd name="connsiteY2" fmla="*/ 1139740 h 1139740"/>
                <a:gd name="connsiteX3" fmla="*/ 0 w 3260559"/>
                <a:gd name="connsiteY3" fmla="*/ 1134549 h 1139740"/>
                <a:gd name="connsiteX4" fmla="*/ 580310 w 3260559"/>
                <a:gd name="connsiteY4" fmla="*/ 0 h 1139740"/>
                <a:gd name="connsiteX0" fmla="*/ 583502 w 3263751"/>
                <a:gd name="connsiteY0" fmla="*/ 0 h 1139740"/>
                <a:gd name="connsiteX1" fmla="*/ 3263748 w 3263751"/>
                <a:gd name="connsiteY1" fmla="*/ 8305 h 1139740"/>
                <a:gd name="connsiteX2" fmla="*/ 3255611 w 3263751"/>
                <a:gd name="connsiteY2" fmla="*/ 1139740 h 1139740"/>
                <a:gd name="connsiteX3" fmla="*/ 0 w 3263751"/>
                <a:gd name="connsiteY3" fmla="*/ 1134549 h 1139740"/>
                <a:gd name="connsiteX4" fmla="*/ 583502 w 3263751"/>
                <a:gd name="connsiteY4" fmla="*/ 0 h 1139740"/>
                <a:gd name="connsiteX0" fmla="*/ 583502 w 3284340"/>
                <a:gd name="connsiteY0" fmla="*/ 0 h 1142963"/>
                <a:gd name="connsiteX1" fmla="*/ 3263748 w 3284340"/>
                <a:gd name="connsiteY1" fmla="*/ 8305 h 1142963"/>
                <a:gd name="connsiteX2" fmla="*/ 3284340 w 3284340"/>
                <a:gd name="connsiteY2" fmla="*/ 1142963 h 1142963"/>
                <a:gd name="connsiteX3" fmla="*/ 0 w 3284340"/>
                <a:gd name="connsiteY3" fmla="*/ 1134549 h 1142963"/>
                <a:gd name="connsiteX4" fmla="*/ 583502 w 3284340"/>
                <a:gd name="connsiteY4" fmla="*/ 0 h 1142963"/>
                <a:gd name="connsiteX0" fmla="*/ 583502 w 3263752"/>
                <a:gd name="connsiteY0" fmla="*/ 0 h 1136516"/>
                <a:gd name="connsiteX1" fmla="*/ 3263748 w 3263752"/>
                <a:gd name="connsiteY1" fmla="*/ 8305 h 1136516"/>
                <a:gd name="connsiteX2" fmla="*/ 3258803 w 3263752"/>
                <a:gd name="connsiteY2" fmla="*/ 1136516 h 1136516"/>
                <a:gd name="connsiteX3" fmla="*/ 0 w 3263752"/>
                <a:gd name="connsiteY3" fmla="*/ 1134549 h 1136516"/>
                <a:gd name="connsiteX4" fmla="*/ 583502 w 3263752"/>
                <a:gd name="connsiteY4" fmla="*/ 0 h 1136516"/>
                <a:gd name="connsiteX0" fmla="*/ 583502 w 3276517"/>
                <a:gd name="connsiteY0" fmla="*/ 0 h 1136516"/>
                <a:gd name="connsiteX1" fmla="*/ 3276516 w 3276517"/>
                <a:gd name="connsiteY1" fmla="*/ 1859 h 1136516"/>
                <a:gd name="connsiteX2" fmla="*/ 3258803 w 3276517"/>
                <a:gd name="connsiteY2" fmla="*/ 1136516 h 1136516"/>
                <a:gd name="connsiteX3" fmla="*/ 0 w 3276517"/>
                <a:gd name="connsiteY3" fmla="*/ 1134549 h 1136516"/>
                <a:gd name="connsiteX4" fmla="*/ 583502 w 3276517"/>
                <a:gd name="connsiteY4" fmla="*/ 0 h 1136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6517" h="1136516">
                  <a:moveTo>
                    <a:pt x="583502" y="0"/>
                  </a:moveTo>
                  <a:lnTo>
                    <a:pt x="3276516" y="1859"/>
                  </a:lnTo>
                  <a:cubicBezTo>
                    <a:pt x="3276704" y="376414"/>
                    <a:pt x="3258615" y="761961"/>
                    <a:pt x="3258803" y="1136516"/>
                  </a:cubicBezTo>
                  <a:lnTo>
                    <a:pt x="0" y="1134549"/>
                  </a:lnTo>
                  <a:lnTo>
                    <a:pt x="583502" y="0"/>
                  </a:lnTo>
                  <a:close/>
                </a:path>
              </a:pathLst>
            </a:custGeom>
            <a:solidFill>
              <a:schemeClr val="tx1">
                <a:alpha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OLA LOGO">
              <a:extLst>
                <a:ext uri="{FF2B5EF4-FFF2-40B4-BE49-F238E27FC236}">
                  <a16:creationId xmlns:a16="http://schemas.microsoft.com/office/drawing/2014/main" id="{6B8BFDA5-42CA-47C0-86A9-74D4F362B14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818581" y="410834"/>
              <a:ext cx="850270" cy="921126"/>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311392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9" r:id="rId6"/>
    <p:sldLayoutId id="2147483670"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24">
          <p15:clr>
            <a:srgbClr val="F26B43"/>
          </p15:clr>
        </p15:guide>
        <p15:guide id="2" pos="75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1"/>
          </a:xfrm>
          <a:prstGeom prst="rect">
            <a:avLst/>
          </a:prstGeom>
          <a:ln w="12700">
            <a:solidFill>
              <a:srgbClr val="78230B"/>
            </a:solidFill>
            <a:miter/>
          </a:ln>
        </p:spPr>
        <p:txBody>
          <a:bodyPr lIns="45719" rIns="45719" anchor="ctr"/>
          <a:lstStyle/>
          <a:p>
            <a:pPr algn="ctr">
              <a:defRPr>
                <a:solidFill>
                  <a:srgbClr val="FFFFFF"/>
                </a:solidFill>
              </a:defRPr>
            </a:pPr>
            <a:endParaRPr/>
          </a:p>
        </p:txBody>
      </p:sp>
      <p:pic>
        <p:nvPicPr>
          <p:cNvPr id="3" name="image1.png" descr="image1.png"/>
          <p:cNvPicPr>
            <a:picLocks noChangeAspect="1"/>
          </p:cNvPicPr>
          <p:nvPr/>
        </p:nvPicPr>
        <p:blipFill>
          <a:blip r:embed="rId13" cstate="print"/>
          <a:stretch>
            <a:fillRect/>
          </a:stretch>
        </p:blipFill>
        <p:spPr>
          <a:xfrm>
            <a:off x="10407415" y="208912"/>
            <a:ext cx="1442086" cy="685801"/>
          </a:xfrm>
          <a:prstGeom prst="rect">
            <a:avLst/>
          </a:prstGeom>
          <a:ln w="12700">
            <a:miter lim="400000"/>
          </a:ln>
        </p:spPr>
      </p:pic>
      <p:pic>
        <p:nvPicPr>
          <p:cNvPr id="4" name="Picture 4" descr="Picture 4"/>
          <p:cNvPicPr>
            <a:picLocks noChangeAspect="1"/>
          </p:cNvPicPr>
          <p:nvPr/>
        </p:nvPicPr>
        <p:blipFill>
          <a:blip r:embed="rId14" cstate="print"/>
          <a:stretch>
            <a:fillRect/>
          </a:stretch>
        </p:blipFill>
        <p:spPr>
          <a:xfrm>
            <a:off x="11133259" y="5799259"/>
            <a:ext cx="1058741" cy="1058741"/>
          </a:xfrm>
          <a:prstGeom prst="rect">
            <a:avLst/>
          </a:prstGeom>
          <a:ln w="12700">
            <a:miter lim="400000"/>
          </a:ln>
        </p:spPr>
      </p:pic>
      <p:grpSp>
        <p:nvGrpSpPr>
          <p:cNvPr id="8" name="Group 18"/>
          <p:cNvGrpSpPr/>
          <p:nvPr/>
        </p:nvGrpSpPr>
        <p:grpSpPr>
          <a:xfrm>
            <a:off x="0" y="328997"/>
            <a:ext cx="13149576" cy="1128483"/>
            <a:chOff x="0" y="0"/>
            <a:chExt cx="13149576" cy="1128482"/>
          </a:xfrm>
        </p:grpSpPr>
        <p:sp>
          <p:nvSpPr>
            <p:cNvPr id="5" name="GREEN BANNER BG"/>
            <p:cNvSpPr/>
            <p:nvPr/>
          </p:nvSpPr>
          <p:spPr>
            <a:xfrm>
              <a:off x="-1" y="0"/>
              <a:ext cx="10407417" cy="11284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7"/>
                  </a:lnTo>
                  <a:lnTo>
                    <a:pt x="20378" y="21401"/>
                  </a:lnTo>
                  <a:lnTo>
                    <a:pt x="0" y="21600"/>
                  </a:lnTo>
                  <a:lnTo>
                    <a:pt x="0" y="0"/>
                  </a:lnTo>
                  <a:close/>
                </a:path>
              </a:pathLst>
            </a:custGeom>
            <a:solidFill>
              <a:srgbClr val="76A540">
                <a:alpha val="7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6" name="BLACK BANNER BG"/>
            <p:cNvSpPr/>
            <p:nvPr/>
          </p:nvSpPr>
          <p:spPr>
            <a:xfrm>
              <a:off x="9890586" y="5815"/>
              <a:ext cx="3258991" cy="1119493"/>
            </a:xfrm>
            <a:custGeom>
              <a:avLst/>
              <a:gdLst/>
              <a:ahLst/>
              <a:cxnLst>
                <a:cxn ang="0">
                  <a:pos x="wd2" y="hd2"/>
                </a:cxn>
                <a:cxn ang="5400000">
                  <a:pos x="wd2" y="hd2"/>
                </a:cxn>
                <a:cxn ang="10800000">
                  <a:pos x="wd2" y="hd2"/>
                </a:cxn>
                <a:cxn ang="16200000">
                  <a:pos x="wd2" y="hd2"/>
                </a:cxn>
              </a:cxnLst>
              <a:rect l="0" t="0" r="r" b="b"/>
              <a:pathLst>
                <a:path w="21599" h="21600" extrusionOk="0">
                  <a:moveTo>
                    <a:pt x="3846" y="0"/>
                  </a:moveTo>
                  <a:lnTo>
                    <a:pt x="21599" y="35"/>
                  </a:lnTo>
                  <a:cubicBezTo>
                    <a:pt x="21600" y="7154"/>
                    <a:pt x="21481" y="14481"/>
                    <a:pt x="21482" y="21600"/>
                  </a:cubicBezTo>
                  <a:lnTo>
                    <a:pt x="0" y="21563"/>
                  </a:lnTo>
                  <a:lnTo>
                    <a:pt x="3846" y="0"/>
                  </a:lnTo>
                  <a:close/>
                </a:path>
              </a:pathLst>
            </a:custGeom>
            <a:solidFill>
              <a:srgbClr val="000000">
                <a:alpha val="5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pic>
          <p:nvPicPr>
            <p:cNvPr id="7" name="POLA LOGO" descr="POLA LOGO"/>
            <p:cNvPicPr>
              <a:picLocks noChangeAspect="1"/>
            </p:cNvPicPr>
            <p:nvPr/>
          </p:nvPicPr>
          <p:blipFill>
            <a:blip r:embed="rId15" cstate="print"/>
            <a:stretch>
              <a:fillRect/>
            </a:stretch>
          </p:blipFill>
          <p:spPr>
            <a:xfrm>
              <a:off x="10809516" y="81837"/>
              <a:ext cx="850271" cy="921126"/>
            </a:xfrm>
            <a:prstGeom prst="rect">
              <a:avLst/>
            </a:prstGeom>
            <a:ln w="12700" cap="flat">
              <a:noFill/>
              <a:miter lim="400000"/>
            </a:ln>
            <a:effectLst>
              <a:outerShdw blurRad="50800" dist="38100" dir="2700000" rotWithShape="0">
                <a:srgbClr val="000000">
                  <a:alpha val="40000"/>
                </a:srgbClr>
              </a:outerShdw>
            </a:effectLst>
          </p:spPr>
        </p:pic>
      </p:grpSp>
      <p:sp>
        <p:nvSpPr>
          <p:cNvPr id="9"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0" name="Title Text"/>
          <p:cNvSpPr txBox="1">
            <a:spLocks noGrp="1"/>
          </p:cNvSpPr>
          <p:nvPr>
            <p:ph type="title"/>
          </p:nvPr>
        </p:nvSpPr>
        <p:spPr>
          <a:xfrm>
            <a:off x="838200" y="776377"/>
            <a:ext cx="10515600" cy="69011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ormAutofit/>
          </a:bodyPr>
          <a:lstStyle/>
          <a:p>
            <a:r>
              <a:t>Title Text</a:t>
            </a:r>
          </a:p>
        </p:txBody>
      </p:sp>
      <p:sp>
        <p:nvSpPr>
          <p:cNvPr id="11" name="Slide Number"/>
          <p:cNvSpPr txBox="1">
            <a:spLocks noGrp="1"/>
          </p:cNvSpPr>
          <p:nvPr>
            <p:ph type="sldNum" sz="quarter" idx="2"/>
          </p:nvPr>
        </p:nvSpPr>
        <p:spPr>
          <a:xfrm>
            <a:off x="8610600" y="6356350"/>
            <a:ext cx="220003" cy="205914"/>
          </a:xfrm>
          <a:prstGeom prst="rect">
            <a:avLst/>
          </a:prstGeom>
          <a:ln w="12700">
            <a:miter lim="400000"/>
          </a:ln>
        </p:spPr>
        <p:txBody>
          <a:bodyPr wrap="none" lIns="45719" rIns="45719">
            <a:spAutoFit/>
          </a:bodyPr>
          <a:lstStyle>
            <a:lvl1pPr>
              <a:defRPr sz="900">
                <a:solidFill>
                  <a:srgbClr val="00338D"/>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9pPr>
    </p:bodyStyle>
    <p:otherStyle>
      <a:lvl1pPr marL="0" marR="0" indent="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customXml" Target="../ink/ink2.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5.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image" Target="../media/image18.png"/><Relationship Id="rId12"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31.png"/><Relationship Id="rId5" Type="http://schemas.openxmlformats.org/officeDocument/2006/relationships/image" Target="../media/image41.png"/><Relationship Id="rId10" Type="http://schemas.openxmlformats.org/officeDocument/2006/relationships/image" Target="../media/image30.png"/><Relationship Id="rId4" Type="http://schemas.openxmlformats.org/officeDocument/2006/relationships/image" Target="../media/image40.pn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8.png"/><Relationship Id="rId3" Type="http://schemas.openxmlformats.org/officeDocument/2006/relationships/image" Target="../media/image39.png"/><Relationship Id="rId7" Type="http://schemas.openxmlformats.org/officeDocument/2006/relationships/image" Target="../media/image18.png"/><Relationship Id="rId12"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30.png"/><Relationship Id="rId5" Type="http://schemas.openxmlformats.org/officeDocument/2006/relationships/image" Target="../media/image41.png"/><Relationship Id="rId10" Type="http://schemas.openxmlformats.org/officeDocument/2006/relationships/image" Target="../media/image35.png"/><Relationship Id="rId4" Type="http://schemas.openxmlformats.org/officeDocument/2006/relationships/image" Target="../media/image40.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6.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18.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FFA84E-6AE3-4113-BE0C-4824CA90D6DB}"/>
              </a:ext>
            </a:extLst>
          </p:cNvPr>
          <p:cNvSpPr>
            <a:spLocks noGrp="1"/>
          </p:cNvSpPr>
          <p:nvPr>
            <p:ph sz="quarter" idx="13"/>
          </p:nvPr>
        </p:nvSpPr>
        <p:spPr>
          <a:xfrm>
            <a:off x="2043952" y="2471545"/>
            <a:ext cx="8994264" cy="957455"/>
          </a:xfrm>
        </p:spPr>
        <p:txBody>
          <a:bodyPr/>
          <a:lstStyle/>
          <a:p>
            <a:r>
              <a:rPr lang="en-US" dirty="0"/>
              <a:t>OCI Security &amp; Storage Architecture</a:t>
            </a:r>
            <a:endParaRPr lang="en-US" dirty="0">
              <a:solidFill>
                <a:srgbClr val="00338D"/>
              </a:solidFill>
              <a:latin typeface="KPMG Light"/>
            </a:endParaRPr>
          </a:p>
        </p:txBody>
      </p:sp>
    </p:spTree>
    <p:extLst>
      <p:ext uri="{BB962C8B-B14F-4D97-AF65-F5344CB8AC3E}">
        <p14:creationId xmlns:p14="http://schemas.microsoft.com/office/powerpoint/2010/main" val="2079129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68;p15">
            <a:extLst>
              <a:ext uri="{FF2B5EF4-FFF2-40B4-BE49-F238E27FC236}">
                <a16:creationId xmlns:a16="http://schemas.microsoft.com/office/drawing/2014/main" id="{1630686C-9540-D242-9AAA-BF18FDF8E38D}"/>
              </a:ext>
            </a:extLst>
          </p:cNvPr>
          <p:cNvSpPr txBox="1">
            <a:spLocks/>
          </p:cNvSpPr>
          <p:nvPr/>
        </p:nvSpPr>
        <p:spPr>
          <a:xfrm>
            <a:off x="672353" y="344463"/>
            <a:ext cx="8606118" cy="588965"/>
          </a:xfrm>
          <a:prstGeom prst="rect">
            <a:avLst/>
          </a:prstGeom>
          <a:noFill/>
        </p:spPr>
        <p:txBody>
          <a:bodyPr spcFirstLastPara="1" wrap="square" lIns="121900" tIns="121900" rIns="121900" bIns="121900" anchor="t" anchorCtr="0">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IN" sz="3600" dirty="0">
                <a:latin typeface="Rockwell" pitchFamily="18" charset="0"/>
                <a:ea typeface="Karla"/>
                <a:cs typeface="Karla"/>
                <a:sym typeface="Karla"/>
              </a:rPr>
              <a:t> OCI Security, Storage &amp; File Transfer Services</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sp>
        <p:nvSpPr>
          <p:cNvPr id="7" name="TextBox 6">
            <a:extLst>
              <a:ext uri="{FF2B5EF4-FFF2-40B4-BE49-F238E27FC236}">
                <a16:creationId xmlns:a16="http://schemas.microsoft.com/office/drawing/2014/main" id="{B02C91AA-08D1-7437-E8BB-9224422A46BA}"/>
              </a:ext>
            </a:extLst>
          </p:cNvPr>
          <p:cNvSpPr txBox="1"/>
          <p:nvPr/>
        </p:nvSpPr>
        <p:spPr>
          <a:xfrm>
            <a:off x="1568136" y="1048527"/>
            <a:ext cx="8884711" cy="4862870"/>
          </a:xfrm>
          <a:prstGeom prst="rect">
            <a:avLst/>
          </a:prstGeom>
          <a:noFill/>
        </p:spPr>
        <p:txBody>
          <a:bodyPr wrap="square">
            <a:spAutoFit/>
          </a:bodyPr>
          <a:lstStyle/>
          <a:p>
            <a:pPr marL="342900" indent="-342900">
              <a:lnSpc>
                <a:spcPct val="150000"/>
              </a:lnSpc>
              <a:buFont typeface="+mj-lt"/>
              <a:buAutoNum type="arabicPeriod"/>
            </a:pPr>
            <a:r>
              <a:rPr lang="en-IN" sz="1400" b="0" i="0" dirty="0">
                <a:effectLst/>
                <a:latin typeface="Rockwell" pitchFamily="18" charset="0"/>
              </a:rPr>
              <a:t>Topology - Oracle Integration Cloud(OIC) On Oracle Cloud Infrastructure (OCI)</a:t>
            </a:r>
            <a:endParaRPr lang="en" sz="1400" dirty="0">
              <a:latin typeface="Rockwell" pitchFamily="18" charset="0"/>
              <a:ea typeface="Karla"/>
              <a:cs typeface="Karla"/>
              <a:sym typeface="Karla"/>
            </a:endParaRPr>
          </a:p>
          <a:p>
            <a:pPr marL="342900" indent="-342900">
              <a:lnSpc>
                <a:spcPct val="150000"/>
              </a:lnSpc>
              <a:buFont typeface="+mj-lt"/>
              <a:buAutoNum type="arabicPeriod"/>
            </a:pPr>
            <a:r>
              <a:rPr lang="en" sz="1400" dirty="0">
                <a:latin typeface="Rockwell" pitchFamily="18" charset="0"/>
                <a:ea typeface="Karla"/>
                <a:cs typeface="Karla"/>
                <a:sym typeface="Karla"/>
              </a:rPr>
              <a:t>OCI Security Services</a:t>
            </a:r>
          </a:p>
          <a:p>
            <a:pPr marL="446088">
              <a:lnSpc>
                <a:spcPct val="150000"/>
              </a:lnSpc>
            </a:pPr>
            <a:r>
              <a:rPr lang="en-US" sz="1400" dirty="0">
                <a:latin typeface="Rockwell" pitchFamily="18" charset="0"/>
                <a:ea typeface="Karla"/>
                <a:cs typeface="Karla"/>
                <a:sym typeface="Karla"/>
              </a:rPr>
              <a:t>2.1   Identity and Access Management (IAM)</a:t>
            </a:r>
          </a:p>
          <a:p>
            <a:pPr marL="446088">
              <a:lnSpc>
                <a:spcPct val="150000"/>
              </a:lnSpc>
            </a:pPr>
            <a:r>
              <a:rPr lang="en-US" sz="1400" dirty="0">
                <a:latin typeface="Rockwell" pitchFamily="18" charset="0"/>
                <a:ea typeface="Karla"/>
                <a:cs typeface="Karla"/>
                <a:sym typeface="Karla"/>
              </a:rPr>
              <a:t>2.2   Cloud Guard</a:t>
            </a:r>
          </a:p>
          <a:p>
            <a:pPr marL="446088">
              <a:lnSpc>
                <a:spcPct val="150000"/>
              </a:lnSpc>
            </a:pPr>
            <a:r>
              <a:rPr lang="en-US" sz="1400" dirty="0">
                <a:latin typeface="Rockwell" pitchFamily="18" charset="0"/>
                <a:ea typeface="Karla"/>
                <a:cs typeface="Karla"/>
                <a:sym typeface="Karla"/>
              </a:rPr>
              <a:t>2.3   Security Zones</a:t>
            </a:r>
          </a:p>
          <a:p>
            <a:pPr marL="446088">
              <a:lnSpc>
                <a:spcPct val="150000"/>
              </a:lnSpc>
            </a:pPr>
            <a:r>
              <a:rPr lang="en-US" sz="1400" dirty="0">
                <a:latin typeface="Rockwell" pitchFamily="18" charset="0"/>
                <a:ea typeface="Karla"/>
                <a:cs typeface="Karla"/>
                <a:sym typeface="Karla"/>
              </a:rPr>
              <a:t>2.4   Vault</a:t>
            </a:r>
          </a:p>
          <a:p>
            <a:pPr marL="446088">
              <a:lnSpc>
                <a:spcPct val="150000"/>
              </a:lnSpc>
            </a:pPr>
            <a:r>
              <a:rPr lang="en-US" sz="1400" dirty="0">
                <a:latin typeface="Rockwell" pitchFamily="18" charset="0"/>
                <a:ea typeface="Karla"/>
                <a:cs typeface="Karla"/>
                <a:sym typeface="Karla"/>
              </a:rPr>
              <a:t>2.5  Audit Service</a:t>
            </a:r>
          </a:p>
          <a:p>
            <a:pPr marL="446088">
              <a:lnSpc>
                <a:spcPct val="150000"/>
              </a:lnSpc>
            </a:pPr>
            <a:r>
              <a:rPr lang="en-US" sz="1400" dirty="0">
                <a:latin typeface="Rockwell" pitchFamily="18" charset="0"/>
                <a:ea typeface="Karla"/>
                <a:cs typeface="Karla"/>
                <a:sym typeface="Karla"/>
              </a:rPr>
              <a:t>2.6 SSH Public Key/Private keys</a:t>
            </a:r>
          </a:p>
          <a:p>
            <a:pPr>
              <a:lnSpc>
                <a:spcPct val="150000"/>
              </a:lnSpc>
            </a:pPr>
            <a:r>
              <a:rPr lang="en-IN" sz="1400" dirty="0">
                <a:latin typeface="Rockwell" pitchFamily="18" charset="0"/>
              </a:rPr>
              <a:t>3.    OCI Cloud Storage Services</a:t>
            </a:r>
          </a:p>
          <a:p>
            <a:pPr>
              <a:lnSpc>
                <a:spcPct val="150000"/>
              </a:lnSpc>
            </a:pPr>
            <a:r>
              <a:rPr lang="en-IN" sz="1400" dirty="0">
                <a:latin typeface="Rockwell" pitchFamily="18" charset="0"/>
              </a:rPr>
              <a:t>          3.1   Benefits Of  OCI Cloud Storage</a:t>
            </a:r>
          </a:p>
          <a:p>
            <a:pPr>
              <a:lnSpc>
                <a:spcPct val="150000"/>
              </a:lnSpc>
            </a:pPr>
            <a:r>
              <a:rPr lang="en-IN" sz="1400" dirty="0">
                <a:latin typeface="Rockwell" pitchFamily="18" charset="0"/>
              </a:rPr>
              <a:t>          3.2   Cloud Storage Services</a:t>
            </a:r>
          </a:p>
          <a:p>
            <a:pPr marL="808038">
              <a:lnSpc>
                <a:spcPct val="150000"/>
              </a:lnSpc>
            </a:pPr>
            <a:r>
              <a:rPr lang="en-IN" sz="1400" dirty="0">
                <a:latin typeface="Rockwell" pitchFamily="18" charset="0"/>
              </a:rPr>
              <a:t>3.2.1  Block Volumes</a:t>
            </a:r>
          </a:p>
          <a:p>
            <a:pPr marL="808038">
              <a:lnSpc>
                <a:spcPct val="150000"/>
              </a:lnSpc>
            </a:pPr>
            <a:r>
              <a:rPr lang="en-IN" sz="1400" dirty="0">
                <a:latin typeface="Rockwell" pitchFamily="18" charset="0"/>
              </a:rPr>
              <a:t>3.2.2 Object Storage</a:t>
            </a:r>
          </a:p>
          <a:p>
            <a:pPr marL="808038">
              <a:lnSpc>
                <a:spcPct val="150000"/>
              </a:lnSpc>
            </a:pPr>
            <a:r>
              <a:rPr lang="en-IN" sz="1400" dirty="0">
                <a:latin typeface="Rockwell" pitchFamily="18" charset="0"/>
              </a:rPr>
              <a:t>3.2.3  Archive Storage</a:t>
            </a:r>
            <a:endParaRPr lang="en" sz="1400" dirty="0">
              <a:latin typeface="Rockwell" pitchFamily="18" charset="0"/>
              <a:ea typeface="Karla"/>
              <a:cs typeface="Karla"/>
              <a:sym typeface="Karla"/>
            </a:endParaRPr>
          </a:p>
          <a:p>
            <a:endParaRPr lang="en-IN" sz="1600" dirty="0"/>
          </a:p>
        </p:txBody>
      </p:sp>
    </p:spTree>
    <p:extLst>
      <p:ext uri="{BB962C8B-B14F-4D97-AF65-F5344CB8AC3E}">
        <p14:creationId xmlns:p14="http://schemas.microsoft.com/office/powerpoint/2010/main" val="3221976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1"/>
          <p:cNvSpPr txBox="1"/>
          <p:nvPr/>
        </p:nvSpPr>
        <p:spPr>
          <a:xfrm>
            <a:off x="256540" y="147008"/>
            <a:ext cx="5426285" cy="53553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9" tIns="45720" rIns="45719" bIns="45720" anchor="ctr">
            <a:spAutoFit/>
          </a:bodyPr>
          <a:lstStyle>
            <a:lvl1pPr>
              <a:lnSpc>
                <a:spcPct val="90000"/>
              </a:lnSpc>
              <a:defRPr sz="4000">
                <a:latin typeface="Calibri Light"/>
                <a:ea typeface="Calibri Light"/>
                <a:cs typeface="Calibri Light"/>
                <a:sym typeface="Calibri Light"/>
              </a:defRPr>
            </a:lvl1pPr>
          </a:lstStyle>
          <a:p>
            <a:r>
              <a:rPr lang="en-US" sz="3200" dirty="0">
                <a:latin typeface="Rockwell"/>
              </a:rPr>
              <a:t> OCI Architecture</a:t>
            </a:r>
            <a:endParaRPr lang="en-US" sz="3200" dirty="0">
              <a:latin typeface="Rockwell" pitchFamily="18" charset="0"/>
            </a:endParaRPr>
          </a:p>
        </p:txBody>
      </p:sp>
      <p:sp>
        <p:nvSpPr>
          <p:cNvPr id="130" name="TextBox 4"/>
          <p:cNvSpPr txBox="1"/>
          <p:nvPr/>
        </p:nvSpPr>
        <p:spPr>
          <a:xfrm>
            <a:off x="85002" y="874087"/>
            <a:ext cx="3033488" cy="3693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spAutoFit/>
          </a:bodyPr>
          <a:lstStyle/>
          <a:p>
            <a:r>
              <a:rPr>
                <a:latin typeface="Rockwell" pitchFamily="18" charset="0"/>
              </a:rPr>
              <a:t>1. Topology </a:t>
            </a:r>
            <a:r>
              <a:rPr lang="en-US">
                <a:latin typeface="Rockwell" pitchFamily="18" charset="0"/>
              </a:rPr>
              <a:t>–</a:t>
            </a:r>
            <a:r>
              <a:rPr>
                <a:latin typeface="Rockwell" pitchFamily="18" charset="0"/>
              </a:rPr>
              <a:t> </a:t>
            </a:r>
            <a:r>
              <a:rPr lang="en-US">
                <a:solidFill>
                  <a:srgbClr val="C00000"/>
                </a:solidFill>
                <a:latin typeface="Rockwell" pitchFamily="18" charset="0"/>
                <a:ea typeface="Bahnschrift SemiCondensed"/>
                <a:cs typeface="Bahnschrift SemiCondensed"/>
                <a:sym typeface="Bahnschrift SemiCondensed"/>
              </a:rPr>
              <a:t>OIC on OCI</a:t>
            </a:r>
            <a:endParaRPr>
              <a:solidFill>
                <a:srgbClr val="C00000"/>
              </a:solidFill>
              <a:latin typeface="Rockwell" pitchFamily="18" charset="0"/>
              <a:ea typeface="Bahnschrift SemiCondensed"/>
              <a:cs typeface="Bahnschrift SemiCondensed"/>
              <a:sym typeface="Bahnschrift SemiCondensed"/>
            </a:endParaRPr>
          </a:p>
        </p:txBody>
      </p:sp>
      <p:pic>
        <p:nvPicPr>
          <p:cNvPr id="2" name="Picture 3" descr="Table&#10;&#10;Description automatically generated">
            <a:extLst>
              <a:ext uri="{FF2B5EF4-FFF2-40B4-BE49-F238E27FC236}">
                <a16:creationId xmlns:a16="http://schemas.microsoft.com/office/drawing/2014/main" id="{E0359601-BB2B-434D-8226-A3604B7E688C}"/>
              </a:ext>
            </a:extLst>
          </p:cNvPr>
          <p:cNvPicPr>
            <a:picLocks noChangeAspect="1"/>
          </p:cNvPicPr>
          <p:nvPr/>
        </p:nvPicPr>
        <p:blipFill>
          <a:blip r:embed="rId2"/>
          <a:stretch>
            <a:fillRect/>
          </a:stretch>
        </p:blipFill>
        <p:spPr>
          <a:xfrm>
            <a:off x="226483" y="1309759"/>
            <a:ext cx="2743200" cy="3175200"/>
          </a:xfrm>
          <a:prstGeom prst="rect">
            <a:avLst/>
          </a:prstGeom>
        </p:spPr>
      </p:pic>
      <p:pic>
        <p:nvPicPr>
          <p:cNvPr id="4" name="Picture 3">
            <a:extLst>
              <a:ext uri="{FF2B5EF4-FFF2-40B4-BE49-F238E27FC236}">
                <a16:creationId xmlns:a16="http://schemas.microsoft.com/office/drawing/2014/main" id="{2D26D484-4FC6-5B23-D627-13001CDEB40B}"/>
              </a:ext>
            </a:extLst>
          </p:cNvPr>
          <p:cNvPicPr>
            <a:picLocks noChangeAspect="1"/>
          </p:cNvPicPr>
          <p:nvPr/>
        </p:nvPicPr>
        <p:blipFill>
          <a:blip r:embed="rId3"/>
          <a:stretch>
            <a:fillRect/>
          </a:stretch>
        </p:blipFill>
        <p:spPr>
          <a:xfrm>
            <a:off x="3702422" y="234000"/>
            <a:ext cx="8273552" cy="6256447"/>
          </a:xfrm>
          <a:prstGeom prst="rect">
            <a:avLst/>
          </a:prstGeom>
        </p:spPr>
      </p:pic>
    </p:spTree>
    <p:extLst>
      <p:ext uri="{BB962C8B-B14F-4D97-AF65-F5344CB8AC3E}">
        <p14:creationId xmlns:p14="http://schemas.microsoft.com/office/powerpoint/2010/main" val="52981065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14"/>
          <p:cNvSpPr txBox="1">
            <a:spLocks noGrp="1"/>
          </p:cNvSpPr>
          <p:nvPr>
            <p:ph type="body" idx="4294967295"/>
          </p:nvPr>
        </p:nvSpPr>
        <p:spPr>
          <a:xfrm>
            <a:off x="354108" y="1636177"/>
            <a:ext cx="4440204" cy="3746204"/>
          </a:xfrm>
          <a:prstGeom prst="rect">
            <a:avLst/>
          </a:prstGeom>
          <a:ln>
            <a:noFill/>
          </a:ln>
        </p:spPr>
        <p:txBody>
          <a:bodyPr spcFirstLastPara="1" vert="horz" wrap="square" lIns="121900" tIns="121900" rIns="121900" bIns="121900" rtlCol="0" anchor="t" anchorCtr="0">
            <a:noAutofit/>
          </a:bodyPr>
          <a:lstStyle/>
          <a:p>
            <a:pPr marL="546095" indent="-342900">
              <a:lnSpc>
                <a:spcPct val="100000"/>
              </a:lnSpc>
              <a:spcBef>
                <a:spcPts val="1600"/>
              </a:spcBef>
              <a:buClr>
                <a:schemeClr val="dk1"/>
              </a:buClr>
              <a:buSzPts val="1200"/>
              <a:buFont typeface="+mj-lt"/>
              <a:buAutoNum type="arabicPeriod"/>
            </a:pPr>
            <a:r>
              <a:rPr lang="en-IN" sz="1600">
                <a:solidFill>
                  <a:schemeClr val="dk1"/>
                </a:solidFill>
                <a:latin typeface="Rockwell" panose="02060603020205020403" pitchFamily="18" charset="0"/>
                <a:ea typeface="Karla Medium"/>
                <a:cs typeface="Karla Medium"/>
                <a:sym typeface="Karla Medium"/>
              </a:rPr>
              <a:t>Compartment</a:t>
            </a:r>
          </a:p>
          <a:p>
            <a:pPr marL="546095" indent="-342900">
              <a:lnSpc>
                <a:spcPct val="100000"/>
              </a:lnSpc>
              <a:spcBef>
                <a:spcPts val="1600"/>
              </a:spcBef>
              <a:buClr>
                <a:schemeClr val="dk1"/>
              </a:buClr>
              <a:buSzPts val="1200"/>
              <a:buFont typeface="+mj-lt"/>
              <a:buAutoNum type="arabicPeriod"/>
            </a:pPr>
            <a:r>
              <a:rPr lang="en-IN" sz="1600">
                <a:solidFill>
                  <a:schemeClr val="dk1"/>
                </a:solidFill>
                <a:latin typeface="Rockwell" panose="02060603020205020403" pitchFamily="18" charset="0"/>
                <a:ea typeface="Karla Medium"/>
                <a:cs typeface="Karla Medium"/>
                <a:sym typeface="Karla Medium"/>
              </a:rPr>
              <a:t>Security Zone </a:t>
            </a:r>
          </a:p>
          <a:p>
            <a:pPr marL="609585" indent="-406390">
              <a:lnSpc>
                <a:spcPct val="100000"/>
              </a:lnSpc>
              <a:spcBef>
                <a:spcPts val="1600"/>
              </a:spcBef>
              <a:buClr>
                <a:schemeClr val="dk1"/>
              </a:buClr>
              <a:buSzPts val="1200"/>
              <a:buFont typeface="+mj-lt"/>
              <a:buAutoNum type="arabicPeriod"/>
            </a:pPr>
            <a:r>
              <a:rPr lang="en-IN" sz="1600">
                <a:solidFill>
                  <a:schemeClr val="dk1"/>
                </a:solidFill>
                <a:latin typeface="Rockwell" panose="02060603020205020403" pitchFamily="18" charset="0"/>
                <a:ea typeface="Karla Medium"/>
                <a:cs typeface="Karla Medium"/>
                <a:sym typeface="Karla Medium"/>
              </a:rPr>
              <a:t>IAM</a:t>
            </a:r>
          </a:p>
          <a:p>
            <a:pPr marL="609585" indent="-406390">
              <a:lnSpc>
                <a:spcPct val="100000"/>
              </a:lnSpc>
              <a:spcBef>
                <a:spcPts val="1600"/>
              </a:spcBef>
              <a:buClr>
                <a:schemeClr val="dk1"/>
              </a:buClr>
              <a:buSzPts val="1200"/>
              <a:buFont typeface="+mj-lt"/>
              <a:buAutoNum type="arabicPeriod"/>
            </a:pPr>
            <a:r>
              <a:rPr lang="en-IN" sz="1600">
                <a:solidFill>
                  <a:schemeClr val="dk1"/>
                </a:solidFill>
                <a:latin typeface="Rockwell" panose="02060603020205020403" pitchFamily="18" charset="0"/>
                <a:ea typeface="Karla Medium"/>
                <a:cs typeface="Karla Medium"/>
                <a:sym typeface="Karla Medium"/>
              </a:rPr>
              <a:t>Cloud Guard</a:t>
            </a:r>
          </a:p>
          <a:p>
            <a:pPr marL="609585" indent="-406390">
              <a:lnSpc>
                <a:spcPct val="100000"/>
              </a:lnSpc>
              <a:spcBef>
                <a:spcPts val="1600"/>
              </a:spcBef>
              <a:buClr>
                <a:schemeClr val="dk1"/>
              </a:buClr>
              <a:buSzPts val="1200"/>
              <a:buFont typeface="+mj-lt"/>
              <a:buAutoNum type="arabicPeriod"/>
            </a:pPr>
            <a:r>
              <a:rPr lang="en-IN" sz="1600">
                <a:solidFill>
                  <a:schemeClr val="dk1"/>
                </a:solidFill>
                <a:latin typeface="Rockwell" panose="02060603020205020403" pitchFamily="18" charset="0"/>
                <a:ea typeface="Karla Medium"/>
                <a:cs typeface="Karla Medium"/>
                <a:sym typeface="Karla Medium"/>
              </a:rPr>
              <a:t>Auditing &amp; Monitoring - Log Analytics</a:t>
            </a:r>
          </a:p>
          <a:p>
            <a:pPr marL="609585" indent="-406390">
              <a:lnSpc>
                <a:spcPct val="100000"/>
              </a:lnSpc>
              <a:spcBef>
                <a:spcPts val="1600"/>
              </a:spcBef>
              <a:buClr>
                <a:schemeClr val="dk1"/>
              </a:buClr>
              <a:buSzPts val="1200"/>
              <a:buFont typeface="+mj-lt"/>
              <a:buAutoNum type="arabicPeriod"/>
            </a:pPr>
            <a:r>
              <a:rPr lang="en-IN" sz="1600">
                <a:solidFill>
                  <a:schemeClr val="dk1"/>
                </a:solidFill>
                <a:latin typeface="Rockwell" panose="02060603020205020403" pitchFamily="18" charset="0"/>
                <a:ea typeface="Karla Medium"/>
                <a:cs typeface="Karla Medium"/>
                <a:sym typeface="Karla Medium"/>
              </a:rPr>
              <a:t>Key Vault</a:t>
            </a:r>
          </a:p>
          <a:p>
            <a:pPr marL="203195" indent="0">
              <a:lnSpc>
                <a:spcPct val="100000"/>
              </a:lnSpc>
              <a:spcBef>
                <a:spcPts val="1600"/>
              </a:spcBef>
              <a:buClr>
                <a:schemeClr val="dk1"/>
              </a:buClr>
              <a:buSzPts val="1200"/>
              <a:buNone/>
            </a:pPr>
            <a:endParaRPr sz="1600">
              <a:solidFill>
                <a:schemeClr val="dk1"/>
              </a:solidFill>
              <a:latin typeface="Rockwell" panose="02060603020205020403" pitchFamily="18" charset="0"/>
              <a:ea typeface="Karla Medium"/>
              <a:cs typeface="Karla Medium"/>
              <a:sym typeface="Karla Medium"/>
            </a:endParaRPr>
          </a:p>
        </p:txBody>
      </p:sp>
      <p:sp>
        <p:nvSpPr>
          <p:cNvPr id="63" name="Google Shape;63;p14"/>
          <p:cNvSpPr txBox="1"/>
          <p:nvPr/>
        </p:nvSpPr>
        <p:spPr>
          <a:xfrm>
            <a:off x="296442" y="838885"/>
            <a:ext cx="10771279" cy="882381"/>
          </a:xfrm>
          <a:prstGeom prst="rect">
            <a:avLst/>
          </a:prstGeom>
          <a:noFill/>
          <a:ln>
            <a:noFill/>
          </a:ln>
        </p:spPr>
        <p:txBody>
          <a:bodyPr spcFirstLastPara="1" wrap="square" lIns="121900" tIns="121900" rIns="121900" bIns="121900" anchor="t" anchorCtr="0">
            <a:spAutoFit/>
          </a:bodyPr>
          <a:lstStyle/>
          <a:p>
            <a:pPr>
              <a:lnSpc>
                <a:spcPct val="150000"/>
              </a:lnSpc>
              <a:spcAft>
                <a:spcPts val="1600"/>
              </a:spcAft>
              <a:buClr>
                <a:schemeClr val="dk1"/>
              </a:buClr>
              <a:buSzPts val="1100"/>
            </a:pPr>
            <a:r>
              <a:rPr lang="en" sz="1867">
                <a:solidFill>
                  <a:schemeClr val="dk1"/>
                </a:solidFill>
                <a:latin typeface="Rockwell" panose="02060603020205020403" pitchFamily="18" charset="0"/>
                <a:ea typeface="Karla Medium"/>
                <a:cs typeface="Karla Medium"/>
                <a:sym typeface="Karla Medium"/>
              </a:rPr>
              <a:t>OCI Security services needs to be enabled as part of Oracle Cloud enablement as below:</a:t>
            </a:r>
            <a:endParaRPr sz="1867">
              <a:latin typeface="Rockwell" panose="02060603020205020403" pitchFamily="18" charset="0"/>
              <a:ea typeface="Karla Medium"/>
              <a:cs typeface="Karla Medium"/>
              <a:sym typeface="Karla Medium"/>
            </a:endParaRPr>
          </a:p>
        </p:txBody>
      </p:sp>
      <p:sp>
        <p:nvSpPr>
          <p:cNvPr id="3" name="Google Shape;68;p15">
            <a:extLst>
              <a:ext uri="{FF2B5EF4-FFF2-40B4-BE49-F238E27FC236}">
                <a16:creationId xmlns:a16="http://schemas.microsoft.com/office/drawing/2014/main" id="{B8E0DB33-C586-281A-3AA4-C87B315C894C}"/>
              </a:ext>
            </a:extLst>
          </p:cNvPr>
          <p:cNvSpPr txBox="1">
            <a:spLocks/>
          </p:cNvSpPr>
          <p:nvPr/>
        </p:nvSpPr>
        <p:spPr>
          <a:xfrm>
            <a:off x="160553" y="281449"/>
            <a:ext cx="9643763" cy="588965"/>
          </a:xfrm>
          <a:prstGeom prst="rect">
            <a:avLst/>
          </a:prstGeom>
          <a:noFill/>
        </p:spPr>
        <p:txBody>
          <a:bodyPr spcFirstLastPara="1" wrap="square" lIns="121900" tIns="121900" rIns="121900" bIns="121900" anchor="t" anchorCtr="0">
            <a:normAutofit fontScale="900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 sz="3600" dirty="0">
                <a:latin typeface="Rockwell" pitchFamily="18" charset="0"/>
                <a:ea typeface="Karla"/>
                <a:cs typeface="Karla"/>
                <a:sym typeface="Karla"/>
              </a:rPr>
              <a:t> OCI - Security Services</a:t>
            </a:r>
            <a:endParaRPr lang="en-US" sz="3533" dirty="0">
              <a:highlight>
                <a:srgbClr val="FFFFFF"/>
              </a:highlight>
              <a:latin typeface="Rockwell" pitchFamily="18" charset="0"/>
              <a:ea typeface="Karla"/>
              <a:cs typeface="Karla"/>
              <a:sym typeface="Karla"/>
            </a:endParaRPr>
          </a:p>
          <a:p>
            <a:pPr>
              <a:spcBef>
                <a:spcPts val="0"/>
              </a:spcBef>
            </a:pPr>
            <a:endParaRPr lang="en-US" sz="3200" dirty="0">
              <a:latin typeface="Rockwell" panose="02060603020205020403" pitchFamily="18" charset="0"/>
              <a:ea typeface="Karla"/>
              <a:cs typeface="Karla"/>
              <a:sym typeface="Karla"/>
            </a:endParaRPr>
          </a:p>
        </p:txBody>
      </p:sp>
      <p:grpSp>
        <p:nvGrpSpPr>
          <p:cNvPr id="80" name="Group 79">
            <a:extLst>
              <a:ext uri="{FF2B5EF4-FFF2-40B4-BE49-F238E27FC236}">
                <a16:creationId xmlns:a16="http://schemas.microsoft.com/office/drawing/2014/main" id="{558DE50E-E940-FF54-31AC-55B4B3EEBD23}"/>
              </a:ext>
            </a:extLst>
          </p:cNvPr>
          <p:cNvGrpSpPr/>
          <p:nvPr/>
        </p:nvGrpSpPr>
        <p:grpSpPr>
          <a:xfrm>
            <a:off x="5052289" y="1746355"/>
            <a:ext cx="6537037" cy="3913818"/>
            <a:chOff x="4747490" y="2108820"/>
            <a:chExt cx="6537037" cy="3913818"/>
          </a:xfrm>
        </p:grpSpPr>
        <p:grpSp>
          <p:nvGrpSpPr>
            <p:cNvPr id="73" name="Group 72">
              <a:extLst>
                <a:ext uri="{FF2B5EF4-FFF2-40B4-BE49-F238E27FC236}">
                  <a16:creationId xmlns:a16="http://schemas.microsoft.com/office/drawing/2014/main" id="{13070BB6-56D7-52A8-1775-E5672D991163}"/>
                </a:ext>
              </a:extLst>
            </p:cNvPr>
            <p:cNvGrpSpPr/>
            <p:nvPr/>
          </p:nvGrpSpPr>
          <p:grpSpPr>
            <a:xfrm>
              <a:off x="4747490" y="2108820"/>
              <a:ext cx="6537037" cy="3913818"/>
              <a:chOff x="4842163" y="2101166"/>
              <a:chExt cx="7003967" cy="4126491"/>
            </a:xfrm>
          </p:grpSpPr>
          <p:sp>
            <p:nvSpPr>
              <p:cNvPr id="2" name="Rectangle 1">
                <a:extLst>
                  <a:ext uri="{FF2B5EF4-FFF2-40B4-BE49-F238E27FC236}">
                    <a16:creationId xmlns:a16="http://schemas.microsoft.com/office/drawing/2014/main" id="{8419EAD0-C624-6BF7-C956-E5113A7E9981}"/>
                  </a:ext>
                </a:extLst>
              </p:cNvPr>
              <p:cNvSpPr/>
              <p:nvPr/>
            </p:nvSpPr>
            <p:spPr>
              <a:xfrm>
                <a:off x="4842163" y="2153921"/>
                <a:ext cx="7003967" cy="40737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400F331A-0797-E61D-9F0A-8DBF091FB9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6732" y="2350064"/>
                <a:ext cx="263828" cy="325905"/>
              </a:xfrm>
              <a:prstGeom prst="rect">
                <a:avLst/>
              </a:prstGeom>
            </p:spPr>
          </p:pic>
          <p:pic>
            <p:nvPicPr>
              <p:cNvPr id="7" name="Picture 6">
                <a:extLst>
                  <a:ext uri="{FF2B5EF4-FFF2-40B4-BE49-F238E27FC236}">
                    <a16:creationId xmlns:a16="http://schemas.microsoft.com/office/drawing/2014/main" id="{C0874FE5-8A8E-28A5-7726-479CFC67CB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06830" y="2294046"/>
                <a:ext cx="495929" cy="444270"/>
              </a:xfrm>
              <a:prstGeom prst="rect">
                <a:avLst/>
              </a:prstGeom>
            </p:spPr>
          </p:pic>
          <p:pic>
            <p:nvPicPr>
              <p:cNvPr id="9" name="Picture 8">
                <a:extLst>
                  <a:ext uri="{FF2B5EF4-FFF2-40B4-BE49-F238E27FC236}">
                    <a16:creationId xmlns:a16="http://schemas.microsoft.com/office/drawing/2014/main" id="{35693B70-3138-52B2-C7CA-E71D40B122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77330" y="2292310"/>
                <a:ext cx="386713" cy="386713"/>
              </a:xfrm>
              <a:prstGeom prst="rect">
                <a:avLst/>
              </a:prstGeom>
            </p:spPr>
          </p:pic>
          <p:pic>
            <p:nvPicPr>
              <p:cNvPr id="11" name="Picture 10">
                <a:extLst>
                  <a:ext uri="{FF2B5EF4-FFF2-40B4-BE49-F238E27FC236}">
                    <a16:creationId xmlns:a16="http://schemas.microsoft.com/office/drawing/2014/main" id="{D5059F92-87CE-F638-476A-0719BEF58B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32026" y="2271529"/>
                <a:ext cx="386712" cy="386712"/>
              </a:xfrm>
              <a:prstGeom prst="rect">
                <a:avLst/>
              </a:prstGeom>
            </p:spPr>
          </p:pic>
          <p:sp>
            <p:nvSpPr>
              <p:cNvPr id="21" name="Rectangle 20">
                <a:extLst>
                  <a:ext uri="{FF2B5EF4-FFF2-40B4-BE49-F238E27FC236}">
                    <a16:creationId xmlns:a16="http://schemas.microsoft.com/office/drawing/2014/main" id="{87DA5584-4B29-00BA-E6E0-307675106073}"/>
                  </a:ext>
                </a:extLst>
              </p:cNvPr>
              <p:cNvSpPr/>
              <p:nvPr/>
            </p:nvSpPr>
            <p:spPr>
              <a:xfrm>
                <a:off x="5860815" y="2912553"/>
                <a:ext cx="4686159" cy="2938550"/>
              </a:xfrm>
              <a:prstGeom prst="rect">
                <a:avLst/>
              </a:prstGeom>
              <a:solidFill>
                <a:srgbClr val="FEFCF4"/>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735E8FA3-E1AC-FBDD-D4F3-8648C99EF4AA}"/>
                  </a:ext>
                </a:extLst>
              </p:cNvPr>
              <p:cNvSpPr/>
              <p:nvPr/>
            </p:nvSpPr>
            <p:spPr>
              <a:xfrm>
                <a:off x="10565560" y="2888672"/>
                <a:ext cx="1188026" cy="2938551"/>
              </a:xfrm>
              <a:prstGeom prst="rect">
                <a:avLst/>
              </a:prstGeom>
              <a:solidFill>
                <a:srgbClr val="FEFCF4"/>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3A07B13-D0AD-83C0-9A75-74EFDBA40508}"/>
                  </a:ext>
                </a:extLst>
              </p:cNvPr>
              <p:cNvSpPr txBox="1"/>
              <p:nvPr/>
            </p:nvSpPr>
            <p:spPr>
              <a:xfrm>
                <a:off x="6539824" y="2228548"/>
                <a:ext cx="1394052" cy="400110"/>
              </a:xfrm>
              <a:prstGeom prst="rect">
                <a:avLst/>
              </a:prstGeom>
              <a:noFill/>
            </p:spPr>
            <p:txBody>
              <a:bodyPr wrap="square" rtlCol="0">
                <a:spAutoFit/>
              </a:bodyPr>
              <a:lstStyle/>
              <a:p>
                <a:r>
                  <a:rPr lang="en-IN" sz="1000" b="1"/>
                  <a:t>Cloud Guard Vulnerability Scanning</a:t>
                </a:r>
              </a:p>
            </p:txBody>
          </p:sp>
          <p:sp>
            <p:nvSpPr>
              <p:cNvPr id="24" name="TextBox 23">
                <a:extLst>
                  <a:ext uri="{FF2B5EF4-FFF2-40B4-BE49-F238E27FC236}">
                    <a16:creationId xmlns:a16="http://schemas.microsoft.com/office/drawing/2014/main" id="{E953B3DD-78DE-3C8D-6FAB-9E10CE5769EE}"/>
                  </a:ext>
                </a:extLst>
              </p:cNvPr>
              <p:cNvSpPr txBox="1"/>
              <p:nvPr/>
            </p:nvSpPr>
            <p:spPr>
              <a:xfrm>
                <a:off x="8568423" y="2101166"/>
                <a:ext cx="679612" cy="250612"/>
              </a:xfrm>
              <a:prstGeom prst="rect">
                <a:avLst/>
              </a:prstGeom>
              <a:noFill/>
            </p:spPr>
            <p:txBody>
              <a:bodyPr wrap="square" rtlCol="0">
                <a:spAutoFit/>
              </a:bodyPr>
              <a:lstStyle/>
              <a:p>
                <a:r>
                  <a:rPr lang="en-IN" sz="1000" b="1"/>
                  <a:t>Auditing</a:t>
                </a:r>
              </a:p>
            </p:txBody>
          </p:sp>
          <p:sp>
            <p:nvSpPr>
              <p:cNvPr id="25" name="TextBox 24">
                <a:extLst>
                  <a:ext uri="{FF2B5EF4-FFF2-40B4-BE49-F238E27FC236}">
                    <a16:creationId xmlns:a16="http://schemas.microsoft.com/office/drawing/2014/main" id="{FDF56712-B212-8BA9-9A4D-50977BB92C2D}"/>
                  </a:ext>
                </a:extLst>
              </p:cNvPr>
              <p:cNvSpPr txBox="1"/>
              <p:nvPr/>
            </p:nvSpPr>
            <p:spPr>
              <a:xfrm>
                <a:off x="9244365" y="2107645"/>
                <a:ext cx="837778" cy="246221"/>
              </a:xfrm>
              <a:prstGeom prst="rect">
                <a:avLst/>
              </a:prstGeom>
              <a:noFill/>
            </p:spPr>
            <p:txBody>
              <a:bodyPr wrap="square" rtlCol="0">
                <a:spAutoFit/>
              </a:bodyPr>
              <a:lstStyle/>
              <a:p>
                <a:r>
                  <a:rPr lang="en-IN" sz="1000" b="1"/>
                  <a:t>Monitoring</a:t>
                </a:r>
              </a:p>
            </p:txBody>
          </p:sp>
          <p:pic>
            <p:nvPicPr>
              <p:cNvPr id="27" name="Picture 26">
                <a:extLst>
                  <a:ext uri="{FF2B5EF4-FFF2-40B4-BE49-F238E27FC236}">
                    <a16:creationId xmlns:a16="http://schemas.microsoft.com/office/drawing/2014/main" id="{2864119E-AF97-D281-403F-C8BA840CC8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59539" y="5786915"/>
                <a:ext cx="447890" cy="427984"/>
              </a:xfrm>
              <a:prstGeom prst="rect">
                <a:avLst/>
              </a:prstGeom>
            </p:spPr>
          </p:pic>
          <p:pic>
            <p:nvPicPr>
              <p:cNvPr id="28" name="Picture 27">
                <a:extLst>
                  <a:ext uri="{FF2B5EF4-FFF2-40B4-BE49-F238E27FC236}">
                    <a16:creationId xmlns:a16="http://schemas.microsoft.com/office/drawing/2014/main" id="{23832ADC-AC08-1CF4-C960-C80ADE9662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2984" y="4212802"/>
                <a:ext cx="263829" cy="325905"/>
              </a:xfrm>
              <a:prstGeom prst="rect">
                <a:avLst/>
              </a:prstGeom>
            </p:spPr>
          </p:pic>
          <p:sp>
            <p:nvSpPr>
              <p:cNvPr id="29" name="TextBox 28">
                <a:extLst>
                  <a:ext uri="{FF2B5EF4-FFF2-40B4-BE49-F238E27FC236}">
                    <a16:creationId xmlns:a16="http://schemas.microsoft.com/office/drawing/2014/main" id="{F390ADFD-A368-5411-E229-B9C9A96D781D}"/>
                  </a:ext>
                </a:extLst>
              </p:cNvPr>
              <p:cNvSpPr txBox="1"/>
              <p:nvPr/>
            </p:nvSpPr>
            <p:spPr>
              <a:xfrm>
                <a:off x="7902026" y="2888672"/>
                <a:ext cx="679612" cy="250612"/>
              </a:xfrm>
              <a:prstGeom prst="rect">
                <a:avLst/>
              </a:prstGeom>
              <a:noFill/>
            </p:spPr>
            <p:txBody>
              <a:bodyPr wrap="square" rtlCol="0">
                <a:spAutoFit/>
              </a:bodyPr>
              <a:lstStyle/>
              <a:p>
                <a:r>
                  <a:rPr lang="en-IN" sz="1000" b="1"/>
                  <a:t>Region</a:t>
                </a:r>
              </a:p>
            </p:txBody>
          </p:sp>
          <p:sp>
            <p:nvSpPr>
              <p:cNvPr id="30" name="TextBox 29">
                <a:extLst>
                  <a:ext uri="{FF2B5EF4-FFF2-40B4-BE49-F238E27FC236}">
                    <a16:creationId xmlns:a16="http://schemas.microsoft.com/office/drawing/2014/main" id="{56120756-C95B-4467-D3F5-FF818271D590}"/>
                  </a:ext>
                </a:extLst>
              </p:cNvPr>
              <p:cNvSpPr txBox="1"/>
              <p:nvPr/>
            </p:nvSpPr>
            <p:spPr>
              <a:xfrm>
                <a:off x="10889807" y="2888672"/>
                <a:ext cx="679612" cy="250612"/>
              </a:xfrm>
              <a:prstGeom prst="rect">
                <a:avLst/>
              </a:prstGeom>
              <a:noFill/>
            </p:spPr>
            <p:txBody>
              <a:bodyPr wrap="square" rtlCol="0">
                <a:spAutoFit/>
              </a:bodyPr>
              <a:lstStyle/>
              <a:p>
                <a:r>
                  <a:rPr lang="en-IN" sz="1000" b="1"/>
                  <a:t>Region</a:t>
                </a:r>
              </a:p>
            </p:txBody>
          </p:sp>
          <p:sp>
            <p:nvSpPr>
              <p:cNvPr id="31" name="Rectangle 30">
                <a:extLst>
                  <a:ext uri="{FF2B5EF4-FFF2-40B4-BE49-F238E27FC236}">
                    <a16:creationId xmlns:a16="http://schemas.microsoft.com/office/drawing/2014/main" id="{E4C8FCA1-5A75-1940-BCEB-EFE8FA2AB1FA}"/>
                  </a:ext>
                </a:extLst>
              </p:cNvPr>
              <p:cNvSpPr/>
              <p:nvPr/>
            </p:nvSpPr>
            <p:spPr>
              <a:xfrm>
                <a:off x="6581914" y="3195134"/>
                <a:ext cx="3672773" cy="1116086"/>
              </a:xfrm>
              <a:prstGeom prst="rect">
                <a:avLst/>
              </a:prstGeom>
              <a:solidFill>
                <a:schemeClr val="bg1"/>
              </a:solidFill>
              <a:ln>
                <a:solidFill>
                  <a:srgbClr val="FF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A9BE66D6-E290-00AB-BBD7-FEEBDA1297C8}"/>
                  </a:ext>
                </a:extLst>
              </p:cNvPr>
              <p:cNvSpPr/>
              <p:nvPr/>
            </p:nvSpPr>
            <p:spPr>
              <a:xfrm>
                <a:off x="6429076" y="4494319"/>
                <a:ext cx="5194989" cy="1211341"/>
              </a:xfrm>
              <a:prstGeom prst="rect">
                <a:avLst/>
              </a:prstGeom>
              <a:solidFill>
                <a:srgbClr val="FCF8EA"/>
              </a:solid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968DF5D8-AC00-918A-1684-09D0178D40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31803" y="3053235"/>
                <a:ext cx="371377" cy="362936"/>
              </a:xfrm>
              <a:prstGeom prst="rect">
                <a:avLst/>
              </a:prstGeom>
            </p:spPr>
          </p:pic>
          <p:sp>
            <p:nvSpPr>
              <p:cNvPr id="33" name="TextBox 32">
                <a:extLst>
                  <a:ext uri="{FF2B5EF4-FFF2-40B4-BE49-F238E27FC236}">
                    <a16:creationId xmlns:a16="http://schemas.microsoft.com/office/drawing/2014/main" id="{59204AE0-BC7E-0F95-7EDA-4F07273001FF}"/>
                  </a:ext>
                </a:extLst>
              </p:cNvPr>
              <p:cNvSpPr txBox="1"/>
              <p:nvPr/>
            </p:nvSpPr>
            <p:spPr>
              <a:xfrm>
                <a:off x="6581914" y="3215805"/>
                <a:ext cx="517692" cy="246221"/>
              </a:xfrm>
              <a:prstGeom prst="rect">
                <a:avLst/>
              </a:prstGeom>
              <a:noFill/>
            </p:spPr>
            <p:txBody>
              <a:bodyPr wrap="square" rtlCol="0">
                <a:spAutoFit/>
              </a:bodyPr>
              <a:lstStyle/>
              <a:p>
                <a:r>
                  <a:rPr lang="en-IN" sz="1000" b="1">
                    <a:solidFill>
                      <a:schemeClr val="tx1">
                        <a:lumMod val="95000"/>
                        <a:lumOff val="5000"/>
                      </a:schemeClr>
                    </a:solidFill>
                  </a:rPr>
                  <a:t>VCN</a:t>
                </a:r>
              </a:p>
            </p:txBody>
          </p:sp>
          <p:sp>
            <p:nvSpPr>
              <p:cNvPr id="34" name="Rectangle 33">
                <a:extLst>
                  <a:ext uri="{FF2B5EF4-FFF2-40B4-BE49-F238E27FC236}">
                    <a16:creationId xmlns:a16="http://schemas.microsoft.com/office/drawing/2014/main" id="{11C4EB0F-F343-A249-CFAE-90A8EC4500BA}"/>
                  </a:ext>
                </a:extLst>
              </p:cNvPr>
              <p:cNvSpPr/>
              <p:nvPr/>
            </p:nvSpPr>
            <p:spPr>
              <a:xfrm>
                <a:off x="6699996" y="4648092"/>
                <a:ext cx="3543899" cy="946517"/>
              </a:xfrm>
              <a:prstGeom prst="rect">
                <a:avLst/>
              </a:prstGeom>
              <a:solidFill>
                <a:schemeClr val="bg1"/>
              </a:solidFill>
              <a:ln>
                <a:solidFill>
                  <a:srgbClr val="FF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5" name="Picture 34">
                <a:extLst>
                  <a:ext uri="{FF2B5EF4-FFF2-40B4-BE49-F238E27FC236}">
                    <a16:creationId xmlns:a16="http://schemas.microsoft.com/office/drawing/2014/main" id="{9CD00AEB-CA3A-B0E2-6200-6CE470F83D9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21012" y="4533228"/>
                <a:ext cx="371377" cy="362936"/>
              </a:xfrm>
              <a:prstGeom prst="rect">
                <a:avLst/>
              </a:prstGeom>
            </p:spPr>
          </p:pic>
          <p:sp>
            <p:nvSpPr>
              <p:cNvPr id="36" name="TextBox 35">
                <a:extLst>
                  <a:ext uri="{FF2B5EF4-FFF2-40B4-BE49-F238E27FC236}">
                    <a16:creationId xmlns:a16="http://schemas.microsoft.com/office/drawing/2014/main" id="{86E22B32-8BF8-65F8-E774-86FAA0520E6A}"/>
                  </a:ext>
                </a:extLst>
              </p:cNvPr>
              <p:cNvSpPr txBox="1"/>
              <p:nvPr/>
            </p:nvSpPr>
            <p:spPr>
              <a:xfrm>
                <a:off x="6724127" y="4636307"/>
                <a:ext cx="679612" cy="250612"/>
              </a:xfrm>
              <a:prstGeom prst="rect">
                <a:avLst/>
              </a:prstGeom>
              <a:noFill/>
            </p:spPr>
            <p:txBody>
              <a:bodyPr wrap="square" rtlCol="0">
                <a:spAutoFit/>
              </a:bodyPr>
              <a:lstStyle/>
              <a:p>
                <a:r>
                  <a:rPr lang="en-IN" sz="1000" b="1">
                    <a:solidFill>
                      <a:schemeClr val="tx1">
                        <a:lumMod val="95000"/>
                        <a:lumOff val="5000"/>
                      </a:schemeClr>
                    </a:solidFill>
                  </a:rPr>
                  <a:t>VCN</a:t>
                </a:r>
              </a:p>
            </p:txBody>
          </p:sp>
          <p:pic>
            <p:nvPicPr>
              <p:cNvPr id="14" name="Picture 13">
                <a:extLst>
                  <a:ext uri="{FF2B5EF4-FFF2-40B4-BE49-F238E27FC236}">
                    <a16:creationId xmlns:a16="http://schemas.microsoft.com/office/drawing/2014/main" id="{8C23D22F-BA25-14F8-BFF7-EABCE672423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923261" y="4695320"/>
                <a:ext cx="454661" cy="465486"/>
              </a:xfrm>
              <a:prstGeom prst="rect">
                <a:avLst/>
              </a:prstGeom>
            </p:spPr>
          </p:pic>
          <p:sp>
            <p:nvSpPr>
              <p:cNvPr id="37" name="TextBox 36">
                <a:extLst>
                  <a:ext uri="{FF2B5EF4-FFF2-40B4-BE49-F238E27FC236}">
                    <a16:creationId xmlns:a16="http://schemas.microsoft.com/office/drawing/2014/main" id="{45858F3E-F5B5-4CA4-3F6F-AEDFB3963EDF}"/>
                  </a:ext>
                </a:extLst>
              </p:cNvPr>
              <p:cNvSpPr txBox="1"/>
              <p:nvPr/>
            </p:nvSpPr>
            <p:spPr>
              <a:xfrm>
                <a:off x="10856017" y="5150801"/>
                <a:ext cx="709110" cy="400110"/>
              </a:xfrm>
              <a:prstGeom prst="rect">
                <a:avLst/>
              </a:prstGeom>
              <a:noFill/>
            </p:spPr>
            <p:txBody>
              <a:bodyPr wrap="square" rtlCol="0">
                <a:spAutoFit/>
              </a:bodyPr>
              <a:lstStyle/>
              <a:p>
                <a:r>
                  <a:rPr lang="en-IN" sz="1000" b="1"/>
                  <a:t>Security Zone </a:t>
                </a:r>
              </a:p>
            </p:txBody>
          </p:sp>
          <p:sp>
            <p:nvSpPr>
              <p:cNvPr id="38" name="Rectangle 37">
                <a:extLst>
                  <a:ext uri="{FF2B5EF4-FFF2-40B4-BE49-F238E27FC236}">
                    <a16:creationId xmlns:a16="http://schemas.microsoft.com/office/drawing/2014/main" id="{A5F8E8CD-38EE-932E-136E-45AD9D47464D}"/>
                  </a:ext>
                </a:extLst>
              </p:cNvPr>
              <p:cNvSpPr/>
              <p:nvPr/>
            </p:nvSpPr>
            <p:spPr>
              <a:xfrm>
                <a:off x="8183268" y="3448752"/>
                <a:ext cx="1825449" cy="754699"/>
              </a:xfrm>
              <a:prstGeom prst="rect">
                <a:avLst/>
              </a:prstGeom>
              <a:solidFill>
                <a:schemeClr val="bg1"/>
              </a:solidFill>
              <a:ln>
                <a:solidFill>
                  <a:srgbClr val="FF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a:extLst>
                  <a:ext uri="{FF2B5EF4-FFF2-40B4-BE49-F238E27FC236}">
                    <a16:creationId xmlns:a16="http://schemas.microsoft.com/office/drawing/2014/main" id="{5E5644AF-28CC-3ECB-1013-D3CC00E8D001}"/>
                  </a:ext>
                </a:extLst>
              </p:cNvPr>
              <p:cNvSpPr/>
              <p:nvPr/>
            </p:nvSpPr>
            <p:spPr>
              <a:xfrm>
                <a:off x="8149213" y="4761613"/>
                <a:ext cx="1825449" cy="765538"/>
              </a:xfrm>
              <a:prstGeom prst="rect">
                <a:avLst/>
              </a:prstGeom>
              <a:solidFill>
                <a:schemeClr val="bg1"/>
              </a:solidFill>
              <a:ln>
                <a:solidFill>
                  <a:srgbClr val="FF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Picture 40">
                <a:extLst>
                  <a:ext uri="{FF2B5EF4-FFF2-40B4-BE49-F238E27FC236}">
                    <a16:creationId xmlns:a16="http://schemas.microsoft.com/office/drawing/2014/main" id="{CCE2AD5E-A573-26C4-F615-9AB95652FF1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903724" y="3418413"/>
                <a:ext cx="185689" cy="185689"/>
              </a:xfrm>
              <a:prstGeom prst="rect">
                <a:avLst/>
              </a:prstGeom>
            </p:spPr>
          </p:pic>
          <p:pic>
            <p:nvPicPr>
              <p:cNvPr id="43" name="Picture 42">
                <a:extLst>
                  <a:ext uri="{FF2B5EF4-FFF2-40B4-BE49-F238E27FC236}">
                    <a16:creationId xmlns:a16="http://schemas.microsoft.com/office/drawing/2014/main" id="{B9560780-1161-7991-AE3C-7ECEE3769F5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920030" y="4008534"/>
                <a:ext cx="190072" cy="247671"/>
              </a:xfrm>
              <a:prstGeom prst="rect">
                <a:avLst/>
              </a:prstGeom>
            </p:spPr>
          </p:pic>
          <p:pic>
            <p:nvPicPr>
              <p:cNvPr id="44" name="Picture 43">
                <a:extLst>
                  <a:ext uri="{FF2B5EF4-FFF2-40B4-BE49-F238E27FC236}">
                    <a16:creationId xmlns:a16="http://schemas.microsoft.com/office/drawing/2014/main" id="{2949311F-B9A0-D50E-C132-330ACEB6649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814304" y="4725575"/>
                <a:ext cx="185689" cy="185689"/>
              </a:xfrm>
              <a:prstGeom prst="rect">
                <a:avLst/>
              </a:prstGeom>
            </p:spPr>
          </p:pic>
          <p:pic>
            <p:nvPicPr>
              <p:cNvPr id="45" name="Picture 44">
                <a:extLst>
                  <a:ext uri="{FF2B5EF4-FFF2-40B4-BE49-F238E27FC236}">
                    <a16:creationId xmlns:a16="http://schemas.microsoft.com/office/drawing/2014/main" id="{050AA245-728D-38BD-1766-1E0960476F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857791" y="5290114"/>
                <a:ext cx="190072" cy="247671"/>
              </a:xfrm>
              <a:prstGeom prst="rect">
                <a:avLst/>
              </a:prstGeom>
            </p:spPr>
          </p:pic>
          <p:pic>
            <p:nvPicPr>
              <p:cNvPr id="16" name="Picture 15">
                <a:extLst>
                  <a:ext uri="{FF2B5EF4-FFF2-40B4-BE49-F238E27FC236}">
                    <a16:creationId xmlns:a16="http://schemas.microsoft.com/office/drawing/2014/main" id="{8FE2927B-A869-FDE3-2C9D-396FE19D8B2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502798" y="3625237"/>
                <a:ext cx="445602" cy="445602"/>
              </a:xfrm>
              <a:prstGeom prst="rect">
                <a:avLst/>
              </a:prstGeom>
            </p:spPr>
          </p:pic>
          <p:pic>
            <p:nvPicPr>
              <p:cNvPr id="18" name="Picture 17">
                <a:extLst>
                  <a:ext uri="{FF2B5EF4-FFF2-40B4-BE49-F238E27FC236}">
                    <a16:creationId xmlns:a16="http://schemas.microsoft.com/office/drawing/2014/main" id="{236D0DD4-4AE2-2BCF-AEC8-0DAF2E29C1E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160267" y="3589751"/>
                <a:ext cx="540685" cy="494175"/>
              </a:xfrm>
              <a:prstGeom prst="rect">
                <a:avLst/>
              </a:prstGeom>
            </p:spPr>
          </p:pic>
          <p:pic>
            <p:nvPicPr>
              <p:cNvPr id="46" name="Picture 45">
                <a:extLst>
                  <a:ext uri="{FF2B5EF4-FFF2-40B4-BE49-F238E27FC236}">
                    <a16:creationId xmlns:a16="http://schemas.microsoft.com/office/drawing/2014/main" id="{1124ABF4-FB1D-D59D-E422-5684A0181CC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479058" y="4916335"/>
                <a:ext cx="445602" cy="445602"/>
              </a:xfrm>
              <a:prstGeom prst="rect">
                <a:avLst/>
              </a:prstGeom>
            </p:spPr>
          </p:pic>
          <p:pic>
            <p:nvPicPr>
              <p:cNvPr id="47" name="Picture 46">
                <a:extLst>
                  <a:ext uri="{FF2B5EF4-FFF2-40B4-BE49-F238E27FC236}">
                    <a16:creationId xmlns:a16="http://schemas.microsoft.com/office/drawing/2014/main" id="{C2569C52-BD80-C2C5-E6F7-0D9B7673866A}"/>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136528" y="4880849"/>
                <a:ext cx="540685" cy="494175"/>
              </a:xfrm>
              <a:prstGeom prst="rect">
                <a:avLst/>
              </a:prstGeom>
            </p:spPr>
          </p:pic>
          <p:pic>
            <p:nvPicPr>
              <p:cNvPr id="13" name="Picture 12">
                <a:extLst>
                  <a:ext uri="{FF2B5EF4-FFF2-40B4-BE49-F238E27FC236}">
                    <a16:creationId xmlns:a16="http://schemas.microsoft.com/office/drawing/2014/main" id="{27466E52-4248-1285-F5D3-8B77E73329E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15952" y="5219903"/>
                <a:ext cx="405928" cy="360000"/>
              </a:xfrm>
              <a:prstGeom prst="rect">
                <a:avLst/>
              </a:prstGeom>
            </p:spPr>
          </p:pic>
          <p:sp>
            <p:nvSpPr>
              <p:cNvPr id="48" name="TextBox 47">
                <a:extLst>
                  <a:ext uri="{FF2B5EF4-FFF2-40B4-BE49-F238E27FC236}">
                    <a16:creationId xmlns:a16="http://schemas.microsoft.com/office/drawing/2014/main" id="{BB845E28-CD5C-72AC-3D7B-72F4DC026599}"/>
                  </a:ext>
                </a:extLst>
              </p:cNvPr>
              <p:cNvSpPr txBox="1"/>
              <p:nvPr/>
            </p:nvSpPr>
            <p:spPr>
              <a:xfrm>
                <a:off x="5962858" y="5539700"/>
                <a:ext cx="515665" cy="246221"/>
              </a:xfrm>
              <a:prstGeom prst="rect">
                <a:avLst/>
              </a:prstGeom>
              <a:noFill/>
            </p:spPr>
            <p:txBody>
              <a:bodyPr wrap="square" rtlCol="0">
                <a:spAutoFit/>
              </a:bodyPr>
              <a:lstStyle/>
              <a:p>
                <a:r>
                  <a:rPr lang="en-IN" sz="1000" b="1"/>
                  <a:t>Vault</a:t>
                </a:r>
              </a:p>
            </p:txBody>
          </p:sp>
          <p:sp>
            <p:nvSpPr>
              <p:cNvPr id="50" name="Rectangle 49">
                <a:extLst>
                  <a:ext uri="{FF2B5EF4-FFF2-40B4-BE49-F238E27FC236}">
                    <a16:creationId xmlns:a16="http://schemas.microsoft.com/office/drawing/2014/main" id="{43FD4898-7EDB-3310-D914-95C4892EE609}"/>
                  </a:ext>
                </a:extLst>
              </p:cNvPr>
              <p:cNvSpPr/>
              <p:nvPr/>
            </p:nvSpPr>
            <p:spPr>
              <a:xfrm>
                <a:off x="7002512" y="3281509"/>
                <a:ext cx="884384" cy="722546"/>
              </a:xfrm>
              <a:prstGeom prst="rect">
                <a:avLst/>
              </a:prstGeom>
              <a:solidFill>
                <a:schemeClr val="bg1"/>
              </a:solid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 name="Picture 50">
                <a:extLst>
                  <a:ext uri="{FF2B5EF4-FFF2-40B4-BE49-F238E27FC236}">
                    <a16:creationId xmlns:a16="http://schemas.microsoft.com/office/drawing/2014/main" id="{8293BCFC-2056-B8FC-7A71-538EE3C2555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21815" y="3856399"/>
                <a:ext cx="185689" cy="185689"/>
              </a:xfrm>
              <a:prstGeom prst="rect">
                <a:avLst/>
              </a:prstGeom>
            </p:spPr>
          </p:pic>
          <p:pic>
            <p:nvPicPr>
              <p:cNvPr id="52" name="Picture 51">
                <a:extLst>
                  <a:ext uri="{FF2B5EF4-FFF2-40B4-BE49-F238E27FC236}">
                    <a16:creationId xmlns:a16="http://schemas.microsoft.com/office/drawing/2014/main" id="{E93064AC-B383-EF45-8513-FD62C6E192B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786191" y="3807575"/>
                <a:ext cx="190072" cy="247671"/>
              </a:xfrm>
              <a:prstGeom prst="rect">
                <a:avLst/>
              </a:prstGeom>
            </p:spPr>
          </p:pic>
          <p:pic>
            <p:nvPicPr>
              <p:cNvPr id="12" name="Picture 11">
                <a:extLst>
                  <a:ext uri="{FF2B5EF4-FFF2-40B4-BE49-F238E27FC236}">
                    <a16:creationId xmlns:a16="http://schemas.microsoft.com/office/drawing/2014/main" id="{8EEAAEB2-FE2A-46E3-FB16-39C8F90D11D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282734" y="3468216"/>
                <a:ext cx="325419" cy="317849"/>
              </a:xfrm>
              <a:prstGeom prst="rect">
                <a:avLst/>
              </a:prstGeom>
            </p:spPr>
          </p:pic>
          <p:sp>
            <p:nvSpPr>
              <p:cNvPr id="53" name="TextBox 52">
                <a:extLst>
                  <a:ext uri="{FF2B5EF4-FFF2-40B4-BE49-F238E27FC236}">
                    <a16:creationId xmlns:a16="http://schemas.microsoft.com/office/drawing/2014/main" id="{B6744DE5-1C85-7170-BD2D-98A9FD73D560}"/>
                  </a:ext>
                </a:extLst>
              </p:cNvPr>
              <p:cNvSpPr txBox="1"/>
              <p:nvPr/>
            </p:nvSpPr>
            <p:spPr>
              <a:xfrm>
                <a:off x="6945045" y="3245852"/>
                <a:ext cx="943311" cy="246221"/>
              </a:xfrm>
              <a:prstGeom prst="rect">
                <a:avLst/>
              </a:prstGeom>
              <a:noFill/>
            </p:spPr>
            <p:txBody>
              <a:bodyPr wrap="square" rtlCol="0">
                <a:spAutoFit/>
              </a:bodyPr>
              <a:lstStyle/>
              <a:p>
                <a:r>
                  <a:rPr lang="en-IN" sz="1000"/>
                  <a:t>Public subnet</a:t>
                </a:r>
              </a:p>
            </p:txBody>
          </p:sp>
          <p:sp>
            <p:nvSpPr>
              <p:cNvPr id="54" name="TextBox 53">
                <a:extLst>
                  <a:ext uri="{FF2B5EF4-FFF2-40B4-BE49-F238E27FC236}">
                    <a16:creationId xmlns:a16="http://schemas.microsoft.com/office/drawing/2014/main" id="{13A6F473-FFD8-92D7-523A-270EE3E5D5A8}"/>
                  </a:ext>
                </a:extLst>
              </p:cNvPr>
              <p:cNvSpPr txBox="1"/>
              <p:nvPr/>
            </p:nvSpPr>
            <p:spPr>
              <a:xfrm>
                <a:off x="8162095" y="3412362"/>
                <a:ext cx="1138053" cy="259600"/>
              </a:xfrm>
              <a:prstGeom prst="rect">
                <a:avLst/>
              </a:prstGeom>
              <a:noFill/>
            </p:spPr>
            <p:txBody>
              <a:bodyPr wrap="square" rtlCol="0">
                <a:spAutoFit/>
              </a:bodyPr>
              <a:lstStyle/>
              <a:p>
                <a:r>
                  <a:rPr lang="en-IN" sz="1000"/>
                  <a:t>Private subnet</a:t>
                </a:r>
              </a:p>
            </p:txBody>
          </p:sp>
          <p:sp>
            <p:nvSpPr>
              <p:cNvPr id="55" name="TextBox 54">
                <a:extLst>
                  <a:ext uri="{FF2B5EF4-FFF2-40B4-BE49-F238E27FC236}">
                    <a16:creationId xmlns:a16="http://schemas.microsoft.com/office/drawing/2014/main" id="{A6D8984F-4820-3302-BCA9-0E6F639054CF}"/>
                  </a:ext>
                </a:extLst>
              </p:cNvPr>
              <p:cNvSpPr txBox="1"/>
              <p:nvPr/>
            </p:nvSpPr>
            <p:spPr>
              <a:xfrm>
                <a:off x="8080611" y="4717801"/>
                <a:ext cx="1037330" cy="259600"/>
              </a:xfrm>
              <a:prstGeom prst="rect">
                <a:avLst/>
              </a:prstGeom>
              <a:noFill/>
            </p:spPr>
            <p:txBody>
              <a:bodyPr wrap="square" rtlCol="0">
                <a:spAutoFit/>
              </a:bodyPr>
              <a:lstStyle/>
              <a:p>
                <a:r>
                  <a:rPr lang="en-IN" sz="1000"/>
                  <a:t>Private subnet</a:t>
                </a:r>
              </a:p>
            </p:txBody>
          </p:sp>
          <p:sp>
            <p:nvSpPr>
              <p:cNvPr id="56" name="TextBox 55">
                <a:extLst>
                  <a:ext uri="{FF2B5EF4-FFF2-40B4-BE49-F238E27FC236}">
                    <a16:creationId xmlns:a16="http://schemas.microsoft.com/office/drawing/2014/main" id="{5888F6AF-6F93-875C-1524-3CB93DD16466}"/>
                  </a:ext>
                </a:extLst>
              </p:cNvPr>
              <p:cNvSpPr txBox="1"/>
              <p:nvPr/>
            </p:nvSpPr>
            <p:spPr>
              <a:xfrm>
                <a:off x="8499882" y="5302196"/>
                <a:ext cx="517692" cy="246221"/>
              </a:xfrm>
              <a:prstGeom prst="rect">
                <a:avLst/>
              </a:prstGeom>
              <a:noFill/>
            </p:spPr>
            <p:txBody>
              <a:bodyPr wrap="square" rtlCol="0">
                <a:spAutoFit/>
              </a:bodyPr>
              <a:lstStyle/>
              <a:p>
                <a:r>
                  <a:rPr lang="en-IN" sz="1000" b="1">
                    <a:solidFill>
                      <a:schemeClr val="tx1">
                        <a:lumMod val="95000"/>
                        <a:lumOff val="5000"/>
                      </a:schemeClr>
                    </a:solidFill>
                  </a:rPr>
                  <a:t>VM</a:t>
                </a:r>
              </a:p>
            </p:txBody>
          </p:sp>
          <p:sp>
            <p:nvSpPr>
              <p:cNvPr id="57" name="TextBox 56">
                <a:extLst>
                  <a:ext uri="{FF2B5EF4-FFF2-40B4-BE49-F238E27FC236}">
                    <a16:creationId xmlns:a16="http://schemas.microsoft.com/office/drawing/2014/main" id="{CA901167-D3B2-3D73-A803-E0765E7FCCD2}"/>
                  </a:ext>
                </a:extLst>
              </p:cNvPr>
              <p:cNvSpPr txBox="1"/>
              <p:nvPr/>
            </p:nvSpPr>
            <p:spPr>
              <a:xfrm>
                <a:off x="9238314" y="5306481"/>
                <a:ext cx="517692" cy="246221"/>
              </a:xfrm>
              <a:prstGeom prst="rect">
                <a:avLst/>
              </a:prstGeom>
              <a:noFill/>
            </p:spPr>
            <p:txBody>
              <a:bodyPr wrap="square" rtlCol="0">
                <a:spAutoFit/>
              </a:bodyPr>
              <a:lstStyle/>
              <a:p>
                <a:r>
                  <a:rPr lang="en-IN" sz="1000" b="1">
                    <a:solidFill>
                      <a:schemeClr val="tx1">
                        <a:lumMod val="95000"/>
                        <a:lumOff val="5000"/>
                      </a:schemeClr>
                    </a:solidFill>
                  </a:rPr>
                  <a:t>ATP</a:t>
                </a:r>
              </a:p>
            </p:txBody>
          </p:sp>
          <p:sp>
            <p:nvSpPr>
              <p:cNvPr id="58" name="TextBox 57">
                <a:extLst>
                  <a:ext uri="{FF2B5EF4-FFF2-40B4-BE49-F238E27FC236}">
                    <a16:creationId xmlns:a16="http://schemas.microsoft.com/office/drawing/2014/main" id="{44B9974F-9BED-F676-79F1-DA7FA8C415A7}"/>
                  </a:ext>
                </a:extLst>
              </p:cNvPr>
              <p:cNvSpPr txBox="1"/>
              <p:nvPr/>
            </p:nvSpPr>
            <p:spPr>
              <a:xfrm>
                <a:off x="9218339" y="4005824"/>
                <a:ext cx="517692" cy="246221"/>
              </a:xfrm>
              <a:prstGeom prst="rect">
                <a:avLst/>
              </a:prstGeom>
              <a:noFill/>
            </p:spPr>
            <p:txBody>
              <a:bodyPr wrap="square" rtlCol="0">
                <a:spAutoFit/>
              </a:bodyPr>
              <a:lstStyle/>
              <a:p>
                <a:r>
                  <a:rPr lang="en-IN" sz="1000" b="1">
                    <a:solidFill>
                      <a:schemeClr val="tx1">
                        <a:lumMod val="95000"/>
                        <a:lumOff val="5000"/>
                      </a:schemeClr>
                    </a:solidFill>
                  </a:rPr>
                  <a:t>ATP</a:t>
                </a:r>
              </a:p>
            </p:txBody>
          </p:sp>
          <p:sp>
            <p:nvSpPr>
              <p:cNvPr id="60" name="TextBox 59">
                <a:extLst>
                  <a:ext uri="{FF2B5EF4-FFF2-40B4-BE49-F238E27FC236}">
                    <a16:creationId xmlns:a16="http://schemas.microsoft.com/office/drawing/2014/main" id="{901651B9-BCA3-5351-55C0-C3F4D56E01BB}"/>
                  </a:ext>
                </a:extLst>
              </p:cNvPr>
              <p:cNvSpPr txBox="1"/>
              <p:nvPr/>
            </p:nvSpPr>
            <p:spPr>
              <a:xfrm>
                <a:off x="8533566" y="4002954"/>
                <a:ext cx="517692" cy="246221"/>
              </a:xfrm>
              <a:prstGeom prst="rect">
                <a:avLst/>
              </a:prstGeom>
              <a:noFill/>
            </p:spPr>
            <p:txBody>
              <a:bodyPr wrap="square" rtlCol="0">
                <a:spAutoFit/>
              </a:bodyPr>
              <a:lstStyle/>
              <a:p>
                <a:r>
                  <a:rPr lang="en-IN" sz="1000" b="1">
                    <a:solidFill>
                      <a:schemeClr val="tx1">
                        <a:lumMod val="95000"/>
                        <a:lumOff val="5000"/>
                      </a:schemeClr>
                    </a:solidFill>
                  </a:rPr>
                  <a:t>VM</a:t>
                </a:r>
              </a:p>
            </p:txBody>
          </p:sp>
          <mc:AlternateContent xmlns:mc="http://schemas.openxmlformats.org/markup-compatibility/2006" xmlns:p14="http://schemas.microsoft.com/office/powerpoint/2010/main">
            <mc:Choice Requires="p14">
              <p:contentPart p14:bwMode="auto" r:id="rId16">
                <p14:nvContentPartPr>
                  <p14:cNvPr id="82" name="Ink 81">
                    <a:extLst>
                      <a:ext uri="{FF2B5EF4-FFF2-40B4-BE49-F238E27FC236}">
                        <a16:creationId xmlns:a16="http://schemas.microsoft.com/office/drawing/2014/main" id="{FE105CC2-019E-AC2C-543A-A1FC9607E592}"/>
                      </a:ext>
                    </a:extLst>
                  </p14:cNvPr>
                  <p14:cNvContentPartPr/>
                  <p14:nvPr/>
                </p14:nvContentPartPr>
                <p14:xfrm>
                  <a:off x="5638981" y="3466264"/>
                  <a:ext cx="360" cy="360"/>
                </p14:xfrm>
              </p:contentPart>
            </mc:Choice>
            <mc:Fallback xmlns="">
              <p:pic>
                <p:nvPicPr>
                  <p:cNvPr id="82" name="Ink 81">
                    <a:extLst>
                      <a:ext uri="{FF2B5EF4-FFF2-40B4-BE49-F238E27FC236}">
                        <a16:creationId xmlns:a16="http://schemas.microsoft.com/office/drawing/2014/main" id="{FE105CC2-019E-AC2C-543A-A1FC9607E592}"/>
                      </a:ext>
                    </a:extLst>
                  </p:cNvPr>
                  <p:cNvPicPr/>
                  <p:nvPr/>
                </p:nvPicPr>
                <p:blipFill>
                  <a:blip r:embed="rId17"/>
                  <a:stretch>
                    <a:fillRect/>
                  </a:stretch>
                </p:blipFill>
                <p:spPr>
                  <a:xfrm>
                    <a:off x="5629981" y="34572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6" name="Ink 85">
                    <a:extLst>
                      <a:ext uri="{FF2B5EF4-FFF2-40B4-BE49-F238E27FC236}">
                        <a16:creationId xmlns:a16="http://schemas.microsoft.com/office/drawing/2014/main" id="{48EA136E-8AFB-9B1D-928C-83DF5EFCF6DF}"/>
                      </a:ext>
                    </a:extLst>
                  </p14:cNvPr>
                  <p14:cNvContentPartPr/>
                  <p14:nvPr/>
                </p14:nvContentPartPr>
                <p14:xfrm>
                  <a:off x="8772421" y="4093744"/>
                  <a:ext cx="360" cy="360"/>
                </p14:xfrm>
              </p:contentPart>
            </mc:Choice>
            <mc:Fallback xmlns="">
              <p:pic>
                <p:nvPicPr>
                  <p:cNvPr id="86" name="Ink 85">
                    <a:extLst>
                      <a:ext uri="{FF2B5EF4-FFF2-40B4-BE49-F238E27FC236}">
                        <a16:creationId xmlns:a16="http://schemas.microsoft.com/office/drawing/2014/main" id="{48EA136E-8AFB-9B1D-928C-83DF5EFCF6DF}"/>
                      </a:ext>
                    </a:extLst>
                  </p:cNvPr>
                  <p:cNvPicPr/>
                  <p:nvPr/>
                </p:nvPicPr>
                <p:blipFill>
                  <a:blip r:embed="rId17"/>
                  <a:stretch>
                    <a:fillRect/>
                  </a:stretch>
                </p:blipFill>
                <p:spPr>
                  <a:xfrm>
                    <a:off x="8763421" y="4084744"/>
                    <a:ext cx="18000" cy="18000"/>
                  </a:xfrm>
                  <a:prstGeom prst="rect">
                    <a:avLst/>
                  </a:prstGeom>
                </p:spPr>
              </p:pic>
            </mc:Fallback>
          </mc:AlternateContent>
          <p:cxnSp>
            <p:nvCxnSpPr>
              <p:cNvPr id="65" name="Straight Arrow Connector 64">
                <a:extLst>
                  <a:ext uri="{FF2B5EF4-FFF2-40B4-BE49-F238E27FC236}">
                    <a16:creationId xmlns:a16="http://schemas.microsoft.com/office/drawing/2014/main" id="{10D1E119-5D06-2E84-FC49-5DA7D718EDB0}"/>
                  </a:ext>
                </a:extLst>
              </p:cNvPr>
              <p:cNvCxnSpPr>
                <a:cxnSpLocks/>
                <a:stCxn id="5" idx="3"/>
                <a:endCxn id="7" idx="1"/>
              </p:cNvCxnSpPr>
              <p:nvPr/>
            </p:nvCxnSpPr>
            <p:spPr>
              <a:xfrm>
                <a:off x="5280560" y="2513017"/>
                <a:ext cx="826270" cy="31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B964BAA-E1C5-4E15-1247-991D5376A14D}"/>
                  </a:ext>
                </a:extLst>
              </p:cNvPr>
              <p:cNvCxnSpPr>
                <a:cxnSpLocks/>
                <a:stCxn id="9" idx="2"/>
              </p:cNvCxnSpPr>
              <p:nvPr/>
            </p:nvCxnSpPr>
            <p:spPr>
              <a:xfrm>
                <a:off x="8870687" y="2679023"/>
                <a:ext cx="0" cy="2335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2B6FCF8-41F2-4608-CBBD-1E9029B721AE}"/>
                  </a:ext>
                </a:extLst>
              </p:cNvPr>
              <p:cNvCxnSpPr>
                <a:cxnSpLocks/>
              </p:cNvCxnSpPr>
              <p:nvPr/>
            </p:nvCxnSpPr>
            <p:spPr>
              <a:xfrm>
                <a:off x="9635081" y="2679023"/>
                <a:ext cx="0" cy="2335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A0CF71A2-6142-53BA-660D-21AD74D1F510}"/>
                  </a:ext>
                </a:extLst>
              </p:cNvPr>
              <p:cNvSpPr txBox="1"/>
              <p:nvPr/>
            </p:nvSpPr>
            <p:spPr>
              <a:xfrm>
                <a:off x="5353761" y="5838255"/>
                <a:ext cx="2212699" cy="389401"/>
              </a:xfrm>
              <a:prstGeom prst="rect">
                <a:avLst/>
              </a:prstGeom>
              <a:noFill/>
            </p:spPr>
            <p:txBody>
              <a:bodyPr wrap="square" rtlCol="0">
                <a:spAutoFit/>
              </a:bodyPr>
              <a:lstStyle/>
              <a:p>
                <a:r>
                  <a:rPr lang="en-IN" sz="900" b="1" dirty="0"/>
                  <a:t>Identity &amp; Access Management (IAM) </a:t>
                </a:r>
              </a:p>
              <a:p>
                <a:r>
                  <a:rPr lang="en-IN" sz="900" b="1" dirty="0"/>
                  <a:t>Identity cloud Service (IDCS) </a:t>
                </a:r>
              </a:p>
            </p:txBody>
          </p:sp>
        </p:grpSp>
        <p:cxnSp>
          <p:nvCxnSpPr>
            <p:cNvPr id="75" name="Connector: Elbow 74">
              <a:extLst>
                <a:ext uri="{FF2B5EF4-FFF2-40B4-BE49-F238E27FC236}">
                  <a16:creationId xmlns:a16="http://schemas.microsoft.com/office/drawing/2014/main" id="{55F4D98E-05BF-4C1A-9A1C-38901D388DFE}"/>
                </a:ext>
              </a:extLst>
            </p:cNvPr>
            <p:cNvCxnSpPr>
              <a:cxnSpLocks/>
            </p:cNvCxnSpPr>
            <p:nvPr/>
          </p:nvCxnSpPr>
          <p:spPr>
            <a:xfrm flipV="1">
              <a:off x="5134496" y="4040013"/>
              <a:ext cx="2731359" cy="274806"/>
            </a:xfrm>
            <a:prstGeom prst="bentConnector3">
              <a:avLst>
                <a:gd name="adj1" fmla="val 5106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1BA83BDB-B9F1-A4F7-E847-1882FBA14273}"/>
                </a:ext>
              </a:extLst>
            </p:cNvPr>
            <p:cNvCxnSpPr/>
            <p:nvPr/>
          </p:nvCxnSpPr>
          <p:spPr>
            <a:xfrm>
              <a:off x="5158712" y="4400661"/>
              <a:ext cx="2687382" cy="458185"/>
            </a:xfrm>
            <a:prstGeom prst="bentConnector3">
              <a:avLst>
                <a:gd name="adj1" fmla="val 5108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1951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sp>
        <p:nvSpPr>
          <p:cNvPr id="77" name="Google Shape;77;p16"/>
          <p:cNvSpPr txBox="1">
            <a:spLocks noGrp="1"/>
          </p:cNvSpPr>
          <p:nvPr>
            <p:ph type="body" idx="4294967295"/>
          </p:nvPr>
        </p:nvSpPr>
        <p:spPr>
          <a:xfrm>
            <a:off x="1342150" y="877328"/>
            <a:ext cx="9643762" cy="4977245"/>
          </a:xfrm>
          <a:prstGeom prst="rect">
            <a:avLst/>
          </a:prstGeom>
        </p:spPr>
        <p:txBody>
          <a:bodyPr spcFirstLastPara="1" vert="horz" wrap="square" lIns="121900" tIns="121900" rIns="121900" bIns="121900" rtlCol="0" anchor="t" anchorCtr="0">
            <a:noAutofit/>
          </a:bodyPr>
          <a:lstStyle/>
          <a:p>
            <a:pPr marL="0" indent="0">
              <a:lnSpc>
                <a:spcPct val="150000"/>
              </a:lnSpc>
              <a:spcBef>
                <a:spcPts val="0"/>
              </a:spcBef>
              <a:buClr>
                <a:schemeClr val="dk1"/>
              </a:buClr>
              <a:buSzPts val="1100"/>
              <a:buNone/>
            </a:pPr>
            <a:r>
              <a:rPr lang="en" sz="1467" b="1" dirty="0">
                <a:solidFill>
                  <a:schemeClr val="dk1"/>
                </a:solidFill>
                <a:latin typeface="Rockwell" panose="02060603020205020403" pitchFamily="18" charset="0"/>
                <a:ea typeface="Karla"/>
                <a:cs typeface="Karla"/>
                <a:sym typeface="Karla"/>
              </a:rPr>
              <a:t>Compartment </a:t>
            </a:r>
            <a:r>
              <a:rPr lang="en" sz="1467" dirty="0">
                <a:solidFill>
                  <a:schemeClr val="dk1"/>
                </a:solidFill>
                <a:latin typeface="Rockwell" panose="02060603020205020403" pitchFamily="18" charset="0"/>
                <a:ea typeface="Karla"/>
                <a:cs typeface="Karla"/>
                <a:sym typeface="Karla"/>
              </a:rPr>
              <a:t>: A heterogeneous collection of resources for the purposes of security isolation and access control.</a:t>
            </a:r>
            <a:endParaRPr sz="1467" dirty="0">
              <a:solidFill>
                <a:schemeClr val="dk1"/>
              </a:solidFill>
              <a:latin typeface="Rockwell" panose="02060603020205020403" pitchFamily="18" charset="0"/>
              <a:ea typeface="Karla"/>
              <a:cs typeface="Karla"/>
              <a:sym typeface="Karla"/>
            </a:endParaRPr>
          </a:p>
          <a:p>
            <a:pPr marL="0" indent="0">
              <a:lnSpc>
                <a:spcPct val="150000"/>
              </a:lnSpc>
              <a:spcBef>
                <a:spcPts val="1333"/>
              </a:spcBef>
              <a:buClr>
                <a:schemeClr val="dk1"/>
              </a:buClr>
              <a:buSzPts val="1100"/>
              <a:buNone/>
            </a:pPr>
            <a:r>
              <a:rPr lang="en" sz="1467" b="1" dirty="0">
                <a:solidFill>
                  <a:schemeClr val="dk1"/>
                </a:solidFill>
                <a:latin typeface="Rockwell" panose="02060603020205020403" pitchFamily="18" charset="0"/>
                <a:ea typeface="Karla"/>
                <a:cs typeface="Karla"/>
                <a:sym typeface="Karla"/>
              </a:rPr>
              <a:t>Tenancy </a:t>
            </a:r>
            <a:r>
              <a:rPr lang="en" sz="1467" dirty="0">
                <a:solidFill>
                  <a:schemeClr val="dk1"/>
                </a:solidFill>
                <a:latin typeface="Rockwell" panose="02060603020205020403" pitchFamily="18" charset="0"/>
                <a:ea typeface="Karla"/>
                <a:cs typeface="Karla"/>
                <a:sym typeface="Karla"/>
              </a:rPr>
              <a:t>: The root compartment that contains all resources. With one or more compartments, users and groups are assigned policies that grants ability to use resources within a compartment.</a:t>
            </a:r>
            <a:endParaRPr sz="1467" dirty="0">
              <a:solidFill>
                <a:schemeClr val="dk1"/>
              </a:solidFill>
              <a:latin typeface="Rockwell" panose="02060603020205020403" pitchFamily="18" charset="0"/>
              <a:ea typeface="Karla"/>
              <a:cs typeface="Karla"/>
              <a:sym typeface="Karla"/>
            </a:endParaRPr>
          </a:p>
          <a:p>
            <a:pPr marL="0" indent="0">
              <a:lnSpc>
                <a:spcPct val="150000"/>
              </a:lnSpc>
              <a:spcBef>
                <a:spcPts val="1333"/>
              </a:spcBef>
              <a:buClr>
                <a:schemeClr val="dk1"/>
              </a:buClr>
              <a:buSzPts val="1100"/>
              <a:buNone/>
            </a:pPr>
            <a:r>
              <a:rPr lang="en" sz="1467" b="1" dirty="0">
                <a:solidFill>
                  <a:schemeClr val="dk1"/>
                </a:solidFill>
                <a:latin typeface="Rockwell" panose="02060603020205020403" pitchFamily="18" charset="0"/>
                <a:ea typeface="Karla"/>
                <a:cs typeface="Karla"/>
                <a:sym typeface="Karla"/>
              </a:rPr>
              <a:t>User </a:t>
            </a:r>
            <a:r>
              <a:rPr lang="en" sz="1467" dirty="0">
                <a:solidFill>
                  <a:schemeClr val="dk1"/>
                </a:solidFill>
                <a:latin typeface="Rockwell" panose="02060603020205020403" pitchFamily="18" charset="0"/>
                <a:ea typeface="Karla"/>
                <a:cs typeface="Karla"/>
                <a:sym typeface="Karla"/>
              </a:rPr>
              <a:t>: Users are added to groups to access resources. Federated users are also supported.</a:t>
            </a:r>
            <a:endParaRPr sz="1467" dirty="0">
              <a:solidFill>
                <a:schemeClr val="dk1"/>
              </a:solidFill>
              <a:latin typeface="Rockwell" panose="02060603020205020403" pitchFamily="18" charset="0"/>
              <a:ea typeface="Karla"/>
              <a:cs typeface="Karla"/>
              <a:sym typeface="Karla"/>
            </a:endParaRPr>
          </a:p>
          <a:p>
            <a:pPr marL="0" indent="0">
              <a:lnSpc>
                <a:spcPct val="150000"/>
              </a:lnSpc>
              <a:spcBef>
                <a:spcPts val="1333"/>
              </a:spcBef>
              <a:buClr>
                <a:schemeClr val="dk1"/>
              </a:buClr>
              <a:buSzPts val="1100"/>
              <a:buNone/>
            </a:pPr>
            <a:r>
              <a:rPr lang="en" sz="1467" b="1" dirty="0">
                <a:solidFill>
                  <a:schemeClr val="dk1"/>
                </a:solidFill>
                <a:latin typeface="Rockwell" panose="02060603020205020403" pitchFamily="18" charset="0"/>
                <a:ea typeface="Karla"/>
                <a:cs typeface="Karla"/>
                <a:sym typeface="Karla"/>
              </a:rPr>
              <a:t>Group </a:t>
            </a:r>
            <a:r>
              <a:rPr lang="en" sz="1467" dirty="0">
                <a:solidFill>
                  <a:schemeClr val="dk1"/>
                </a:solidFill>
                <a:latin typeface="Rockwell" panose="02060603020205020403" pitchFamily="18" charset="0"/>
                <a:ea typeface="Karla"/>
                <a:cs typeface="Karla"/>
                <a:sym typeface="Karla"/>
              </a:rPr>
              <a:t>: A collection of users who share a similar set of access privileges. </a:t>
            </a:r>
            <a:endParaRPr sz="1467" b="1" dirty="0">
              <a:solidFill>
                <a:schemeClr val="dk1"/>
              </a:solidFill>
              <a:latin typeface="Rockwell" panose="02060603020205020403" pitchFamily="18" charset="0"/>
              <a:ea typeface="Karla"/>
              <a:cs typeface="Karla"/>
              <a:sym typeface="Karla"/>
            </a:endParaRPr>
          </a:p>
          <a:p>
            <a:pPr marL="0" indent="0">
              <a:lnSpc>
                <a:spcPct val="150000"/>
              </a:lnSpc>
              <a:spcBef>
                <a:spcPts val="1333"/>
              </a:spcBef>
              <a:buNone/>
            </a:pPr>
            <a:r>
              <a:rPr lang="en" sz="1467" b="1" dirty="0">
                <a:solidFill>
                  <a:schemeClr val="dk1"/>
                </a:solidFill>
                <a:latin typeface="Rockwell" panose="02060603020205020403" pitchFamily="18" charset="0"/>
                <a:ea typeface="Karla"/>
                <a:cs typeface="Karla"/>
                <a:sym typeface="Karla"/>
              </a:rPr>
              <a:t>Identity Domain </a:t>
            </a:r>
            <a:r>
              <a:rPr lang="en" sz="1467" dirty="0">
                <a:solidFill>
                  <a:schemeClr val="dk1"/>
                </a:solidFill>
                <a:latin typeface="Rockwell" panose="02060603020205020403" pitchFamily="18" charset="0"/>
                <a:ea typeface="Karla"/>
                <a:cs typeface="Karla"/>
                <a:sym typeface="Karla"/>
              </a:rPr>
              <a:t>: A logical grouping of users, groups, roles, and credentials in a tenancy.</a:t>
            </a:r>
            <a:endParaRPr sz="1467" dirty="0">
              <a:solidFill>
                <a:schemeClr val="dk1"/>
              </a:solidFill>
              <a:latin typeface="Rockwell" panose="02060603020205020403" pitchFamily="18" charset="0"/>
              <a:ea typeface="Karla"/>
              <a:cs typeface="Karla"/>
              <a:sym typeface="Karla"/>
            </a:endParaRPr>
          </a:p>
          <a:p>
            <a:pPr marL="0" indent="0">
              <a:lnSpc>
                <a:spcPct val="150000"/>
              </a:lnSpc>
              <a:spcBef>
                <a:spcPts val="1333"/>
              </a:spcBef>
              <a:buNone/>
            </a:pPr>
            <a:r>
              <a:rPr lang="en" sz="1467" b="1" dirty="0">
                <a:solidFill>
                  <a:schemeClr val="dk1"/>
                </a:solidFill>
                <a:latin typeface="Rockwell" panose="02060603020205020403" pitchFamily="18" charset="0"/>
                <a:ea typeface="Karla"/>
                <a:cs typeface="Karla"/>
                <a:sym typeface="Karla"/>
              </a:rPr>
              <a:t>Role </a:t>
            </a:r>
            <a:r>
              <a:rPr lang="en" sz="1467" dirty="0">
                <a:solidFill>
                  <a:schemeClr val="dk1"/>
                </a:solidFill>
                <a:latin typeface="Rockwell" panose="02060603020205020403" pitchFamily="18" charset="0"/>
                <a:ea typeface="Karla"/>
                <a:cs typeface="Karla"/>
                <a:sym typeface="Karla"/>
              </a:rPr>
              <a:t>: A set of administrative privileges that can be assigned to a user in an identity domain.</a:t>
            </a:r>
            <a:endParaRPr sz="1467" dirty="0">
              <a:solidFill>
                <a:schemeClr val="dk1"/>
              </a:solidFill>
              <a:latin typeface="Rockwell" panose="02060603020205020403" pitchFamily="18" charset="0"/>
              <a:ea typeface="Karla"/>
              <a:cs typeface="Karla"/>
              <a:sym typeface="Karla"/>
            </a:endParaRPr>
          </a:p>
          <a:p>
            <a:pPr marL="0" indent="0">
              <a:lnSpc>
                <a:spcPct val="150000"/>
              </a:lnSpc>
              <a:spcBef>
                <a:spcPts val="1333"/>
              </a:spcBef>
              <a:buNone/>
            </a:pPr>
            <a:r>
              <a:rPr lang="en" sz="1467" b="1" dirty="0">
                <a:solidFill>
                  <a:schemeClr val="dk1"/>
                </a:solidFill>
                <a:latin typeface="Rockwell" panose="02060603020205020403" pitchFamily="18" charset="0"/>
                <a:ea typeface="Karla"/>
                <a:cs typeface="Karla"/>
                <a:sym typeface="Karla"/>
              </a:rPr>
              <a:t>Identity Provider </a:t>
            </a:r>
            <a:r>
              <a:rPr lang="en" sz="1467" dirty="0">
                <a:solidFill>
                  <a:schemeClr val="dk1"/>
                </a:solidFill>
                <a:latin typeface="Rockwell" panose="02060603020205020403" pitchFamily="18" charset="0"/>
                <a:ea typeface="Karla"/>
                <a:cs typeface="Karla"/>
                <a:sym typeface="Karla"/>
              </a:rPr>
              <a:t>: Federated users who  are authenticate to the Oracle Cloud Infrastructure console are redirected to  configured identity provider. </a:t>
            </a:r>
            <a:endParaRPr sz="1467" dirty="0">
              <a:solidFill>
                <a:schemeClr val="dk1"/>
              </a:solidFill>
              <a:latin typeface="Rockwell" panose="02060603020205020403" pitchFamily="18" charset="0"/>
              <a:ea typeface="Karla"/>
              <a:cs typeface="Karla"/>
              <a:sym typeface="Karla"/>
            </a:endParaRPr>
          </a:p>
          <a:p>
            <a:pPr marL="0" indent="0">
              <a:lnSpc>
                <a:spcPct val="150000"/>
              </a:lnSpc>
              <a:spcBef>
                <a:spcPts val="1333"/>
              </a:spcBef>
              <a:spcAft>
                <a:spcPts val="1333"/>
              </a:spcAft>
              <a:buNone/>
            </a:pPr>
            <a:r>
              <a:rPr lang="en" sz="1467" b="1" dirty="0">
                <a:solidFill>
                  <a:schemeClr val="dk1"/>
                </a:solidFill>
                <a:latin typeface="Rockwell" panose="02060603020205020403" pitchFamily="18" charset="0"/>
                <a:ea typeface="Karla"/>
                <a:cs typeface="Karla"/>
                <a:sym typeface="Karla"/>
              </a:rPr>
              <a:t>Azure Active Directory (AD) </a:t>
            </a:r>
            <a:r>
              <a:rPr lang="en" sz="1467" dirty="0">
                <a:solidFill>
                  <a:schemeClr val="dk1"/>
                </a:solidFill>
                <a:latin typeface="Rockwell" panose="02060603020205020403" pitchFamily="18" charset="0"/>
                <a:ea typeface="Karla"/>
                <a:cs typeface="Karla"/>
                <a:sym typeface="Karla"/>
              </a:rPr>
              <a:t>: The Azure Active Directory (AD) Bridge provides a link between your AD enterprise directory structure and Oracle Identity Cloud Service.</a:t>
            </a:r>
            <a:endParaRPr sz="1467" dirty="0">
              <a:solidFill>
                <a:schemeClr val="dk1"/>
              </a:solidFill>
              <a:latin typeface="Rockwell" panose="02060603020205020403" pitchFamily="18" charset="0"/>
              <a:ea typeface="Karla"/>
              <a:cs typeface="Karla"/>
              <a:sym typeface="Karla"/>
            </a:endParaRPr>
          </a:p>
        </p:txBody>
      </p:sp>
      <p:sp>
        <p:nvSpPr>
          <p:cNvPr id="2" name="Google Shape;68;p15">
            <a:extLst>
              <a:ext uri="{FF2B5EF4-FFF2-40B4-BE49-F238E27FC236}">
                <a16:creationId xmlns:a16="http://schemas.microsoft.com/office/drawing/2014/main" id="{29C36FCE-FCD1-A7E7-8C2A-01A3C9706607}"/>
              </a:ext>
            </a:extLst>
          </p:cNvPr>
          <p:cNvSpPr txBox="1">
            <a:spLocks/>
          </p:cNvSpPr>
          <p:nvPr/>
        </p:nvSpPr>
        <p:spPr>
          <a:xfrm>
            <a:off x="152315" y="215546"/>
            <a:ext cx="9643763" cy="588965"/>
          </a:xfrm>
          <a:prstGeom prst="rect">
            <a:avLst/>
          </a:prstGeom>
          <a:noFill/>
        </p:spPr>
        <p:txBody>
          <a:bodyPr spcFirstLastPara="1" wrap="square" lIns="121900" tIns="121900" rIns="121900" bIns="121900" anchor="t" anchorCtr="0">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 OCI - Identity and Access Management (IAM)</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pic>
        <p:nvPicPr>
          <p:cNvPr id="4" name="Picture 3">
            <a:extLst>
              <a:ext uri="{FF2B5EF4-FFF2-40B4-BE49-F238E27FC236}">
                <a16:creationId xmlns:a16="http://schemas.microsoft.com/office/drawing/2014/main" id="{61F8E252-9F51-C2A0-6913-2031160A90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466" y="3067715"/>
            <a:ext cx="564912" cy="367975"/>
          </a:xfrm>
          <a:prstGeom prst="rect">
            <a:avLst/>
          </a:prstGeom>
        </p:spPr>
      </p:pic>
      <p:pic>
        <p:nvPicPr>
          <p:cNvPr id="6" name="Picture 5">
            <a:extLst>
              <a:ext uri="{FF2B5EF4-FFF2-40B4-BE49-F238E27FC236}">
                <a16:creationId xmlns:a16="http://schemas.microsoft.com/office/drawing/2014/main" id="{68BF38EF-B192-DE06-4741-095E534581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1856" y="2573774"/>
            <a:ext cx="245906" cy="303766"/>
          </a:xfrm>
          <a:prstGeom prst="rect">
            <a:avLst/>
          </a:prstGeom>
        </p:spPr>
      </p:pic>
      <p:pic>
        <p:nvPicPr>
          <p:cNvPr id="8" name="Picture 7">
            <a:extLst>
              <a:ext uri="{FF2B5EF4-FFF2-40B4-BE49-F238E27FC236}">
                <a16:creationId xmlns:a16="http://schemas.microsoft.com/office/drawing/2014/main" id="{47DD9724-D19C-CE83-7819-152FEF3B45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8483" y="1038003"/>
            <a:ext cx="473570" cy="377102"/>
          </a:xfrm>
          <a:prstGeom prst="rect">
            <a:avLst/>
          </a:prstGeom>
        </p:spPr>
      </p:pic>
      <p:pic>
        <p:nvPicPr>
          <p:cNvPr id="10" name="Picture 9">
            <a:extLst>
              <a:ext uri="{FF2B5EF4-FFF2-40B4-BE49-F238E27FC236}">
                <a16:creationId xmlns:a16="http://schemas.microsoft.com/office/drawing/2014/main" id="{6D7590A2-6B97-461D-AB60-E2ECCAD0DEF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0330" y="3606666"/>
            <a:ext cx="539778" cy="488975"/>
          </a:xfrm>
          <a:prstGeom prst="rect">
            <a:avLst/>
          </a:prstGeom>
        </p:spPr>
      </p:pic>
      <p:grpSp>
        <p:nvGrpSpPr>
          <p:cNvPr id="12" name="Graphic 7">
            <a:extLst>
              <a:ext uri="{FF2B5EF4-FFF2-40B4-BE49-F238E27FC236}">
                <a16:creationId xmlns:a16="http://schemas.microsoft.com/office/drawing/2014/main" id="{4C88F524-A496-627D-93D4-3EEEF94C8DC5}"/>
              </a:ext>
            </a:extLst>
          </p:cNvPr>
          <p:cNvGrpSpPr/>
          <p:nvPr/>
        </p:nvGrpSpPr>
        <p:grpSpPr>
          <a:xfrm>
            <a:off x="812604" y="5512174"/>
            <a:ext cx="513348" cy="499087"/>
            <a:chOff x="4634840" y="4459076"/>
            <a:chExt cx="513348" cy="499087"/>
          </a:xfrm>
        </p:grpSpPr>
        <p:sp>
          <p:nvSpPr>
            <p:cNvPr id="14" name="Freeform: Shape 13">
              <a:extLst>
                <a:ext uri="{FF2B5EF4-FFF2-40B4-BE49-F238E27FC236}">
                  <a16:creationId xmlns:a16="http://schemas.microsoft.com/office/drawing/2014/main" id="{B8DE0F03-8A50-009B-7AB9-D07821F983B8}"/>
                </a:ext>
              </a:extLst>
            </p:cNvPr>
            <p:cNvSpPr/>
            <p:nvPr/>
          </p:nvSpPr>
          <p:spPr>
            <a:xfrm>
              <a:off x="4640782" y="4465023"/>
              <a:ext cx="501460" cy="487051"/>
            </a:xfrm>
            <a:custGeom>
              <a:avLst/>
              <a:gdLst>
                <a:gd name="connsiteX0" fmla="*/ 446496 w 501460"/>
                <a:gd name="connsiteY0" fmla="*/ 486840 h 487051"/>
                <a:gd name="connsiteX1" fmla="*/ 410813 w 501460"/>
                <a:gd name="connsiteY1" fmla="*/ 473352 h 487051"/>
                <a:gd name="connsiteX2" fmla="*/ 392685 w 501460"/>
                <a:gd name="connsiteY2" fmla="*/ 439837 h 487051"/>
                <a:gd name="connsiteX3" fmla="*/ 400975 w 501460"/>
                <a:gd name="connsiteY3" fmla="*/ 402658 h 487051"/>
                <a:gd name="connsiteX4" fmla="*/ 431629 w 501460"/>
                <a:gd name="connsiteY4" fmla="*/ 379974 h 487051"/>
                <a:gd name="connsiteX5" fmla="*/ 431629 w 501460"/>
                <a:gd name="connsiteY5" fmla="*/ 351117 h 487051"/>
                <a:gd name="connsiteX6" fmla="*/ 278889 w 501460"/>
                <a:gd name="connsiteY6" fmla="*/ 351117 h 487051"/>
                <a:gd name="connsiteX7" fmla="*/ 264855 w 501460"/>
                <a:gd name="connsiteY7" fmla="*/ 365132 h 487051"/>
                <a:gd name="connsiteX8" fmla="*/ 264855 w 501460"/>
                <a:gd name="connsiteY8" fmla="*/ 379974 h 487051"/>
                <a:gd name="connsiteX9" fmla="*/ 295733 w 501460"/>
                <a:gd name="connsiteY9" fmla="*/ 402593 h 487051"/>
                <a:gd name="connsiteX10" fmla="*/ 304126 w 501460"/>
                <a:gd name="connsiteY10" fmla="*/ 439895 h 487051"/>
                <a:gd name="connsiteX11" fmla="*/ 285909 w 501460"/>
                <a:gd name="connsiteY11" fmla="*/ 473525 h 487051"/>
                <a:gd name="connsiteX12" fmla="*/ 250045 w 501460"/>
                <a:gd name="connsiteY12" fmla="*/ 486930 h 487051"/>
                <a:gd name="connsiteX13" fmla="*/ 214175 w 501460"/>
                <a:gd name="connsiteY13" fmla="*/ 473525 h 487051"/>
                <a:gd name="connsiteX14" fmla="*/ 195957 w 501460"/>
                <a:gd name="connsiteY14" fmla="*/ 439895 h 487051"/>
                <a:gd name="connsiteX15" fmla="*/ 204357 w 501460"/>
                <a:gd name="connsiteY15" fmla="*/ 402593 h 487051"/>
                <a:gd name="connsiteX16" fmla="*/ 235235 w 501460"/>
                <a:gd name="connsiteY16" fmla="*/ 379974 h 487051"/>
                <a:gd name="connsiteX17" fmla="*/ 235235 w 501460"/>
                <a:gd name="connsiteY17" fmla="*/ 365132 h 487051"/>
                <a:gd name="connsiteX18" fmla="*/ 221195 w 501460"/>
                <a:gd name="connsiteY18" fmla="*/ 351117 h 487051"/>
                <a:gd name="connsiteX19" fmla="*/ 69411 w 501460"/>
                <a:gd name="connsiteY19" fmla="*/ 351117 h 487051"/>
                <a:gd name="connsiteX20" fmla="*/ 69411 w 501460"/>
                <a:gd name="connsiteY20" fmla="*/ 380090 h 487051"/>
                <a:gd name="connsiteX21" fmla="*/ 100289 w 501460"/>
                <a:gd name="connsiteY21" fmla="*/ 402709 h 487051"/>
                <a:gd name="connsiteX22" fmla="*/ 108688 w 501460"/>
                <a:gd name="connsiteY22" fmla="*/ 440010 h 487051"/>
                <a:gd name="connsiteX23" fmla="*/ 90471 w 501460"/>
                <a:gd name="connsiteY23" fmla="*/ 473641 h 487051"/>
                <a:gd name="connsiteX24" fmla="*/ 54601 w 501460"/>
                <a:gd name="connsiteY24" fmla="*/ 487052 h 487051"/>
                <a:gd name="connsiteX25" fmla="*/ 18731 w 501460"/>
                <a:gd name="connsiteY25" fmla="*/ 473641 h 487051"/>
                <a:gd name="connsiteX26" fmla="*/ 513 w 501460"/>
                <a:gd name="connsiteY26" fmla="*/ 440010 h 487051"/>
                <a:gd name="connsiteX27" fmla="*/ 8913 w 501460"/>
                <a:gd name="connsiteY27" fmla="*/ 402709 h 487051"/>
                <a:gd name="connsiteX28" fmla="*/ 39791 w 501460"/>
                <a:gd name="connsiteY28" fmla="*/ 380090 h 487051"/>
                <a:gd name="connsiteX29" fmla="*/ 39791 w 501460"/>
                <a:gd name="connsiteY29" fmla="*/ 321908 h 487051"/>
                <a:gd name="connsiteX30" fmla="*/ 221432 w 501460"/>
                <a:gd name="connsiteY30" fmla="*/ 321908 h 487051"/>
                <a:gd name="connsiteX31" fmla="*/ 235472 w 501460"/>
                <a:gd name="connsiteY31" fmla="*/ 307778 h 487051"/>
                <a:gd name="connsiteX32" fmla="*/ 235472 w 501460"/>
                <a:gd name="connsiteY32" fmla="*/ 288897 h 487051"/>
                <a:gd name="connsiteX33" fmla="*/ 69770 w 501460"/>
                <a:gd name="connsiteY33" fmla="*/ 288897 h 487051"/>
                <a:gd name="connsiteX34" fmla="*/ 69770 w 501460"/>
                <a:gd name="connsiteY34" fmla="*/ 23748 h 487051"/>
                <a:gd name="connsiteX35" fmla="*/ 76739 w 501460"/>
                <a:gd name="connsiteY35" fmla="*/ 6955 h 487051"/>
                <a:gd name="connsiteX36" fmla="*/ 93557 w 501460"/>
                <a:gd name="connsiteY36" fmla="*/ 0 h 487051"/>
                <a:gd name="connsiteX37" fmla="*/ 183727 w 501460"/>
                <a:gd name="connsiteY37" fmla="*/ 0 h 487051"/>
                <a:gd name="connsiteX38" fmla="*/ 194449 w 501460"/>
                <a:gd name="connsiteY38" fmla="*/ 2533 h 487051"/>
                <a:gd name="connsiteX39" fmla="*/ 202875 w 501460"/>
                <a:gd name="connsiteY39" fmla="*/ 9618 h 487051"/>
                <a:gd name="connsiteX40" fmla="*/ 219411 w 501460"/>
                <a:gd name="connsiteY40" fmla="*/ 32535 h 487051"/>
                <a:gd name="connsiteX41" fmla="*/ 407123 w 501460"/>
                <a:gd name="connsiteY41" fmla="*/ 32535 h 487051"/>
                <a:gd name="connsiteX42" fmla="*/ 423948 w 501460"/>
                <a:gd name="connsiteY42" fmla="*/ 39491 h 487051"/>
                <a:gd name="connsiteX43" fmla="*/ 430910 w 501460"/>
                <a:gd name="connsiteY43" fmla="*/ 56283 h 487051"/>
                <a:gd name="connsiteX44" fmla="*/ 430910 w 501460"/>
                <a:gd name="connsiteY44" fmla="*/ 288897 h 487051"/>
                <a:gd name="connsiteX45" fmla="*/ 265093 w 501460"/>
                <a:gd name="connsiteY45" fmla="*/ 288897 h 487051"/>
                <a:gd name="connsiteX46" fmla="*/ 265093 w 501460"/>
                <a:gd name="connsiteY46" fmla="*/ 307419 h 487051"/>
                <a:gd name="connsiteX47" fmla="*/ 278889 w 501460"/>
                <a:gd name="connsiteY47" fmla="*/ 321549 h 487051"/>
                <a:gd name="connsiteX48" fmla="*/ 461249 w 501460"/>
                <a:gd name="connsiteY48" fmla="*/ 321549 h 487051"/>
                <a:gd name="connsiteX49" fmla="*/ 461249 w 501460"/>
                <a:gd name="connsiteY49" fmla="*/ 379974 h 487051"/>
                <a:gd name="connsiteX50" fmla="*/ 492415 w 501460"/>
                <a:gd name="connsiteY50" fmla="*/ 402452 h 487051"/>
                <a:gd name="connsiteX51" fmla="*/ 500950 w 501460"/>
                <a:gd name="connsiteY51" fmla="*/ 439882 h 487051"/>
                <a:gd name="connsiteX52" fmla="*/ 482598 w 501460"/>
                <a:gd name="connsiteY52" fmla="*/ 473609 h 487051"/>
                <a:gd name="connsiteX53" fmla="*/ 446496 w 501460"/>
                <a:gd name="connsiteY53" fmla="*/ 486840 h 487051"/>
                <a:gd name="connsiteX54" fmla="*/ 446496 w 501460"/>
                <a:gd name="connsiteY54" fmla="*/ 486840 h 487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01460" h="487051">
                  <a:moveTo>
                    <a:pt x="446496" y="486840"/>
                  </a:moveTo>
                  <a:cubicBezTo>
                    <a:pt x="433361" y="486776"/>
                    <a:pt x="420694" y="481989"/>
                    <a:pt x="410813" y="473352"/>
                  </a:cubicBezTo>
                  <a:cubicBezTo>
                    <a:pt x="400924" y="464721"/>
                    <a:pt x="394488" y="452818"/>
                    <a:pt x="392685" y="439837"/>
                  </a:cubicBezTo>
                  <a:cubicBezTo>
                    <a:pt x="390875" y="426849"/>
                    <a:pt x="393821" y="413650"/>
                    <a:pt x="400975" y="402658"/>
                  </a:cubicBezTo>
                  <a:cubicBezTo>
                    <a:pt x="408124" y="391659"/>
                    <a:pt x="419007" y="383606"/>
                    <a:pt x="431629" y="379974"/>
                  </a:cubicBezTo>
                  <a:lnTo>
                    <a:pt x="431629" y="351117"/>
                  </a:lnTo>
                  <a:lnTo>
                    <a:pt x="278889" y="351117"/>
                  </a:lnTo>
                  <a:cubicBezTo>
                    <a:pt x="275815" y="357156"/>
                    <a:pt x="270900" y="362065"/>
                    <a:pt x="264855" y="365132"/>
                  </a:cubicBezTo>
                  <a:lnTo>
                    <a:pt x="264855" y="379974"/>
                  </a:lnTo>
                  <a:cubicBezTo>
                    <a:pt x="277548" y="383542"/>
                    <a:pt x="288514" y="391576"/>
                    <a:pt x="295733" y="402593"/>
                  </a:cubicBezTo>
                  <a:cubicBezTo>
                    <a:pt x="302952" y="413605"/>
                    <a:pt x="305936" y="426855"/>
                    <a:pt x="304126" y="439895"/>
                  </a:cubicBezTo>
                  <a:cubicBezTo>
                    <a:pt x="302323" y="452934"/>
                    <a:pt x="295855" y="464875"/>
                    <a:pt x="285909" y="473525"/>
                  </a:cubicBezTo>
                  <a:cubicBezTo>
                    <a:pt x="275969" y="482169"/>
                    <a:pt x="263231" y="486930"/>
                    <a:pt x="250045" y="486930"/>
                  </a:cubicBezTo>
                  <a:cubicBezTo>
                    <a:pt x="236858" y="486930"/>
                    <a:pt x="224114" y="482169"/>
                    <a:pt x="214175" y="473525"/>
                  </a:cubicBezTo>
                  <a:cubicBezTo>
                    <a:pt x="204235" y="464875"/>
                    <a:pt x="197760" y="452934"/>
                    <a:pt x="195957" y="439895"/>
                  </a:cubicBezTo>
                  <a:cubicBezTo>
                    <a:pt x="194154" y="426855"/>
                    <a:pt x="197132" y="413605"/>
                    <a:pt x="204357" y="402593"/>
                  </a:cubicBezTo>
                  <a:cubicBezTo>
                    <a:pt x="211576" y="391576"/>
                    <a:pt x="222542" y="383542"/>
                    <a:pt x="235235" y="379974"/>
                  </a:cubicBezTo>
                  <a:lnTo>
                    <a:pt x="235235" y="365132"/>
                  </a:lnTo>
                  <a:cubicBezTo>
                    <a:pt x="229184" y="362065"/>
                    <a:pt x="224269" y="357156"/>
                    <a:pt x="221195" y="351117"/>
                  </a:cubicBezTo>
                  <a:lnTo>
                    <a:pt x="69411" y="351117"/>
                  </a:lnTo>
                  <a:lnTo>
                    <a:pt x="69411" y="380090"/>
                  </a:lnTo>
                  <a:cubicBezTo>
                    <a:pt x="82103" y="383664"/>
                    <a:pt x="93070" y="391698"/>
                    <a:pt x="100289" y="402709"/>
                  </a:cubicBezTo>
                  <a:cubicBezTo>
                    <a:pt x="107508" y="413720"/>
                    <a:pt x="110492" y="426971"/>
                    <a:pt x="108688" y="440010"/>
                  </a:cubicBezTo>
                  <a:cubicBezTo>
                    <a:pt x="106879" y="453049"/>
                    <a:pt x="100411" y="464997"/>
                    <a:pt x="90471" y="473641"/>
                  </a:cubicBezTo>
                  <a:cubicBezTo>
                    <a:pt x="80525" y="482291"/>
                    <a:pt x="67787" y="487052"/>
                    <a:pt x="54601" y="487052"/>
                  </a:cubicBezTo>
                  <a:cubicBezTo>
                    <a:pt x="41414" y="487052"/>
                    <a:pt x="28677" y="482291"/>
                    <a:pt x="18731" y="473641"/>
                  </a:cubicBezTo>
                  <a:cubicBezTo>
                    <a:pt x="8791" y="464997"/>
                    <a:pt x="2323" y="453049"/>
                    <a:pt x="513" y="440010"/>
                  </a:cubicBezTo>
                  <a:cubicBezTo>
                    <a:pt x="-1290" y="426971"/>
                    <a:pt x="1694" y="413720"/>
                    <a:pt x="8913" y="402709"/>
                  </a:cubicBezTo>
                  <a:cubicBezTo>
                    <a:pt x="16132" y="391698"/>
                    <a:pt x="27098" y="383664"/>
                    <a:pt x="39791" y="380090"/>
                  </a:cubicBezTo>
                  <a:lnTo>
                    <a:pt x="39791" y="321908"/>
                  </a:lnTo>
                  <a:lnTo>
                    <a:pt x="221432" y="321908"/>
                  </a:lnTo>
                  <a:cubicBezTo>
                    <a:pt x="224538" y="315863"/>
                    <a:pt x="229440" y="310929"/>
                    <a:pt x="235472" y="307778"/>
                  </a:cubicBezTo>
                  <a:lnTo>
                    <a:pt x="235472" y="288897"/>
                  </a:lnTo>
                  <a:lnTo>
                    <a:pt x="69770" y="288897"/>
                  </a:lnTo>
                  <a:lnTo>
                    <a:pt x="69770" y="23748"/>
                  </a:lnTo>
                  <a:cubicBezTo>
                    <a:pt x="69770" y="17449"/>
                    <a:pt x="72273" y="11409"/>
                    <a:pt x="76739" y="6955"/>
                  </a:cubicBezTo>
                  <a:cubicBezTo>
                    <a:pt x="81199" y="2502"/>
                    <a:pt x="87250" y="0"/>
                    <a:pt x="93557" y="0"/>
                  </a:cubicBezTo>
                  <a:lnTo>
                    <a:pt x="183727" y="0"/>
                  </a:lnTo>
                  <a:cubicBezTo>
                    <a:pt x="187449" y="-5"/>
                    <a:pt x="191125" y="863"/>
                    <a:pt x="194449" y="2533"/>
                  </a:cubicBezTo>
                  <a:cubicBezTo>
                    <a:pt x="197773" y="4204"/>
                    <a:pt x="200661" y="6631"/>
                    <a:pt x="202875" y="9618"/>
                  </a:cubicBezTo>
                  <a:lnTo>
                    <a:pt x="219411" y="32535"/>
                  </a:lnTo>
                  <a:lnTo>
                    <a:pt x="407123" y="32535"/>
                  </a:lnTo>
                  <a:cubicBezTo>
                    <a:pt x="413430" y="32535"/>
                    <a:pt x="419482" y="35037"/>
                    <a:pt x="423948" y="39491"/>
                  </a:cubicBezTo>
                  <a:cubicBezTo>
                    <a:pt x="428408" y="43944"/>
                    <a:pt x="430910" y="49985"/>
                    <a:pt x="430910" y="56283"/>
                  </a:cubicBezTo>
                  <a:lnTo>
                    <a:pt x="430910" y="288897"/>
                  </a:lnTo>
                  <a:lnTo>
                    <a:pt x="265093" y="288897"/>
                  </a:lnTo>
                  <a:lnTo>
                    <a:pt x="265093" y="307419"/>
                  </a:lnTo>
                  <a:cubicBezTo>
                    <a:pt x="271028" y="310608"/>
                    <a:pt x="275847" y="315542"/>
                    <a:pt x="278889" y="321549"/>
                  </a:cubicBezTo>
                  <a:lnTo>
                    <a:pt x="461249" y="321549"/>
                  </a:lnTo>
                  <a:lnTo>
                    <a:pt x="461249" y="379974"/>
                  </a:lnTo>
                  <a:cubicBezTo>
                    <a:pt x="474031" y="383433"/>
                    <a:pt x="485107" y="391428"/>
                    <a:pt x="492415" y="402452"/>
                  </a:cubicBezTo>
                  <a:cubicBezTo>
                    <a:pt x="499724" y="413476"/>
                    <a:pt x="502759" y="426785"/>
                    <a:pt x="500950" y="439882"/>
                  </a:cubicBezTo>
                  <a:cubicBezTo>
                    <a:pt x="499140" y="452978"/>
                    <a:pt x="492621" y="464972"/>
                    <a:pt x="482598" y="473609"/>
                  </a:cubicBezTo>
                  <a:cubicBezTo>
                    <a:pt x="472575" y="482252"/>
                    <a:pt x="459741" y="486956"/>
                    <a:pt x="446496" y="486840"/>
                  </a:cubicBezTo>
                  <a:lnTo>
                    <a:pt x="446496" y="486840"/>
                  </a:lnTo>
                  <a:close/>
                </a:path>
              </a:pathLst>
            </a:custGeom>
            <a:solidFill>
              <a:srgbClr val="FFFFFF"/>
            </a:solidFill>
            <a:ln w="6417"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0B7BF25-C74E-1144-9A3B-5C151B1F83B9}"/>
                </a:ext>
              </a:extLst>
            </p:cNvPr>
            <p:cNvSpPr/>
            <p:nvPr/>
          </p:nvSpPr>
          <p:spPr>
            <a:xfrm>
              <a:off x="4634840" y="4459076"/>
              <a:ext cx="513348" cy="499087"/>
            </a:xfrm>
            <a:custGeom>
              <a:avLst/>
              <a:gdLst>
                <a:gd name="connsiteX0" fmla="*/ 189676 w 513348"/>
                <a:gd name="connsiteY0" fmla="*/ 11874 h 499087"/>
                <a:gd name="connsiteX1" fmla="*/ 197729 w 513348"/>
                <a:gd name="connsiteY1" fmla="*/ 13794 h 499087"/>
                <a:gd name="connsiteX2" fmla="*/ 204068 w 513348"/>
                <a:gd name="connsiteY2" fmla="*/ 19118 h 499087"/>
                <a:gd name="connsiteX3" fmla="*/ 222979 w 513348"/>
                <a:gd name="connsiteY3" fmla="*/ 44410 h 499087"/>
                <a:gd name="connsiteX4" fmla="*/ 413309 w 513348"/>
                <a:gd name="connsiteY4" fmla="*/ 44410 h 499087"/>
                <a:gd name="connsiteX5" fmla="*/ 425892 w 513348"/>
                <a:gd name="connsiteY5" fmla="*/ 49661 h 499087"/>
                <a:gd name="connsiteX6" fmla="*/ 431148 w 513348"/>
                <a:gd name="connsiteY6" fmla="*/ 62221 h 499087"/>
                <a:gd name="connsiteX7" fmla="*/ 431148 w 513348"/>
                <a:gd name="connsiteY7" fmla="*/ 288898 h 499087"/>
                <a:gd name="connsiteX8" fmla="*/ 265093 w 513348"/>
                <a:gd name="connsiteY8" fmla="*/ 288898 h 499087"/>
                <a:gd name="connsiteX9" fmla="*/ 265093 w 513348"/>
                <a:gd name="connsiteY9" fmla="*/ 317280 h 499087"/>
                <a:gd name="connsiteX10" fmla="*/ 274962 w 513348"/>
                <a:gd name="connsiteY10" fmla="*/ 323574 h 499087"/>
                <a:gd name="connsiteX11" fmla="*/ 281269 w 513348"/>
                <a:gd name="connsiteY11" fmla="*/ 333424 h 499087"/>
                <a:gd name="connsiteX12" fmla="*/ 461243 w 513348"/>
                <a:gd name="connsiteY12" fmla="*/ 333424 h 499087"/>
                <a:gd name="connsiteX13" fmla="*/ 461243 w 513348"/>
                <a:gd name="connsiteY13" fmla="*/ 390541 h 499087"/>
                <a:gd name="connsiteX14" fmla="*/ 491203 w 513348"/>
                <a:gd name="connsiteY14" fmla="*/ 408951 h 499087"/>
                <a:gd name="connsiteX15" fmla="*/ 500892 w 513348"/>
                <a:gd name="connsiteY15" fmla="*/ 442716 h 499087"/>
                <a:gd name="connsiteX16" fmla="*/ 485248 w 513348"/>
                <a:gd name="connsiteY16" fmla="*/ 474171 h 499087"/>
                <a:gd name="connsiteX17" fmla="*/ 452445 w 513348"/>
                <a:gd name="connsiteY17" fmla="*/ 486870 h 499087"/>
                <a:gd name="connsiteX18" fmla="*/ 419642 w 513348"/>
                <a:gd name="connsiteY18" fmla="*/ 474171 h 499087"/>
                <a:gd name="connsiteX19" fmla="*/ 403992 w 513348"/>
                <a:gd name="connsiteY19" fmla="*/ 442716 h 499087"/>
                <a:gd name="connsiteX20" fmla="*/ 413681 w 513348"/>
                <a:gd name="connsiteY20" fmla="*/ 408951 h 499087"/>
                <a:gd name="connsiteX21" fmla="*/ 443641 w 513348"/>
                <a:gd name="connsiteY21" fmla="*/ 390541 h 499087"/>
                <a:gd name="connsiteX22" fmla="*/ 443641 w 513348"/>
                <a:gd name="connsiteY22" fmla="*/ 351116 h 499087"/>
                <a:gd name="connsiteX23" fmla="*/ 281269 w 513348"/>
                <a:gd name="connsiteY23" fmla="*/ 351116 h 499087"/>
                <a:gd name="connsiteX24" fmla="*/ 274981 w 513348"/>
                <a:gd name="connsiteY24" fmla="*/ 360946 h 499087"/>
                <a:gd name="connsiteX25" fmla="*/ 265093 w 513348"/>
                <a:gd name="connsiteY25" fmla="*/ 367151 h 499087"/>
                <a:gd name="connsiteX26" fmla="*/ 265093 w 513348"/>
                <a:gd name="connsiteY26" fmla="*/ 390894 h 499087"/>
                <a:gd name="connsiteX27" fmla="*/ 295015 w 513348"/>
                <a:gd name="connsiteY27" fmla="*/ 409336 h 499087"/>
                <a:gd name="connsiteX28" fmla="*/ 304678 w 513348"/>
                <a:gd name="connsiteY28" fmla="*/ 443088 h 499087"/>
                <a:gd name="connsiteX29" fmla="*/ 289021 w 513348"/>
                <a:gd name="connsiteY29" fmla="*/ 474524 h 499087"/>
                <a:gd name="connsiteX30" fmla="*/ 256231 w 513348"/>
                <a:gd name="connsiteY30" fmla="*/ 487217 h 499087"/>
                <a:gd name="connsiteX31" fmla="*/ 223434 w 513348"/>
                <a:gd name="connsiteY31" fmla="*/ 474524 h 499087"/>
                <a:gd name="connsiteX32" fmla="*/ 207777 w 513348"/>
                <a:gd name="connsiteY32" fmla="*/ 443088 h 499087"/>
                <a:gd name="connsiteX33" fmla="*/ 217441 w 513348"/>
                <a:gd name="connsiteY33" fmla="*/ 409336 h 499087"/>
                <a:gd name="connsiteX34" fmla="*/ 247363 w 513348"/>
                <a:gd name="connsiteY34" fmla="*/ 390894 h 499087"/>
                <a:gd name="connsiteX35" fmla="*/ 247363 w 513348"/>
                <a:gd name="connsiteY35" fmla="*/ 367151 h 499087"/>
                <a:gd name="connsiteX36" fmla="*/ 237507 w 513348"/>
                <a:gd name="connsiteY36" fmla="*/ 360965 h 499087"/>
                <a:gd name="connsiteX37" fmla="*/ 231308 w 513348"/>
                <a:gd name="connsiteY37" fmla="*/ 351116 h 499087"/>
                <a:gd name="connsiteX38" fmla="*/ 69411 w 513348"/>
                <a:gd name="connsiteY38" fmla="*/ 351116 h 499087"/>
                <a:gd name="connsiteX39" fmla="*/ 69411 w 513348"/>
                <a:gd name="connsiteY39" fmla="*/ 390656 h 499087"/>
                <a:gd name="connsiteX40" fmla="*/ 99339 w 513348"/>
                <a:gd name="connsiteY40" fmla="*/ 409098 h 499087"/>
                <a:gd name="connsiteX41" fmla="*/ 108997 w 513348"/>
                <a:gd name="connsiteY41" fmla="*/ 442851 h 499087"/>
                <a:gd name="connsiteX42" fmla="*/ 93339 w 513348"/>
                <a:gd name="connsiteY42" fmla="*/ 474287 h 499087"/>
                <a:gd name="connsiteX43" fmla="*/ 60550 w 513348"/>
                <a:gd name="connsiteY43" fmla="*/ 486979 h 499087"/>
                <a:gd name="connsiteX44" fmla="*/ 27759 w 513348"/>
                <a:gd name="connsiteY44" fmla="*/ 474287 h 499087"/>
                <a:gd name="connsiteX45" fmla="*/ 12102 w 513348"/>
                <a:gd name="connsiteY45" fmla="*/ 442851 h 499087"/>
                <a:gd name="connsiteX46" fmla="*/ 21759 w 513348"/>
                <a:gd name="connsiteY46" fmla="*/ 409098 h 499087"/>
                <a:gd name="connsiteX47" fmla="*/ 51688 w 513348"/>
                <a:gd name="connsiteY47" fmla="*/ 390656 h 499087"/>
                <a:gd name="connsiteX48" fmla="*/ 51688 w 513348"/>
                <a:gd name="connsiteY48" fmla="*/ 333662 h 499087"/>
                <a:gd name="connsiteX49" fmla="*/ 231308 w 513348"/>
                <a:gd name="connsiteY49" fmla="*/ 333662 h 499087"/>
                <a:gd name="connsiteX50" fmla="*/ 237519 w 513348"/>
                <a:gd name="connsiteY50" fmla="*/ 323786 h 499087"/>
                <a:gd name="connsiteX51" fmla="*/ 247363 w 513348"/>
                <a:gd name="connsiteY51" fmla="*/ 317517 h 499087"/>
                <a:gd name="connsiteX52" fmla="*/ 247363 w 513348"/>
                <a:gd name="connsiteY52" fmla="*/ 288898 h 499087"/>
                <a:gd name="connsiteX53" fmla="*/ 81661 w 513348"/>
                <a:gd name="connsiteY53" fmla="*/ 288898 h 499087"/>
                <a:gd name="connsiteX54" fmla="*/ 81661 w 513348"/>
                <a:gd name="connsiteY54" fmla="*/ 29686 h 499087"/>
                <a:gd name="connsiteX55" fmla="*/ 86891 w 513348"/>
                <a:gd name="connsiteY55" fmla="*/ 17091 h 499087"/>
                <a:gd name="connsiteX56" fmla="*/ 99506 w 513348"/>
                <a:gd name="connsiteY56" fmla="*/ 11874 h 499087"/>
                <a:gd name="connsiteX57" fmla="*/ 189676 w 513348"/>
                <a:gd name="connsiteY57" fmla="*/ 11874 h 499087"/>
                <a:gd name="connsiteX58" fmla="*/ 189676 w 513348"/>
                <a:gd name="connsiteY58" fmla="*/ 0 h 499087"/>
                <a:gd name="connsiteX59" fmla="*/ 99506 w 513348"/>
                <a:gd name="connsiteY59" fmla="*/ 0 h 499087"/>
                <a:gd name="connsiteX60" fmla="*/ 78478 w 513348"/>
                <a:gd name="connsiteY60" fmla="*/ 8695 h 499087"/>
                <a:gd name="connsiteX61" fmla="*/ 69770 w 513348"/>
                <a:gd name="connsiteY61" fmla="*/ 29686 h 499087"/>
                <a:gd name="connsiteX62" fmla="*/ 69770 w 513348"/>
                <a:gd name="connsiteY62" fmla="*/ 300772 h 499087"/>
                <a:gd name="connsiteX63" fmla="*/ 235472 w 513348"/>
                <a:gd name="connsiteY63" fmla="*/ 300772 h 499087"/>
                <a:gd name="connsiteX64" fmla="*/ 235472 w 513348"/>
                <a:gd name="connsiteY64" fmla="*/ 310035 h 499087"/>
                <a:gd name="connsiteX65" fmla="*/ 223575 w 513348"/>
                <a:gd name="connsiteY65" fmla="*/ 321906 h 499087"/>
                <a:gd name="connsiteX66" fmla="*/ 39791 w 513348"/>
                <a:gd name="connsiteY66" fmla="*/ 321906 h 499087"/>
                <a:gd name="connsiteX67" fmla="*/ 39791 w 513348"/>
                <a:gd name="connsiteY67" fmla="*/ 381281 h 499087"/>
                <a:gd name="connsiteX68" fmla="*/ 8092 w 513348"/>
                <a:gd name="connsiteY68" fmla="*/ 407866 h 499087"/>
                <a:gd name="connsiteX69" fmla="*/ 924 w 513348"/>
                <a:gd name="connsiteY69" fmla="*/ 448575 h 499087"/>
                <a:gd name="connsiteX70" fmla="*/ 21638 w 513348"/>
                <a:gd name="connsiteY70" fmla="*/ 484361 h 499087"/>
                <a:gd name="connsiteX71" fmla="*/ 60550 w 513348"/>
                <a:gd name="connsiteY71" fmla="*/ 498491 h 499087"/>
                <a:gd name="connsiteX72" fmla="*/ 99455 w 513348"/>
                <a:gd name="connsiteY72" fmla="*/ 484361 h 499087"/>
                <a:gd name="connsiteX73" fmla="*/ 120175 w 513348"/>
                <a:gd name="connsiteY73" fmla="*/ 448575 h 499087"/>
                <a:gd name="connsiteX74" fmla="*/ 113000 w 513348"/>
                <a:gd name="connsiteY74" fmla="*/ 407866 h 499087"/>
                <a:gd name="connsiteX75" fmla="*/ 81308 w 513348"/>
                <a:gd name="connsiteY75" fmla="*/ 381281 h 499087"/>
                <a:gd name="connsiteX76" fmla="*/ 81308 w 513348"/>
                <a:gd name="connsiteY76" fmla="*/ 362993 h 499087"/>
                <a:gd name="connsiteX77" fmla="*/ 224051 w 513348"/>
                <a:gd name="connsiteY77" fmla="*/ 362993 h 499087"/>
                <a:gd name="connsiteX78" fmla="*/ 235947 w 513348"/>
                <a:gd name="connsiteY78" fmla="*/ 374864 h 499087"/>
                <a:gd name="connsiteX79" fmla="*/ 235947 w 513348"/>
                <a:gd name="connsiteY79" fmla="*/ 381871 h 499087"/>
                <a:gd name="connsiteX80" fmla="*/ 204248 w 513348"/>
                <a:gd name="connsiteY80" fmla="*/ 408463 h 499087"/>
                <a:gd name="connsiteX81" fmla="*/ 197081 w 513348"/>
                <a:gd name="connsiteY81" fmla="*/ 449171 h 499087"/>
                <a:gd name="connsiteX82" fmla="*/ 217794 w 513348"/>
                <a:gd name="connsiteY82" fmla="*/ 484958 h 499087"/>
                <a:gd name="connsiteX83" fmla="*/ 256706 w 513348"/>
                <a:gd name="connsiteY83" fmla="*/ 499088 h 499087"/>
                <a:gd name="connsiteX84" fmla="*/ 295611 w 513348"/>
                <a:gd name="connsiteY84" fmla="*/ 484958 h 499087"/>
                <a:gd name="connsiteX85" fmla="*/ 316325 w 513348"/>
                <a:gd name="connsiteY85" fmla="*/ 449171 h 499087"/>
                <a:gd name="connsiteX86" fmla="*/ 309157 w 513348"/>
                <a:gd name="connsiteY86" fmla="*/ 408463 h 499087"/>
                <a:gd name="connsiteX87" fmla="*/ 277464 w 513348"/>
                <a:gd name="connsiteY87" fmla="*/ 381871 h 499087"/>
                <a:gd name="connsiteX88" fmla="*/ 277464 w 513348"/>
                <a:gd name="connsiteY88" fmla="*/ 374864 h 499087"/>
                <a:gd name="connsiteX89" fmla="*/ 289355 w 513348"/>
                <a:gd name="connsiteY89" fmla="*/ 362993 h 499087"/>
                <a:gd name="connsiteX90" fmla="*/ 432104 w 513348"/>
                <a:gd name="connsiteY90" fmla="*/ 362993 h 499087"/>
                <a:gd name="connsiteX91" fmla="*/ 432104 w 513348"/>
                <a:gd name="connsiteY91" fmla="*/ 381519 h 499087"/>
                <a:gd name="connsiteX92" fmla="*/ 400366 w 513348"/>
                <a:gd name="connsiteY92" fmla="*/ 408084 h 499087"/>
                <a:gd name="connsiteX93" fmla="*/ 393173 w 513348"/>
                <a:gd name="connsiteY93" fmla="*/ 448806 h 499087"/>
                <a:gd name="connsiteX94" fmla="*/ 413880 w 513348"/>
                <a:gd name="connsiteY94" fmla="*/ 484612 h 499087"/>
                <a:gd name="connsiteX95" fmla="*/ 452798 w 513348"/>
                <a:gd name="connsiteY95" fmla="*/ 498754 h 499087"/>
                <a:gd name="connsiteX96" fmla="*/ 491723 w 513348"/>
                <a:gd name="connsiteY96" fmla="*/ 484612 h 499087"/>
                <a:gd name="connsiteX97" fmla="*/ 512430 w 513348"/>
                <a:gd name="connsiteY97" fmla="*/ 448806 h 499087"/>
                <a:gd name="connsiteX98" fmla="*/ 505230 w 513348"/>
                <a:gd name="connsiteY98" fmla="*/ 408084 h 499087"/>
                <a:gd name="connsiteX99" fmla="*/ 473499 w 513348"/>
                <a:gd name="connsiteY99" fmla="*/ 381519 h 499087"/>
                <a:gd name="connsiteX100" fmla="*/ 473499 w 513348"/>
                <a:gd name="connsiteY100" fmla="*/ 321553 h 499087"/>
                <a:gd name="connsiteX101" fmla="*/ 288527 w 513348"/>
                <a:gd name="connsiteY101" fmla="*/ 321553 h 499087"/>
                <a:gd name="connsiteX102" fmla="*/ 276630 w 513348"/>
                <a:gd name="connsiteY102" fmla="*/ 309676 h 499087"/>
                <a:gd name="connsiteX103" fmla="*/ 276630 w 513348"/>
                <a:gd name="connsiteY103" fmla="*/ 300415 h 499087"/>
                <a:gd name="connsiteX104" fmla="*/ 442807 w 513348"/>
                <a:gd name="connsiteY104" fmla="*/ 300415 h 499087"/>
                <a:gd name="connsiteX105" fmla="*/ 442807 w 513348"/>
                <a:gd name="connsiteY105" fmla="*/ 62221 h 499087"/>
                <a:gd name="connsiteX106" fmla="*/ 434061 w 513348"/>
                <a:gd name="connsiteY106" fmla="*/ 41264 h 499087"/>
                <a:gd name="connsiteX107" fmla="*/ 413071 w 513348"/>
                <a:gd name="connsiteY107" fmla="*/ 32535 h 499087"/>
                <a:gd name="connsiteX108" fmla="*/ 228452 w 513348"/>
                <a:gd name="connsiteY108" fmla="*/ 32535 h 499087"/>
                <a:gd name="connsiteX109" fmla="*/ 213463 w 513348"/>
                <a:gd name="connsiteY109" fmla="*/ 11874 h 499087"/>
                <a:gd name="connsiteX110" fmla="*/ 202958 w 513348"/>
                <a:gd name="connsiteY110" fmla="*/ 3159 h 499087"/>
                <a:gd name="connsiteX111" fmla="*/ 189676 w 513348"/>
                <a:gd name="connsiteY111" fmla="*/ 0 h 499087"/>
                <a:gd name="connsiteX112" fmla="*/ 189676 w 513348"/>
                <a:gd name="connsiteY112" fmla="*/ 0 h 49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13348" h="499087">
                  <a:moveTo>
                    <a:pt x="189676" y="11874"/>
                  </a:moveTo>
                  <a:cubicBezTo>
                    <a:pt x="192473" y="11879"/>
                    <a:pt x="195232" y="12536"/>
                    <a:pt x="197729" y="13794"/>
                  </a:cubicBezTo>
                  <a:cubicBezTo>
                    <a:pt x="200231" y="15051"/>
                    <a:pt x="202400" y="16874"/>
                    <a:pt x="204068" y="19118"/>
                  </a:cubicBezTo>
                  <a:lnTo>
                    <a:pt x="222979" y="44410"/>
                  </a:lnTo>
                  <a:lnTo>
                    <a:pt x="413309" y="44410"/>
                  </a:lnTo>
                  <a:cubicBezTo>
                    <a:pt x="418032" y="44440"/>
                    <a:pt x="422549" y="46327"/>
                    <a:pt x="425892" y="49661"/>
                  </a:cubicBezTo>
                  <a:cubicBezTo>
                    <a:pt x="429229" y="52994"/>
                    <a:pt x="431122" y="57506"/>
                    <a:pt x="431148" y="62221"/>
                  </a:cubicBezTo>
                  <a:lnTo>
                    <a:pt x="431148" y="288898"/>
                  </a:lnTo>
                  <a:lnTo>
                    <a:pt x="265093" y="288898"/>
                  </a:lnTo>
                  <a:lnTo>
                    <a:pt x="265093" y="317280"/>
                  </a:lnTo>
                  <a:cubicBezTo>
                    <a:pt x="268802" y="318633"/>
                    <a:pt x="272164" y="320783"/>
                    <a:pt x="274962" y="323574"/>
                  </a:cubicBezTo>
                  <a:cubicBezTo>
                    <a:pt x="277753" y="326359"/>
                    <a:pt x="279903" y="329722"/>
                    <a:pt x="281269" y="333424"/>
                  </a:cubicBezTo>
                  <a:lnTo>
                    <a:pt x="461243" y="333424"/>
                  </a:lnTo>
                  <a:lnTo>
                    <a:pt x="461243" y="390541"/>
                  </a:lnTo>
                  <a:cubicBezTo>
                    <a:pt x="473185" y="392735"/>
                    <a:pt x="483868" y="399300"/>
                    <a:pt x="491203" y="408951"/>
                  </a:cubicBezTo>
                  <a:cubicBezTo>
                    <a:pt x="498544" y="418608"/>
                    <a:pt x="501996" y="430646"/>
                    <a:pt x="500892" y="442716"/>
                  </a:cubicBezTo>
                  <a:cubicBezTo>
                    <a:pt x="499789" y="454780"/>
                    <a:pt x="494212" y="466003"/>
                    <a:pt x="485248" y="474171"/>
                  </a:cubicBezTo>
                  <a:cubicBezTo>
                    <a:pt x="476284" y="482340"/>
                    <a:pt x="464580" y="486870"/>
                    <a:pt x="452445" y="486870"/>
                  </a:cubicBezTo>
                  <a:cubicBezTo>
                    <a:pt x="440304" y="486870"/>
                    <a:pt x="428607" y="482340"/>
                    <a:pt x="419642" y="474171"/>
                  </a:cubicBezTo>
                  <a:cubicBezTo>
                    <a:pt x="410678" y="466003"/>
                    <a:pt x="405095" y="454780"/>
                    <a:pt x="403992" y="442716"/>
                  </a:cubicBezTo>
                  <a:cubicBezTo>
                    <a:pt x="402888" y="430646"/>
                    <a:pt x="406347" y="418608"/>
                    <a:pt x="413681" y="408951"/>
                  </a:cubicBezTo>
                  <a:cubicBezTo>
                    <a:pt x="421016" y="399300"/>
                    <a:pt x="431699" y="392735"/>
                    <a:pt x="443641" y="390541"/>
                  </a:cubicBezTo>
                  <a:lnTo>
                    <a:pt x="443641" y="351116"/>
                  </a:lnTo>
                  <a:lnTo>
                    <a:pt x="281269" y="351116"/>
                  </a:lnTo>
                  <a:cubicBezTo>
                    <a:pt x="279928" y="354818"/>
                    <a:pt x="277779" y="358174"/>
                    <a:pt x="274981" y="360946"/>
                  </a:cubicBezTo>
                  <a:cubicBezTo>
                    <a:pt x="272183" y="363718"/>
                    <a:pt x="268808" y="365836"/>
                    <a:pt x="265093" y="367151"/>
                  </a:cubicBezTo>
                  <a:lnTo>
                    <a:pt x="265093" y="390894"/>
                  </a:lnTo>
                  <a:cubicBezTo>
                    <a:pt x="277022" y="393101"/>
                    <a:pt x="287693" y="399678"/>
                    <a:pt x="295015" y="409336"/>
                  </a:cubicBezTo>
                  <a:cubicBezTo>
                    <a:pt x="302342" y="418993"/>
                    <a:pt x="305788" y="431031"/>
                    <a:pt x="304678" y="443088"/>
                  </a:cubicBezTo>
                  <a:cubicBezTo>
                    <a:pt x="303568" y="455152"/>
                    <a:pt x="297985" y="466362"/>
                    <a:pt x="289021" y="474524"/>
                  </a:cubicBezTo>
                  <a:cubicBezTo>
                    <a:pt x="280057" y="482686"/>
                    <a:pt x="268359" y="487217"/>
                    <a:pt x="256231" y="487217"/>
                  </a:cubicBezTo>
                  <a:cubicBezTo>
                    <a:pt x="244097" y="487217"/>
                    <a:pt x="232399" y="482686"/>
                    <a:pt x="223434" y="474524"/>
                  </a:cubicBezTo>
                  <a:cubicBezTo>
                    <a:pt x="214477" y="466362"/>
                    <a:pt x="208888" y="455152"/>
                    <a:pt x="207777" y="443088"/>
                  </a:cubicBezTo>
                  <a:cubicBezTo>
                    <a:pt x="206667" y="431031"/>
                    <a:pt x="210113" y="418993"/>
                    <a:pt x="217441" y="409336"/>
                  </a:cubicBezTo>
                  <a:cubicBezTo>
                    <a:pt x="224763" y="399678"/>
                    <a:pt x="235434" y="393101"/>
                    <a:pt x="247363" y="390894"/>
                  </a:cubicBezTo>
                  <a:lnTo>
                    <a:pt x="247363" y="367151"/>
                  </a:lnTo>
                  <a:cubicBezTo>
                    <a:pt x="243654" y="365855"/>
                    <a:pt x="240285" y="363737"/>
                    <a:pt x="237507" y="360965"/>
                  </a:cubicBezTo>
                  <a:cubicBezTo>
                    <a:pt x="234722" y="358187"/>
                    <a:pt x="232604" y="354824"/>
                    <a:pt x="231308" y="351116"/>
                  </a:cubicBezTo>
                  <a:lnTo>
                    <a:pt x="69411" y="351116"/>
                  </a:lnTo>
                  <a:lnTo>
                    <a:pt x="69411" y="390656"/>
                  </a:lnTo>
                  <a:cubicBezTo>
                    <a:pt x="81340" y="392864"/>
                    <a:pt x="92011" y="399441"/>
                    <a:pt x="99339" y="409098"/>
                  </a:cubicBezTo>
                  <a:cubicBezTo>
                    <a:pt x="106661" y="418755"/>
                    <a:pt x="110107" y="430793"/>
                    <a:pt x="108997" y="442851"/>
                  </a:cubicBezTo>
                  <a:cubicBezTo>
                    <a:pt x="107886" y="454914"/>
                    <a:pt x="102304" y="466125"/>
                    <a:pt x="93339" y="474287"/>
                  </a:cubicBezTo>
                  <a:cubicBezTo>
                    <a:pt x="84375" y="482449"/>
                    <a:pt x="72684" y="486979"/>
                    <a:pt x="60550" y="486979"/>
                  </a:cubicBezTo>
                  <a:cubicBezTo>
                    <a:pt x="48415" y="486979"/>
                    <a:pt x="36717" y="482449"/>
                    <a:pt x="27759" y="474287"/>
                  </a:cubicBezTo>
                  <a:cubicBezTo>
                    <a:pt x="18795" y="466125"/>
                    <a:pt x="13212" y="454914"/>
                    <a:pt x="12102" y="442851"/>
                  </a:cubicBezTo>
                  <a:cubicBezTo>
                    <a:pt x="10992" y="430793"/>
                    <a:pt x="14438" y="418755"/>
                    <a:pt x="21759" y="409098"/>
                  </a:cubicBezTo>
                  <a:cubicBezTo>
                    <a:pt x="29081" y="399441"/>
                    <a:pt x="39759" y="392864"/>
                    <a:pt x="51688" y="390656"/>
                  </a:cubicBezTo>
                  <a:lnTo>
                    <a:pt x="51688" y="333662"/>
                  </a:lnTo>
                  <a:lnTo>
                    <a:pt x="231308" y="333662"/>
                  </a:lnTo>
                  <a:cubicBezTo>
                    <a:pt x="232623" y="329953"/>
                    <a:pt x="234741" y="326578"/>
                    <a:pt x="237519" y="323786"/>
                  </a:cubicBezTo>
                  <a:cubicBezTo>
                    <a:pt x="240298" y="320995"/>
                    <a:pt x="243660" y="318852"/>
                    <a:pt x="247363" y="317517"/>
                  </a:cubicBezTo>
                  <a:lnTo>
                    <a:pt x="247363" y="288898"/>
                  </a:lnTo>
                  <a:lnTo>
                    <a:pt x="81661" y="288898"/>
                  </a:lnTo>
                  <a:lnTo>
                    <a:pt x="81661" y="29686"/>
                  </a:lnTo>
                  <a:cubicBezTo>
                    <a:pt x="81661" y="24962"/>
                    <a:pt x="83541" y="20431"/>
                    <a:pt x="86891" y="17091"/>
                  </a:cubicBezTo>
                  <a:cubicBezTo>
                    <a:pt x="90234" y="13751"/>
                    <a:pt x="94770" y="11874"/>
                    <a:pt x="99506" y="11874"/>
                  </a:cubicBezTo>
                  <a:lnTo>
                    <a:pt x="189676" y="11874"/>
                  </a:lnTo>
                  <a:close/>
                  <a:moveTo>
                    <a:pt x="189676" y="0"/>
                  </a:moveTo>
                  <a:lnTo>
                    <a:pt x="99506" y="0"/>
                  </a:lnTo>
                  <a:cubicBezTo>
                    <a:pt x="91620" y="0"/>
                    <a:pt x="84054" y="3128"/>
                    <a:pt x="78478" y="8695"/>
                  </a:cubicBezTo>
                  <a:cubicBezTo>
                    <a:pt x="72902" y="14262"/>
                    <a:pt x="69770" y="21813"/>
                    <a:pt x="69770" y="29686"/>
                  </a:cubicBezTo>
                  <a:lnTo>
                    <a:pt x="69770" y="300772"/>
                  </a:lnTo>
                  <a:lnTo>
                    <a:pt x="235472" y="300772"/>
                  </a:lnTo>
                  <a:lnTo>
                    <a:pt x="235472" y="310035"/>
                  </a:lnTo>
                  <a:cubicBezTo>
                    <a:pt x="230673" y="313057"/>
                    <a:pt x="226605" y="317119"/>
                    <a:pt x="223575" y="321906"/>
                  </a:cubicBezTo>
                  <a:lnTo>
                    <a:pt x="39791" y="321906"/>
                  </a:lnTo>
                  <a:lnTo>
                    <a:pt x="39791" y="381281"/>
                  </a:lnTo>
                  <a:cubicBezTo>
                    <a:pt x="26424" y="386145"/>
                    <a:pt x="15202" y="395565"/>
                    <a:pt x="8092" y="407866"/>
                  </a:cubicBezTo>
                  <a:cubicBezTo>
                    <a:pt x="988" y="420174"/>
                    <a:pt x="-1553" y="434586"/>
                    <a:pt x="924" y="448575"/>
                  </a:cubicBezTo>
                  <a:cubicBezTo>
                    <a:pt x="3401" y="462563"/>
                    <a:pt x="10736" y="475237"/>
                    <a:pt x="21638" y="484361"/>
                  </a:cubicBezTo>
                  <a:cubicBezTo>
                    <a:pt x="32540" y="493492"/>
                    <a:pt x="46317" y="498491"/>
                    <a:pt x="60550" y="498491"/>
                  </a:cubicBezTo>
                  <a:cubicBezTo>
                    <a:pt x="74776" y="498491"/>
                    <a:pt x="88552" y="493492"/>
                    <a:pt x="99455" y="484361"/>
                  </a:cubicBezTo>
                  <a:cubicBezTo>
                    <a:pt x="110363" y="475237"/>
                    <a:pt x="117691" y="462563"/>
                    <a:pt x="120175" y="448575"/>
                  </a:cubicBezTo>
                  <a:cubicBezTo>
                    <a:pt x="122652" y="434586"/>
                    <a:pt x="120111" y="420174"/>
                    <a:pt x="113000" y="407866"/>
                  </a:cubicBezTo>
                  <a:cubicBezTo>
                    <a:pt x="105897" y="395565"/>
                    <a:pt x="94674" y="386145"/>
                    <a:pt x="81308" y="381281"/>
                  </a:cubicBezTo>
                  <a:lnTo>
                    <a:pt x="81308" y="362993"/>
                  </a:lnTo>
                  <a:lnTo>
                    <a:pt x="224051" y="362993"/>
                  </a:lnTo>
                  <a:cubicBezTo>
                    <a:pt x="227079" y="367787"/>
                    <a:pt x="231148" y="371842"/>
                    <a:pt x="235947" y="374864"/>
                  </a:cubicBezTo>
                  <a:lnTo>
                    <a:pt x="235947" y="381871"/>
                  </a:lnTo>
                  <a:cubicBezTo>
                    <a:pt x="222581" y="386742"/>
                    <a:pt x="211358" y="396155"/>
                    <a:pt x="204248" y="408463"/>
                  </a:cubicBezTo>
                  <a:cubicBezTo>
                    <a:pt x="197138" y="420770"/>
                    <a:pt x="194604" y="435183"/>
                    <a:pt x="197081" y="449171"/>
                  </a:cubicBezTo>
                  <a:cubicBezTo>
                    <a:pt x="199557" y="463160"/>
                    <a:pt x="206892" y="475827"/>
                    <a:pt x="217794" y="484958"/>
                  </a:cubicBezTo>
                  <a:cubicBezTo>
                    <a:pt x="228696" y="494083"/>
                    <a:pt x="242473" y="499088"/>
                    <a:pt x="256706" y="499088"/>
                  </a:cubicBezTo>
                  <a:cubicBezTo>
                    <a:pt x="270932" y="499088"/>
                    <a:pt x="284709" y="494083"/>
                    <a:pt x="295611" y="484958"/>
                  </a:cubicBezTo>
                  <a:cubicBezTo>
                    <a:pt x="306513" y="475827"/>
                    <a:pt x="313848" y="463160"/>
                    <a:pt x="316325" y="449171"/>
                  </a:cubicBezTo>
                  <a:cubicBezTo>
                    <a:pt x="318802" y="435183"/>
                    <a:pt x="316267" y="420770"/>
                    <a:pt x="309157" y="408463"/>
                  </a:cubicBezTo>
                  <a:cubicBezTo>
                    <a:pt x="302054" y="396155"/>
                    <a:pt x="290831" y="386742"/>
                    <a:pt x="277464" y="381871"/>
                  </a:cubicBezTo>
                  <a:lnTo>
                    <a:pt x="277464" y="374864"/>
                  </a:lnTo>
                  <a:cubicBezTo>
                    <a:pt x="282264" y="371842"/>
                    <a:pt x="286326" y="367787"/>
                    <a:pt x="289355" y="362993"/>
                  </a:cubicBezTo>
                  <a:lnTo>
                    <a:pt x="432104" y="362993"/>
                  </a:lnTo>
                  <a:lnTo>
                    <a:pt x="432104" y="381519"/>
                  </a:lnTo>
                  <a:cubicBezTo>
                    <a:pt x="418725" y="386376"/>
                    <a:pt x="407489" y="395783"/>
                    <a:pt x="400366" y="408084"/>
                  </a:cubicBezTo>
                  <a:cubicBezTo>
                    <a:pt x="393250" y="420392"/>
                    <a:pt x="390702" y="434810"/>
                    <a:pt x="393173" y="448806"/>
                  </a:cubicBezTo>
                  <a:cubicBezTo>
                    <a:pt x="395643" y="462801"/>
                    <a:pt x="402971" y="475474"/>
                    <a:pt x="413880" y="484612"/>
                  </a:cubicBezTo>
                  <a:cubicBezTo>
                    <a:pt x="424782" y="493749"/>
                    <a:pt x="438566" y="498754"/>
                    <a:pt x="452798" y="498754"/>
                  </a:cubicBezTo>
                  <a:cubicBezTo>
                    <a:pt x="467037" y="498754"/>
                    <a:pt x="480814" y="493749"/>
                    <a:pt x="491723" y="484612"/>
                  </a:cubicBezTo>
                  <a:cubicBezTo>
                    <a:pt x="502625" y="475474"/>
                    <a:pt x="509959" y="462801"/>
                    <a:pt x="512430" y="448806"/>
                  </a:cubicBezTo>
                  <a:cubicBezTo>
                    <a:pt x="514900" y="434810"/>
                    <a:pt x="512353" y="420392"/>
                    <a:pt x="505230" y="408084"/>
                  </a:cubicBezTo>
                  <a:cubicBezTo>
                    <a:pt x="498114" y="395783"/>
                    <a:pt x="486878" y="386376"/>
                    <a:pt x="473499" y="381519"/>
                  </a:cubicBezTo>
                  <a:lnTo>
                    <a:pt x="473499" y="321553"/>
                  </a:lnTo>
                  <a:lnTo>
                    <a:pt x="288527" y="321553"/>
                  </a:lnTo>
                  <a:cubicBezTo>
                    <a:pt x="285492" y="316760"/>
                    <a:pt x="281430" y="312704"/>
                    <a:pt x="276630" y="309676"/>
                  </a:cubicBezTo>
                  <a:lnTo>
                    <a:pt x="276630" y="300415"/>
                  </a:lnTo>
                  <a:lnTo>
                    <a:pt x="442807" y="300415"/>
                  </a:lnTo>
                  <a:lnTo>
                    <a:pt x="442807" y="62221"/>
                  </a:lnTo>
                  <a:cubicBezTo>
                    <a:pt x="442775" y="54357"/>
                    <a:pt x="439631" y="46825"/>
                    <a:pt x="434061" y="41264"/>
                  </a:cubicBezTo>
                  <a:cubicBezTo>
                    <a:pt x="428491" y="35704"/>
                    <a:pt x="420945" y="32567"/>
                    <a:pt x="413071" y="32535"/>
                  </a:cubicBezTo>
                  <a:lnTo>
                    <a:pt x="228452" y="32535"/>
                  </a:lnTo>
                  <a:lnTo>
                    <a:pt x="213463" y="11874"/>
                  </a:lnTo>
                  <a:cubicBezTo>
                    <a:pt x="210684" y="8201"/>
                    <a:pt x="207085" y="5219"/>
                    <a:pt x="202958" y="3159"/>
                  </a:cubicBezTo>
                  <a:cubicBezTo>
                    <a:pt x="198832" y="1099"/>
                    <a:pt x="194289" y="19"/>
                    <a:pt x="189676" y="0"/>
                  </a:cubicBezTo>
                  <a:lnTo>
                    <a:pt x="189676" y="0"/>
                  </a:lnTo>
                  <a:close/>
                </a:path>
              </a:pathLst>
            </a:custGeom>
            <a:solidFill>
              <a:srgbClr val="FFFFFF"/>
            </a:solidFill>
            <a:ln w="6417"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A9473C-F523-411B-EB88-087B1263D6A1}"/>
                </a:ext>
              </a:extLst>
            </p:cNvPr>
            <p:cNvSpPr/>
            <p:nvPr/>
          </p:nvSpPr>
          <p:spPr>
            <a:xfrm>
              <a:off x="4646732" y="4470968"/>
              <a:ext cx="489195" cy="475337"/>
            </a:xfrm>
            <a:custGeom>
              <a:avLst/>
              <a:gdLst>
                <a:gd name="connsiteX0" fmla="*/ 449345 w 489195"/>
                <a:gd name="connsiteY0" fmla="*/ 378668 h 475337"/>
                <a:gd name="connsiteX1" fmla="*/ 449345 w 489195"/>
                <a:gd name="connsiteY1" fmla="*/ 321551 h 475337"/>
                <a:gd name="connsiteX2" fmla="*/ 269371 w 489195"/>
                <a:gd name="connsiteY2" fmla="*/ 321551 h 475337"/>
                <a:gd name="connsiteX3" fmla="*/ 263064 w 489195"/>
                <a:gd name="connsiteY3" fmla="*/ 311701 h 475337"/>
                <a:gd name="connsiteX4" fmla="*/ 253195 w 489195"/>
                <a:gd name="connsiteY4" fmla="*/ 305400 h 475337"/>
                <a:gd name="connsiteX5" fmla="*/ 253195 w 489195"/>
                <a:gd name="connsiteY5" fmla="*/ 277023 h 475337"/>
                <a:gd name="connsiteX6" fmla="*/ 419012 w 489195"/>
                <a:gd name="connsiteY6" fmla="*/ 277023 h 475337"/>
                <a:gd name="connsiteX7" fmla="*/ 419012 w 489195"/>
                <a:gd name="connsiteY7" fmla="*/ 50347 h 475337"/>
                <a:gd name="connsiteX8" fmla="*/ 413757 w 489195"/>
                <a:gd name="connsiteY8" fmla="*/ 37786 h 475337"/>
                <a:gd name="connsiteX9" fmla="*/ 401173 w 489195"/>
                <a:gd name="connsiteY9" fmla="*/ 32535 h 475337"/>
                <a:gd name="connsiteX10" fmla="*/ 210843 w 489195"/>
                <a:gd name="connsiteY10" fmla="*/ 32535 h 475337"/>
                <a:gd name="connsiteX11" fmla="*/ 191695 w 489195"/>
                <a:gd name="connsiteY11" fmla="*/ 7243 h 475337"/>
                <a:gd name="connsiteX12" fmla="*/ 185568 w 489195"/>
                <a:gd name="connsiteY12" fmla="*/ 2024 h 475337"/>
                <a:gd name="connsiteX13" fmla="*/ 177777 w 489195"/>
                <a:gd name="connsiteY13" fmla="*/ 0 h 475337"/>
                <a:gd name="connsiteX14" fmla="*/ 87608 w 489195"/>
                <a:gd name="connsiteY14" fmla="*/ 0 h 475337"/>
                <a:gd name="connsiteX15" fmla="*/ 74948 w 489195"/>
                <a:gd name="connsiteY15" fmla="*/ 5210 h 475337"/>
                <a:gd name="connsiteX16" fmla="*/ 69647 w 489195"/>
                <a:gd name="connsiteY16" fmla="*/ 17811 h 475337"/>
                <a:gd name="connsiteX17" fmla="*/ 69647 w 489195"/>
                <a:gd name="connsiteY17" fmla="*/ 277023 h 475337"/>
                <a:gd name="connsiteX18" fmla="*/ 235465 w 489195"/>
                <a:gd name="connsiteY18" fmla="*/ 277023 h 475337"/>
                <a:gd name="connsiteX19" fmla="*/ 235465 w 489195"/>
                <a:gd name="connsiteY19" fmla="*/ 305400 h 475337"/>
                <a:gd name="connsiteX20" fmla="*/ 225622 w 489195"/>
                <a:gd name="connsiteY20" fmla="*/ 311676 h 475337"/>
                <a:gd name="connsiteX21" fmla="*/ 219410 w 489195"/>
                <a:gd name="connsiteY21" fmla="*/ 321551 h 475337"/>
                <a:gd name="connsiteX22" fmla="*/ 39790 w 489195"/>
                <a:gd name="connsiteY22" fmla="*/ 321551 h 475337"/>
                <a:gd name="connsiteX23" fmla="*/ 39790 w 489195"/>
                <a:gd name="connsiteY23" fmla="*/ 378546 h 475337"/>
                <a:gd name="connsiteX24" fmla="*/ 9861 w 489195"/>
                <a:gd name="connsiteY24" fmla="*/ 396988 h 475337"/>
                <a:gd name="connsiteX25" fmla="*/ 204 w 489195"/>
                <a:gd name="connsiteY25" fmla="*/ 430740 h 475337"/>
                <a:gd name="connsiteX26" fmla="*/ 15861 w 489195"/>
                <a:gd name="connsiteY26" fmla="*/ 462176 h 475337"/>
                <a:gd name="connsiteX27" fmla="*/ 48651 w 489195"/>
                <a:gd name="connsiteY27" fmla="*/ 474862 h 475337"/>
                <a:gd name="connsiteX28" fmla="*/ 81441 w 489195"/>
                <a:gd name="connsiteY28" fmla="*/ 462176 h 475337"/>
                <a:gd name="connsiteX29" fmla="*/ 97098 w 489195"/>
                <a:gd name="connsiteY29" fmla="*/ 430740 h 475337"/>
                <a:gd name="connsiteX30" fmla="*/ 87441 w 489195"/>
                <a:gd name="connsiteY30" fmla="*/ 396988 h 475337"/>
                <a:gd name="connsiteX31" fmla="*/ 57513 w 489195"/>
                <a:gd name="connsiteY31" fmla="*/ 378546 h 475337"/>
                <a:gd name="connsiteX32" fmla="*/ 57513 w 489195"/>
                <a:gd name="connsiteY32" fmla="*/ 339242 h 475337"/>
                <a:gd name="connsiteX33" fmla="*/ 219410 w 489195"/>
                <a:gd name="connsiteY33" fmla="*/ 339242 h 475337"/>
                <a:gd name="connsiteX34" fmla="*/ 225609 w 489195"/>
                <a:gd name="connsiteY34" fmla="*/ 349086 h 475337"/>
                <a:gd name="connsiteX35" fmla="*/ 235465 w 489195"/>
                <a:gd name="connsiteY35" fmla="*/ 355272 h 475337"/>
                <a:gd name="connsiteX36" fmla="*/ 235465 w 489195"/>
                <a:gd name="connsiteY36" fmla="*/ 379020 h 475337"/>
                <a:gd name="connsiteX37" fmla="*/ 205543 w 489195"/>
                <a:gd name="connsiteY37" fmla="*/ 397462 h 475337"/>
                <a:gd name="connsiteX38" fmla="*/ 195879 w 489195"/>
                <a:gd name="connsiteY38" fmla="*/ 431215 h 475337"/>
                <a:gd name="connsiteX39" fmla="*/ 211536 w 489195"/>
                <a:gd name="connsiteY39" fmla="*/ 462651 h 475337"/>
                <a:gd name="connsiteX40" fmla="*/ 244333 w 489195"/>
                <a:gd name="connsiteY40" fmla="*/ 475337 h 475337"/>
                <a:gd name="connsiteX41" fmla="*/ 277123 w 489195"/>
                <a:gd name="connsiteY41" fmla="*/ 462651 h 475337"/>
                <a:gd name="connsiteX42" fmla="*/ 292780 w 489195"/>
                <a:gd name="connsiteY42" fmla="*/ 431215 h 475337"/>
                <a:gd name="connsiteX43" fmla="*/ 283123 w 489195"/>
                <a:gd name="connsiteY43" fmla="*/ 397462 h 475337"/>
                <a:gd name="connsiteX44" fmla="*/ 253195 w 489195"/>
                <a:gd name="connsiteY44" fmla="*/ 379020 h 475337"/>
                <a:gd name="connsiteX45" fmla="*/ 253195 w 489195"/>
                <a:gd name="connsiteY45" fmla="*/ 355272 h 475337"/>
                <a:gd name="connsiteX46" fmla="*/ 263083 w 489195"/>
                <a:gd name="connsiteY46" fmla="*/ 349073 h 475337"/>
                <a:gd name="connsiteX47" fmla="*/ 269371 w 489195"/>
                <a:gd name="connsiteY47" fmla="*/ 339242 h 475337"/>
                <a:gd name="connsiteX48" fmla="*/ 431743 w 489195"/>
                <a:gd name="connsiteY48" fmla="*/ 339242 h 475337"/>
                <a:gd name="connsiteX49" fmla="*/ 431743 w 489195"/>
                <a:gd name="connsiteY49" fmla="*/ 378668 h 475337"/>
                <a:gd name="connsiteX50" fmla="*/ 401783 w 489195"/>
                <a:gd name="connsiteY50" fmla="*/ 397077 h 475337"/>
                <a:gd name="connsiteX51" fmla="*/ 392094 w 489195"/>
                <a:gd name="connsiteY51" fmla="*/ 430843 h 475337"/>
                <a:gd name="connsiteX52" fmla="*/ 407744 w 489195"/>
                <a:gd name="connsiteY52" fmla="*/ 462298 h 475337"/>
                <a:gd name="connsiteX53" fmla="*/ 440547 w 489195"/>
                <a:gd name="connsiteY53" fmla="*/ 474997 h 475337"/>
                <a:gd name="connsiteX54" fmla="*/ 473350 w 489195"/>
                <a:gd name="connsiteY54" fmla="*/ 462298 h 475337"/>
                <a:gd name="connsiteX55" fmla="*/ 488994 w 489195"/>
                <a:gd name="connsiteY55" fmla="*/ 430843 h 475337"/>
                <a:gd name="connsiteX56" fmla="*/ 479305 w 489195"/>
                <a:gd name="connsiteY56" fmla="*/ 397077 h 475337"/>
                <a:gd name="connsiteX57" fmla="*/ 449345 w 489195"/>
                <a:gd name="connsiteY57" fmla="*/ 378668 h 475337"/>
                <a:gd name="connsiteX58" fmla="*/ 87370 w 489195"/>
                <a:gd name="connsiteY58" fmla="*/ 17811 h 475337"/>
                <a:gd name="connsiteX59" fmla="*/ 177777 w 489195"/>
                <a:gd name="connsiteY59" fmla="*/ 17811 h 475337"/>
                <a:gd name="connsiteX60" fmla="*/ 201565 w 489195"/>
                <a:gd name="connsiteY60" fmla="*/ 50347 h 475337"/>
                <a:gd name="connsiteX61" fmla="*/ 401289 w 489195"/>
                <a:gd name="connsiteY61" fmla="*/ 50347 h 475337"/>
                <a:gd name="connsiteX62" fmla="*/ 401289 w 489195"/>
                <a:gd name="connsiteY62" fmla="*/ 259450 h 475337"/>
                <a:gd name="connsiteX63" fmla="*/ 87370 w 489195"/>
                <a:gd name="connsiteY63" fmla="*/ 259450 h 475337"/>
                <a:gd name="connsiteX64" fmla="*/ 87370 w 489195"/>
                <a:gd name="connsiteY64" fmla="*/ 17811 h 475337"/>
                <a:gd name="connsiteX65" fmla="*/ 17067 w 489195"/>
                <a:gd name="connsiteY65" fmla="*/ 426402 h 475337"/>
                <a:gd name="connsiteX66" fmla="*/ 22278 w 489195"/>
                <a:gd name="connsiteY66" fmla="*/ 409250 h 475337"/>
                <a:gd name="connsiteX67" fmla="*/ 36158 w 489195"/>
                <a:gd name="connsiteY67" fmla="*/ 397880 h 475337"/>
                <a:gd name="connsiteX68" fmla="*/ 54029 w 489195"/>
                <a:gd name="connsiteY68" fmla="*/ 396121 h 475337"/>
                <a:gd name="connsiteX69" fmla="*/ 69865 w 489195"/>
                <a:gd name="connsiteY69" fmla="*/ 404572 h 475337"/>
                <a:gd name="connsiteX70" fmla="*/ 78329 w 489195"/>
                <a:gd name="connsiteY70" fmla="*/ 420377 h 475337"/>
                <a:gd name="connsiteX71" fmla="*/ 76571 w 489195"/>
                <a:gd name="connsiteY71" fmla="*/ 438216 h 475337"/>
                <a:gd name="connsiteX72" fmla="*/ 65181 w 489195"/>
                <a:gd name="connsiteY72" fmla="*/ 452070 h 475337"/>
                <a:gd name="connsiteX73" fmla="*/ 47997 w 489195"/>
                <a:gd name="connsiteY73" fmla="*/ 457274 h 475337"/>
                <a:gd name="connsiteX74" fmla="*/ 36158 w 489195"/>
                <a:gd name="connsiteY74" fmla="*/ 454925 h 475337"/>
                <a:gd name="connsiteX75" fmla="*/ 26128 w 489195"/>
                <a:gd name="connsiteY75" fmla="*/ 448233 h 475337"/>
                <a:gd name="connsiteX76" fmla="*/ 19422 w 489195"/>
                <a:gd name="connsiteY76" fmla="*/ 438216 h 475337"/>
                <a:gd name="connsiteX77" fmla="*/ 17067 w 489195"/>
                <a:gd name="connsiteY77" fmla="*/ 426402 h 475337"/>
                <a:gd name="connsiteX78" fmla="*/ 244391 w 489195"/>
                <a:gd name="connsiteY78" fmla="*/ 339242 h 475337"/>
                <a:gd name="connsiteX79" fmla="*/ 238115 w 489195"/>
                <a:gd name="connsiteY79" fmla="*/ 336599 h 475337"/>
                <a:gd name="connsiteX80" fmla="*/ 235465 w 489195"/>
                <a:gd name="connsiteY80" fmla="*/ 330336 h 475337"/>
                <a:gd name="connsiteX81" fmla="*/ 238121 w 489195"/>
                <a:gd name="connsiteY81" fmla="*/ 324118 h 475337"/>
                <a:gd name="connsiteX82" fmla="*/ 244391 w 489195"/>
                <a:gd name="connsiteY82" fmla="*/ 321551 h 475337"/>
                <a:gd name="connsiteX83" fmla="*/ 250615 w 489195"/>
                <a:gd name="connsiteY83" fmla="*/ 324124 h 475337"/>
                <a:gd name="connsiteX84" fmla="*/ 253195 w 489195"/>
                <a:gd name="connsiteY84" fmla="*/ 330336 h 475337"/>
                <a:gd name="connsiteX85" fmla="*/ 250621 w 489195"/>
                <a:gd name="connsiteY85" fmla="*/ 336592 h 475337"/>
                <a:gd name="connsiteX86" fmla="*/ 244391 w 489195"/>
                <a:gd name="connsiteY86" fmla="*/ 339242 h 475337"/>
                <a:gd name="connsiteX87" fmla="*/ 244391 w 489195"/>
                <a:gd name="connsiteY87" fmla="*/ 339242 h 475337"/>
                <a:gd name="connsiteX88" fmla="*/ 244391 w 489195"/>
                <a:gd name="connsiteY88" fmla="*/ 457274 h 475337"/>
                <a:gd name="connsiteX89" fmla="*/ 227206 w 489195"/>
                <a:gd name="connsiteY89" fmla="*/ 452070 h 475337"/>
                <a:gd name="connsiteX90" fmla="*/ 215816 w 489195"/>
                <a:gd name="connsiteY90" fmla="*/ 438216 h 475337"/>
                <a:gd name="connsiteX91" fmla="*/ 214058 w 489195"/>
                <a:gd name="connsiteY91" fmla="*/ 420377 h 475337"/>
                <a:gd name="connsiteX92" fmla="*/ 222522 w 489195"/>
                <a:gd name="connsiteY92" fmla="*/ 404572 h 475337"/>
                <a:gd name="connsiteX93" fmla="*/ 238359 w 489195"/>
                <a:gd name="connsiteY93" fmla="*/ 396121 h 475337"/>
                <a:gd name="connsiteX94" fmla="*/ 256223 w 489195"/>
                <a:gd name="connsiteY94" fmla="*/ 397880 h 475337"/>
                <a:gd name="connsiteX95" fmla="*/ 270103 w 489195"/>
                <a:gd name="connsiteY95" fmla="*/ 409250 h 475337"/>
                <a:gd name="connsiteX96" fmla="*/ 275320 w 489195"/>
                <a:gd name="connsiteY96" fmla="*/ 426402 h 475337"/>
                <a:gd name="connsiteX97" fmla="*/ 272965 w 489195"/>
                <a:gd name="connsiteY97" fmla="*/ 438216 h 475337"/>
                <a:gd name="connsiteX98" fmla="*/ 266259 w 489195"/>
                <a:gd name="connsiteY98" fmla="*/ 448233 h 475337"/>
                <a:gd name="connsiteX99" fmla="*/ 256223 w 489195"/>
                <a:gd name="connsiteY99" fmla="*/ 454925 h 475337"/>
                <a:gd name="connsiteX100" fmla="*/ 244391 w 489195"/>
                <a:gd name="connsiteY100" fmla="*/ 457274 h 475337"/>
                <a:gd name="connsiteX101" fmla="*/ 244391 w 489195"/>
                <a:gd name="connsiteY101" fmla="*/ 457274 h 475337"/>
                <a:gd name="connsiteX102" fmla="*/ 409618 w 489195"/>
                <a:gd name="connsiteY102" fmla="*/ 426402 h 475337"/>
                <a:gd name="connsiteX103" fmla="*/ 414828 w 489195"/>
                <a:gd name="connsiteY103" fmla="*/ 409250 h 475337"/>
                <a:gd name="connsiteX104" fmla="*/ 428708 w 489195"/>
                <a:gd name="connsiteY104" fmla="*/ 397880 h 475337"/>
                <a:gd name="connsiteX105" fmla="*/ 446579 w 489195"/>
                <a:gd name="connsiteY105" fmla="*/ 396121 h 475337"/>
                <a:gd name="connsiteX106" fmla="*/ 462416 w 489195"/>
                <a:gd name="connsiteY106" fmla="*/ 404572 h 475337"/>
                <a:gd name="connsiteX107" fmla="*/ 470879 w 489195"/>
                <a:gd name="connsiteY107" fmla="*/ 420377 h 475337"/>
                <a:gd name="connsiteX108" fmla="*/ 469121 w 489195"/>
                <a:gd name="connsiteY108" fmla="*/ 438216 h 475337"/>
                <a:gd name="connsiteX109" fmla="*/ 457725 w 489195"/>
                <a:gd name="connsiteY109" fmla="*/ 452070 h 475337"/>
                <a:gd name="connsiteX110" fmla="*/ 440547 w 489195"/>
                <a:gd name="connsiteY110" fmla="*/ 457274 h 475337"/>
                <a:gd name="connsiteX111" fmla="*/ 428708 w 489195"/>
                <a:gd name="connsiteY111" fmla="*/ 454925 h 475337"/>
                <a:gd name="connsiteX112" fmla="*/ 418679 w 489195"/>
                <a:gd name="connsiteY112" fmla="*/ 448233 h 475337"/>
                <a:gd name="connsiteX113" fmla="*/ 411973 w 489195"/>
                <a:gd name="connsiteY113" fmla="*/ 438216 h 475337"/>
                <a:gd name="connsiteX114" fmla="*/ 409618 w 489195"/>
                <a:gd name="connsiteY114" fmla="*/ 426402 h 47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489195" h="475337">
                  <a:moveTo>
                    <a:pt x="449345" y="378668"/>
                  </a:moveTo>
                  <a:lnTo>
                    <a:pt x="449345" y="321551"/>
                  </a:lnTo>
                  <a:lnTo>
                    <a:pt x="269371" y="321551"/>
                  </a:lnTo>
                  <a:cubicBezTo>
                    <a:pt x="268005" y="317849"/>
                    <a:pt x="265855" y="314486"/>
                    <a:pt x="263064" y="311701"/>
                  </a:cubicBezTo>
                  <a:cubicBezTo>
                    <a:pt x="260266" y="308910"/>
                    <a:pt x="256904" y="306760"/>
                    <a:pt x="253195" y="305400"/>
                  </a:cubicBezTo>
                  <a:lnTo>
                    <a:pt x="253195" y="277023"/>
                  </a:lnTo>
                  <a:lnTo>
                    <a:pt x="419012" y="277023"/>
                  </a:lnTo>
                  <a:lnTo>
                    <a:pt x="419012" y="50347"/>
                  </a:lnTo>
                  <a:cubicBezTo>
                    <a:pt x="418980" y="45632"/>
                    <a:pt x="417094" y="41120"/>
                    <a:pt x="413757" y="37786"/>
                  </a:cubicBezTo>
                  <a:cubicBezTo>
                    <a:pt x="410414" y="34453"/>
                    <a:pt x="405896" y="32566"/>
                    <a:pt x="401173" y="32535"/>
                  </a:cubicBezTo>
                  <a:lnTo>
                    <a:pt x="210843" y="32535"/>
                  </a:lnTo>
                  <a:lnTo>
                    <a:pt x="191695" y="7243"/>
                  </a:lnTo>
                  <a:cubicBezTo>
                    <a:pt x="190072" y="5064"/>
                    <a:pt x="187980" y="3279"/>
                    <a:pt x="185568" y="2024"/>
                  </a:cubicBezTo>
                  <a:cubicBezTo>
                    <a:pt x="183155" y="769"/>
                    <a:pt x="180492" y="78"/>
                    <a:pt x="177777" y="0"/>
                  </a:cubicBezTo>
                  <a:lnTo>
                    <a:pt x="87608" y="0"/>
                  </a:lnTo>
                  <a:cubicBezTo>
                    <a:pt x="82866" y="0"/>
                    <a:pt x="78316" y="1873"/>
                    <a:pt x="74948" y="5210"/>
                  </a:cubicBezTo>
                  <a:cubicBezTo>
                    <a:pt x="71585" y="8547"/>
                    <a:pt x="69679" y="13077"/>
                    <a:pt x="69647" y="17811"/>
                  </a:cubicBezTo>
                  <a:lnTo>
                    <a:pt x="69647" y="277023"/>
                  </a:lnTo>
                  <a:lnTo>
                    <a:pt x="235465" y="277023"/>
                  </a:lnTo>
                  <a:lnTo>
                    <a:pt x="235465" y="305400"/>
                  </a:lnTo>
                  <a:cubicBezTo>
                    <a:pt x="231762" y="306741"/>
                    <a:pt x="228400" y="308884"/>
                    <a:pt x="225622" y="311676"/>
                  </a:cubicBezTo>
                  <a:cubicBezTo>
                    <a:pt x="222843" y="314467"/>
                    <a:pt x="220725" y="317842"/>
                    <a:pt x="219410" y="321551"/>
                  </a:cubicBezTo>
                  <a:lnTo>
                    <a:pt x="39790" y="321551"/>
                  </a:lnTo>
                  <a:lnTo>
                    <a:pt x="39790" y="378546"/>
                  </a:lnTo>
                  <a:cubicBezTo>
                    <a:pt x="27861" y="380753"/>
                    <a:pt x="17183" y="387330"/>
                    <a:pt x="9861" y="396988"/>
                  </a:cubicBezTo>
                  <a:cubicBezTo>
                    <a:pt x="2540" y="406645"/>
                    <a:pt x="-906" y="418683"/>
                    <a:pt x="204" y="430740"/>
                  </a:cubicBezTo>
                  <a:cubicBezTo>
                    <a:pt x="1314" y="442804"/>
                    <a:pt x="6897" y="454014"/>
                    <a:pt x="15861" y="462176"/>
                  </a:cubicBezTo>
                  <a:cubicBezTo>
                    <a:pt x="24819" y="470339"/>
                    <a:pt x="36517" y="474862"/>
                    <a:pt x="48651" y="474862"/>
                  </a:cubicBezTo>
                  <a:cubicBezTo>
                    <a:pt x="60785" y="474862"/>
                    <a:pt x="72477" y="470339"/>
                    <a:pt x="81441" y="462176"/>
                  </a:cubicBezTo>
                  <a:cubicBezTo>
                    <a:pt x="90406" y="454014"/>
                    <a:pt x="95988" y="442804"/>
                    <a:pt x="97098" y="430740"/>
                  </a:cubicBezTo>
                  <a:cubicBezTo>
                    <a:pt x="98209" y="418683"/>
                    <a:pt x="94763" y="406645"/>
                    <a:pt x="87441" y="396988"/>
                  </a:cubicBezTo>
                  <a:cubicBezTo>
                    <a:pt x="80113" y="387330"/>
                    <a:pt x="69442" y="380753"/>
                    <a:pt x="57513" y="378546"/>
                  </a:cubicBezTo>
                  <a:lnTo>
                    <a:pt x="57513" y="339242"/>
                  </a:lnTo>
                  <a:lnTo>
                    <a:pt x="219410" y="339242"/>
                  </a:lnTo>
                  <a:cubicBezTo>
                    <a:pt x="220706" y="342951"/>
                    <a:pt x="222824" y="346314"/>
                    <a:pt x="225609" y="349086"/>
                  </a:cubicBezTo>
                  <a:cubicBezTo>
                    <a:pt x="228387" y="351864"/>
                    <a:pt x="231756" y="353975"/>
                    <a:pt x="235465" y="355272"/>
                  </a:cubicBezTo>
                  <a:lnTo>
                    <a:pt x="235465" y="379020"/>
                  </a:lnTo>
                  <a:cubicBezTo>
                    <a:pt x="223536" y="381228"/>
                    <a:pt x="212865" y="387805"/>
                    <a:pt x="205543" y="397462"/>
                  </a:cubicBezTo>
                  <a:cubicBezTo>
                    <a:pt x="198215" y="407120"/>
                    <a:pt x="194769" y="419158"/>
                    <a:pt x="195879" y="431215"/>
                  </a:cubicBezTo>
                  <a:cubicBezTo>
                    <a:pt x="196989" y="443279"/>
                    <a:pt x="202579" y="454489"/>
                    <a:pt x="211536" y="462651"/>
                  </a:cubicBezTo>
                  <a:cubicBezTo>
                    <a:pt x="220501" y="470813"/>
                    <a:pt x="232199" y="475337"/>
                    <a:pt x="244333" y="475337"/>
                  </a:cubicBezTo>
                  <a:cubicBezTo>
                    <a:pt x="256461" y="475337"/>
                    <a:pt x="268159" y="470813"/>
                    <a:pt x="277123" y="462651"/>
                  </a:cubicBezTo>
                  <a:cubicBezTo>
                    <a:pt x="286087" y="454489"/>
                    <a:pt x="291670" y="443279"/>
                    <a:pt x="292780" y="431215"/>
                  </a:cubicBezTo>
                  <a:cubicBezTo>
                    <a:pt x="293890" y="419158"/>
                    <a:pt x="290444" y="407120"/>
                    <a:pt x="283123" y="397462"/>
                  </a:cubicBezTo>
                  <a:cubicBezTo>
                    <a:pt x="275795" y="387805"/>
                    <a:pt x="265123" y="381228"/>
                    <a:pt x="253195" y="379020"/>
                  </a:cubicBezTo>
                  <a:lnTo>
                    <a:pt x="253195" y="355272"/>
                  </a:lnTo>
                  <a:cubicBezTo>
                    <a:pt x="256910" y="353963"/>
                    <a:pt x="260285" y="351845"/>
                    <a:pt x="263083" y="349073"/>
                  </a:cubicBezTo>
                  <a:cubicBezTo>
                    <a:pt x="265881" y="346301"/>
                    <a:pt x="268030" y="342945"/>
                    <a:pt x="269371" y="339242"/>
                  </a:cubicBezTo>
                  <a:lnTo>
                    <a:pt x="431743" y="339242"/>
                  </a:lnTo>
                  <a:lnTo>
                    <a:pt x="431743" y="378668"/>
                  </a:lnTo>
                  <a:cubicBezTo>
                    <a:pt x="419801" y="380856"/>
                    <a:pt x="409117" y="387427"/>
                    <a:pt x="401783" y="397077"/>
                  </a:cubicBezTo>
                  <a:cubicBezTo>
                    <a:pt x="394449" y="406735"/>
                    <a:pt x="390990" y="418773"/>
                    <a:pt x="392094" y="430843"/>
                  </a:cubicBezTo>
                  <a:cubicBezTo>
                    <a:pt x="393197" y="442907"/>
                    <a:pt x="398780" y="454130"/>
                    <a:pt x="407744" y="462298"/>
                  </a:cubicBezTo>
                  <a:cubicBezTo>
                    <a:pt x="416709" y="470467"/>
                    <a:pt x="428406" y="474997"/>
                    <a:pt x="440547" y="474997"/>
                  </a:cubicBezTo>
                  <a:cubicBezTo>
                    <a:pt x="452681" y="474997"/>
                    <a:pt x="464386" y="470467"/>
                    <a:pt x="473350" y="462298"/>
                  </a:cubicBezTo>
                  <a:cubicBezTo>
                    <a:pt x="482314" y="454130"/>
                    <a:pt x="487890" y="442907"/>
                    <a:pt x="488994" y="430843"/>
                  </a:cubicBezTo>
                  <a:cubicBezTo>
                    <a:pt x="490098" y="418773"/>
                    <a:pt x="486646" y="406735"/>
                    <a:pt x="479305" y="397077"/>
                  </a:cubicBezTo>
                  <a:cubicBezTo>
                    <a:pt x="471970" y="387427"/>
                    <a:pt x="461286" y="380856"/>
                    <a:pt x="449345" y="378668"/>
                  </a:cubicBezTo>
                  <a:close/>
                  <a:moveTo>
                    <a:pt x="87370" y="17811"/>
                  </a:moveTo>
                  <a:lnTo>
                    <a:pt x="177777" y="17811"/>
                  </a:lnTo>
                  <a:lnTo>
                    <a:pt x="201565" y="50347"/>
                  </a:lnTo>
                  <a:lnTo>
                    <a:pt x="401289" y="50347"/>
                  </a:lnTo>
                  <a:lnTo>
                    <a:pt x="401289" y="259450"/>
                  </a:lnTo>
                  <a:lnTo>
                    <a:pt x="87370" y="259450"/>
                  </a:lnTo>
                  <a:lnTo>
                    <a:pt x="87370" y="17811"/>
                  </a:lnTo>
                  <a:close/>
                  <a:moveTo>
                    <a:pt x="17067" y="426402"/>
                  </a:moveTo>
                  <a:cubicBezTo>
                    <a:pt x="17067" y="420294"/>
                    <a:pt x="18884" y="414326"/>
                    <a:pt x="22278" y="409250"/>
                  </a:cubicBezTo>
                  <a:cubicBezTo>
                    <a:pt x="25679" y="404168"/>
                    <a:pt x="30511" y="400215"/>
                    <a:pt x="36158" y="397880"/>
                  </a:cubicBezTo>
                  <a:cubicBezTo>
                    <a:pt x="41811" y="395544"/>
                    <a:pt x="48029" y="394928"/>
                    <a:pt x="54029" y="396121"/>
                  </a:cubicBezTo>
                  <a:cubicBezTo>
                    <a:pt x="60028" y="397315"/>
                    <a:pt x="65540" y="400254"/>
                    <a:pt x="69865" y="404572"/>
                  </a:cubicBezTo>
                  <a:cubicBezTo>
                    <a:pt x="74190" y="408884"/>
                    <a:pt x="77136" y="414390"/>
                    <a:pt x="78329" y="420377"/>
                  </a:cubicBezTo>
                  <a:cubicBezTo>
                    <a:pt x="79523" y="426364"/>
                    <a:pt x="78913" y="432575"/>
                    <a:pt x="76571" y="438216"/>
                  </a:cubicBezTo>
                  <a:cubicBezTo>
                    <a:pt x="74229" y="443856"/>
                    <a:pt x="70263" y="448675"/>
                    <a:pt x="65181" y="452070"/>
                  </a:cubicBezTo>
                  <a:cubicBezTo>
                    <a:pt x="60093" y="455464"/>
                    <a:pt x="54112" y="457274"/>
                    <a:pt x="47997" y="457274"/>
                  </a:cubicBezTo>
                  <a:cubicBezTo>
                    <a:pt x="43935" y="457274"/>
                    <a:pt x="39911" y="456472"/>
                    <a:pt x="36158" y="454925"/>
                  </a:cubicBezTo>
                  <a:cubicBezTo>
                    <a:pt x="32410" y="453372"/>
                    <a:pt x="28996" y="451094"/>
                    <a:pt x="26128" y="448233"/>
                  </a:cubicBezTo>
                  <a:cubicBezTo>
                    <a:pt x="23253" y="445364"/>
                    <a:pt x="20975" y="441963"/>
                    <a:pt x="19422" y="438216"/>
                  </a:cubicBezTo>
                  <a:cubicBezTo>
                    <a:pt x="17870" y="434468"/>
                    <a:pt x="17067" y="430451"/>
                    <a:pt x="17067" y="426402"/>
                  </a:cubicBezTo>
                  <a:close/>
                  <a:moveTo>
                    <a:pt x="244391" y="339242"/>
                  </a:moveTo>
                  <a:cubicBezTo>
                    <a:pt x="242036" y="339210"/>
                    <a:pt x="239783" y="338267"/>
                    <a:pt x="238115" y="336599"/>
                  </a:cubicBezTo>
                  <a:cubicBezTo>
                    <a:pt x="236446" y="334937"/>
                    <a:pt x="235497" y="332691"/>
                    <a:pt x="235465" y="330336"/>
                  </a:cubicBezTo>
                  <a:cubicBezTo>
                    <a:pt x="235497" y="328000"/>
                    <a:pt x="236453" y="325761"/>
                    <a:pt x="238121" y="324118"/>
                  </a:cubicBezTo>
                  <a:cubicBezTo>
                    <a:pt x="239790" y="322475"/>
                    <a:pt x="242042" y="321551"/>
                    <a:pt x="244391" y="321551"/>
                  </a:cubicBezTo>
                  <a:cubicBezTo>
                    <a:pt x="246727" y="321551"/>
                    <a:pt x="248966" y="322475"/>
                    <a:pt x="250615" y="324124"/>
                  </a:cubicBezTo>
                  <a:cubicBezTo>
                    <a:pt x="252264" y="325773"/>
                    <a:pt x="253195" y="328007"/>
                    <a:pt x="253195" y="330336"/>
                  </a:cubicBezTo>
                  <a:cubicBezTo>
                    <a:pt x="253195" y="332678"/>
                    <a:pt x="252270" y="334930"/>
                    <a:pt x="250621" y="336592"/>
                  </a:cubicBezTo>
                  <a:cubicBezTo>
                    <a:pt x="248972" y="338261"/>
                    <a:pt x="246733" y="339210"/>
                    <a:pt x="244391" y="339242"/>
                  </a:cubicBezTo>
                  <a:lnTo>
                    <a:pt x="244391" y="339242"/>
                  </a:lnTo>
                  <a:close/>
                  <a:moveTo>
                    <a:pt x="244391" y="457274"/>
                  </a:moveTo>
                  <a:cubicBezTo>
                    <a:pt x="238275" y="457274"/>
                    <a:pt x="232295" y="455464"/>
                    <a:pt x="227206" y="452070"/>
                  </a:cubicBezTo>
                  <a:cubicBezTo>
                    <a:pt x="222118" y="448675"/>
                    <a:pt x="218159" y="443856"/>
                    <a:pt x="215816" y="438216"/>
                  </a:cubicBezTo>
                  <a:cubicBezTo>
                    <a:pt x="213474" y="432575"/>
                    <a:pt x="212865" y="426364"/>
                    <a:pt x="214058" y="420377"/>
                  </a:cubicBezTo>
                  <a:cubicBezTo>
                    <a:pt x="215252" y="414390"/>
                    <a:pt x="218197" y="408884"/>
                    <a:pt x="222522" y="404572"/>
                  </a:cubicBezTo>
                  <a:cubicBezTo>
                    <a:pt x="226847" y="400254"/>
                    <a:pt x="232359" y="397315"/>
                    <a:pt x="238359" y="396121"/>
                  </a:cubicBezTo>
                  <a:cubicBezTo>
                    <a:pt x="244352" y="394928"/>
                    <a:pt x="250576" y="395544"/>
                    <a:pt x="256223" y="397880"/>
                  </a:cubicBezTo>
                  <a:cubicBezTo>
                    <a:pt x="261876" y="400215"/>
                    <a:pt x="266708" y="404168"/>
                    <a:pt x="270103" y="409250"/>
                  </a:cubicBezTo>
                  <a:cubicBezTo>
                    <a:pt x="273504" y="414326"/>
                    <a:pt x="275320" y="420294"/>
                    <a:pt x="275320" y="426402"/>
                  </a:cubicBezTo>
                  <a:cubicBezTo>
                    <a:pt x="275320" y="430451"/>
                    <a:pt x="274518" y="434468"/>
                    <a:pt x="272965" y="438216"/>
                  </a:cubicBezTo>
                  <a:cubicBezTo>
                    <a:pt x="271412" y="441963"/>
                    <a:pt x="269134" y="445364"/>
                    <a:pt x="266259" y="448233"/>
                  </a:cubicBezTo>
                  <a:cubicBezTo>
                    <a:pt x="263384" y="451094"/>
                    <a:pt x="259977" y="453372"/>
                    <a:pt x="256223" y="454925"/>
                  </a:cubicBezTo>
                  <a:cubicBezTo>
                    <a:pt x="252476" y="456472"/>
                    <a:pt x="248453" y="457274"/>
                    <a:pt x="244391" y="457274"/>
                  </a:cubicBezTo>
                  <a:lnTo>
                    <a:pt x="244391" y="457274"/>
                  </a:lnTo>
                  <a:close/>
                  <a:moveTo>
                    <a:pt x="409618" y="426402"/>
                  </a:moveTo>
                  <a:cubicBezTo>
                    <a:pt x="409618" y="420294"/>
                    <a:pt x="411434" y="414326"/>
                    <a:pt x="414828" y="409250"/>
                  </a:cubicBezTo>
                  <a:cubicBezTo>
                    <a:pt x="418229" y="404168"/>
                    <a:pt x="423061" y="400215"/>
                    <a:pt x="428708" y="397880"/>
                  </a:cubicBezTo>
                  <a:cubicBezTo>
                    <a:pt x="434361" y="395544"/>
                    <a:pt x="440579" y="394928"/>
                    <a:pt x="446579" y="396121"/>
                  </a:cubicBezTo>
                  <a:cubicBezTo>
                    <a:pt x="452579" y="397315"/>
                    <a:pt x="458091" y="400254"/>
                    <a:pt x="462416" y="404572"/>
                  </a:cubicBezTo>
                  <a:cubicBezTo>
                    <a:pt x="466741" y="408884"/>
                    <a:pt x="469686" y="414390"/>
                    <a:pt x="470879" y="420377"/>
                  </a:cubicBezTo>
                  <a:cubicBezTo>
                    <a:pt x="472073" y="426364"/>
                    <a:pt x="471457" y="432575"/>
                    <a:pt x="469121" y="438216"/>
                  </a:cubicBezTo>
                  <a:cubicBezTo>
                    <a:pt x="466779" y="443856"/>
                    <a:pt x="462814" y="448675"/>
                    <a:pt x="457725" y="452070"/>
                  </a:cubicBezTo>
                  <a:cubicBezTo>
                    <a:pt x="452643" y="455464"/>
                    <a:pt x="446662" y="457274"/>
                    <a:pt x="440547" y="457274"/>
                  </a:cubicBezTo>
                  <a:cubicBezTo>
                    <a:pt x="436485" y="457274"/>
                    <a:pt x="432462" y="456472"/>
                    <a:pt x="428708" y="454925"/>
                  </a:cubicBezTo>
                  <a:cubicBezTo>
                    <a:pt x="424954" y="453372"/>
                    <a:pt x="421547" y="451094"/>
                    <a:pt x="418679" y="448233"/>
                  </a:cubicBezTo>
                  <a:cubicBezTo>
                    <a:pt x="415804" y="445364"/>
                    <a:pt x="413526" y="441963"/>
                    <a:pt x="411973" y="438216"/>
                  </a:cubicBezTo>
                  <a:cubicBezTo>
                    <a:pt x="410420" y="434468"/>
                    <a:pt x="409618" y="430451"/>
                    <a:pt x="409618" y="426402"/>
                  </a:cubicBezTo>
                  <a:close/>
                </a:path>
              </a:pathLst>
            </a:custGeom>
            <a:solidFill>
              <a:srgbClr val="2D5967"/>
            </a:solidFill>
            <a:ln w="6417"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C4C07E4-52C8-8FC5-1B69-308B7ECF747C}"/>
                </a:ext>
              </a:extLst>
            </p:cNvPr>
            <p:cNvSpPr/>
            <p:nvPr/>
          </p:nvSpPr>
          <p:spPr>
            <a:xfrm>
              <a:off x="4807145" y="4542177"/>
              <a:ext cx="167967" cy="167681"/>
            </a:xfrm>
            <a:custGeom>
              <a:avLst/>
              <a:gdLst>
                <a:gd name="connsiteX0" fmla="*/ 167967 w 167967"/>
                <a:gd name="connsiteY0" fmla="*/ 133954 h 167681"/>
                <a:gd name="connsiteX1" fmla="*/ 167967 w 167967"/>
                <a:gd name="connsiteY1" fmla="*/ 33499 h 167681"/>
                <a:gd name="connsiteX2" fmla="*/ 167967 w 167967"/>
                <a:gd name="connsiteY2" fmla="*/ 32075 h 167681"/>
                <a:gd name="connsiteX3" fmla="*/ 163546 w 167967"/>
                <a:gd name="connsiteY3" fmla="*/ 21294 h 167681"/>
                <a:gd name="connsiteX4" fmla="*/ 154524 w 167967"/>
                <a:gd name="connsiteY4" fmla="*/ 13907 h 167681"/>
                <a:gd name="connsiteX5" fmla="*/ 123357 w 167967"/>
                <a:gd name="connsiteY5" fmla="*/ 3339 h 167681"/>
                <a:gd name="connsiteX6" fmla="*/ 83984 w 167967"/>
                <a:gd name="connsiteY6" fmla="*/ 14 h 167681"/>
                <a:gd name="connsiteX7" fmla="*/ 44251 w 167967"/>
                <a:gd name="connsiteY7" fmla="*/ 3577 h 167681"/>
                <a:gd name="connsiteX8" fmla="*/ 12847 w 167967"/>
                <a:gd name="connsiteY8" fmla="*/ 14620 h 167681"/>
                <a:gd name="connsiteX9" fmla="*/ 3876 w 167967"/>
                <a:gd name="connsiteY9" fmla="*/ 22400 h 167681"/>
                <a:gd name="connsiteX10" fmla="*/ 0 w 167967"/>
                <a:gd name="connsiteY10" fmla="*/ 33618 h 167681"/>
                <a:gd name="connsiteX11" fmla="*/ 0 w 167967"/>
                <a:gd name="connsiteY11" fmla="*/ 134073 h 167681"/>
                <a:gd name="connsiteX12" fmla="*/ 3870 w 167967"/>
                <a:gd name="connsiteY12" fmla="*/ 145244 h 167681"/>
                <a:gd name="connsiteX13" fmla="*/ 12847 w 167967"/>
                <a:gd name="connsiteY13" fmla="*/ 152953 h 167681"/>
                <a:gd name="connsiteX14" fmla="*/ 44251 w 167967"/>
                <a:gd name="connsiteY14" fmla="*/ 164115 h 167681"/>
                <a:gd name="connsiteX15" fmla="*/ 83984 w 167967"/>
                <a:gd name="connsiteY15" fmla="*/ 167677 h 167681"/>
                <a:gd name="connsiteX16" fmla="*/ 123717 w 167967"/>
                <a:gd name="connsiteY16" fmla="*/ 164115 h 167681"/>
                <a:gd name="connsiteX17" fmla="*/ 155121 w 167967"/>
                <a:gd name="connsiteY17" fmla="*/ 152953 h 167681"/>
                <a:gd name="connsiteX18" fmla="*/ 164124 w 167967"/>
                <a:gd name="connsiteY18" fmla="*/ 145193 h 167681"/>
                <a:gd name="connsiteX19" fmla="*/ 167967 w 167967"/>
                <a:gd name="connsiteY19" fmla="*/ 133954 h 167681"/>
                <a:gd name="connsiteX20" fmla="*/ 167967 w 167967"/>
                <a:gd name="connsiteY20" fmla="*/ 133954 h 167681"/>
                <a:gd name="connsiteX21" fmla="*/ 17371 w 167967"/>
                <a:gd name="connsiteY21" fmla="*/ 33025 h 167681"/>
                <a:gd name="connsiteX22" fmla="*/ 22125 w 167967"/>
                <a:gd name="connsiteY22" fmla="*/ 28631 h 167681"/>
                <a:gd name="connsiteX23" fmla="*/ 35447 w 167967"/>
                <a:gd name="connsiteY23" fmla="*/ 23762 h 167681"/>
                <a:gd name="connsiteX24" fmla="*/ 56385 w 167967"/>
                <a:gd name="connsiteY24" fmla="*/ 19132 h 167681"/>
                <a:gd name="connsiteX25" fmla="*/ 84696 w 167967"/>
                <a:gd name="connsiteY25" fmla="*/ 17351 h 167681"/>
                <a:gd name="connsiteX26" fmla="*/ 113720 w 167967"/>
                <a:gd name="connsiteY26" fmla="*/ 19370 h 167681"/>
                <a:gd name="connsiteX27" fmla="*/ 134895 w 167967"/>
                <a:gd name="connsiteY27" fmla="*/ 23762 h 167681"/>
                <a:gd name="connsiteX28" fmla="*/ 148216 w 167967"/>
                <a:gd name="connsiteY28" fmla="*/ 28987 h 167681"/>
                <a:gd name="connsiteX29" fmla="*/ 152381 w 167967"/>
                <a:gd name="connsiteY29" fmla="*/ 33499 h 167681"/>
                <a:gd name="connsiteX30" fmla="*/ 148216 w 167967"/>
                <a:gd name="connsiteY30" fmla="*/ 37893 h 167681"/>
                <a:gd name="connsiteX31" fmla="*/ 135492 w 167967"/>
                <a:gd name="connsiteY31" fmla="*/ 43474 h 167681"/>
                <a:gd name="connsiteX32" fmla="*/ 114316 w 167967"/>
                <a:gd name="connsiteY32" fmla="*/ 48105 h 167681"/>
                <a:gd name="connsiteX33" fmla="*/ 85293 w 167967"/>
                <a:gd name="connsiteY33" fmla="*/ 50124 h 167681"/>
                <a:gd name="connsiteX34" fmla="*/ 56385 w 167967"/>
                <a:gd name="connsiteY34" fmla="*/ 48105 h 167681"/>
                <a:gd name="connsiteX35" fmla="*/ 35209 w 167967"/>
                <a:gd name="connsiteY35" fmla="*/ 43474 h 167681"/>
                <a:gd name="connsiteX36" fmla="*/ 22485 w 167967"/>
                <a:gd name="connsiteY36" fmla="*/ 37893 h 167681"/>
                <a:gd name="connsiteX37" fmla="*/ 17371 w 167967"/>
                <a:gd name="connsiteY37" fmla="*/ 33499 h 167681"/>
                <a:gd name="connsiteX38" fmla="*/ 17371 w 167967"/>
                <a:gd name="connsiteY38" fmla="*/ 33025 h 167681"/>
                <a:gd name="connsiteX39" fmla="*/ 15112 w 167967"/>
                <a:gd name="connsiteY39" fmla="*/ 54398 h 167681"/>
                <a:gd name="connsiteX40" fmla="*/ 45682 w 167967"/>
                <a:gd name="connsiteY40" fmla="*/ 63897 h 167681"/>
                <a:gd name="connsiteX41" fmla="*/ 82553 w 167967"/>
                <a:gd name="connsiteY41" fmla="*/ 66984 h 167681"/>
                <a:gd name="connsiteX42" fmla="*/ 90407 w 167967"/>
                <a:gd name="connsiteY42" fmla="*/ 66984 h 167681"/>
                <a:gd name="connsiteX43" fmla="*/ 97305 w 167967"/>
                <a:gd name="connsiteY43" fmla="*/ 66984 h 167681"/>
                <a:gd name="connsiteX44" fmla="*/ 108252 w 167967"/>
                <a:gd name="connsiteY44" fmla="*/ 66153 h 167681"/>
                <a:gd name="connsiteX45" fmla="*/ 117293 w 167967"/>
                <a:gd name="connsiteY45" fmla="*/ 64728 h 167681"/>
                <a:gd name="connsiteX46" fmla="*/ 128112 w 167967"/>
                <a:gd name="connsiteY46" fmla="*/ 62710 h 167681"/>
                <a:gd name="connsiteX47" fmla="*/ 131090 w 167967"/>
                <a:gd name="connsiteY47" fmla="*/ 61879 h 167681"/>
                <a:gd name="connsiteX48" fmla="*/ 136326 w 167967"/>
                <a:gd name="connsiteY48" fmla="*/ 59385 h 167681"/>
                <a:gd name="connsiteX49" fmla="*/ 142031 w 167967"/>
                <a:gd name="connsiteY49" fmla="*/ 57604 h 167681"/>
                <a:gd name="connsiteX50" fmla="*/ 148216 w 167967"/>
                <a:gd name="connsiteY50" fmla="*/ 55823 h 167681"/>
                <a:gd name="connsiteX51" fmla="*/ 149051 w 167967"/>
                <a:gd name="connsiteY51" fmla="*/ 55823 h 167681"/>
                <a:gd name="connsiteX52" fmla="*/ 150835 w 167967"/>
                <a:gd name="connsiteY52" fmla="*/ 54754 h 167681"/>
                <a:gd name="connsiteX53" fmla="*/ 150835 w 167967"/>
                <a:gd name="connsiteY53" fmla="*/ 84083 h 167681"/>
                <a:gd name="connsiteX54" fmla="*/ 146670 w 167967"/>
                <a:gd name="connsiteY54" fmla="*/ 88596 h 167681"/>
                <a:gd name="connsiteX55" fmla="*/ 133945 w 167967"/>
                <a:gd name="connsiteY55" fmla="*/ 94176 h 167681"/>
                <a:gd name="connsiteX56" fmla="*/ 112654 w 167967"/>
                <a:gd name="connsiteY56" fmla="*/ 98807 h 167681"/>
                <a:gd name="connsiteX57" fmla="*/ 83509 w 167967"/>
                <a:gd name="connsiteY57" fmla="*/ 100944 h 167681"/>
                <a:gd name="connsiteX58" fmla="*/ 54364 w 167967"/>
                <a:gd name="connsiteY58" fmla="*/ 98807 h 167681"/>
                <a:gd name="connsiteX59" fmla="*/ 33072 w 167967"/>
                <a:gd name="connsiteY59" fmla="*/ 94176 h 167681"/>
                <a:gd name="connsiteX60" fmla="*/ 20342 w 167967"/>
                <a:gd name="connsiteY60" fmla="*/ 88596 h 167681"/>
                <a:gd name="connsiteX61" fmla="*/ 16061 w 167967"/>
                <a:gd name="connsiteY61" fmla="*/ 84083 h 167681"/>
                <a:gd name="connsiteX62" fmla="*/ 15112 w 167967"/>
                <a:gd name="connsiteY62" fmla="*/ 54398 h 167681"/>
                <a:gd name="connsiteX63" fmla="*/ 82553 w 167967"/>
                <a:gd name="connsiteY63" fmla="*/ 149391 h 167681"/>
                <a:gd name="connsiteX64" fmla="*/ 53414 w 167967"/>
                <a:gd name="connsiteY64" fmla="*/ 147372 h 167681"/>
                <a:gd name="connsiteX65" fmla="*/ 32116 w 167967"/>
                <a:gd name="connsiteY65" fmla="*/ 142742 h 167681"/>
                <a:gd name="connsiteX66" fmla="*/ 19392 w 167967"/>
                <a:gd name="connsiteY66" fmla="*/ 137042 h 167681"/>
                <a:gd name="connsiteX67" fmla="*/ 15112 w 167967"/>
                <a:gd name="connsiteY67" fmla="*/ 132649 h 167681"/>
                <a:gd name="connsiteX68" fmla="*/ 15112 w 167967"/>
                <a:gd name="connsiteY68" fmla="*/ 104151 h 167681"/>
                <a:gd name="connsiteX69" fmla="*/ 45682 w 167967"/>
                <a:gd name="connsiteY69" fmla="*/ 113531 h 167681"/>
                <a:gd name="connsiteX70" fmla="*/ 82553 w 167967"/>
                <a:gd name="connsiteY70" fmla="*/ 116618 h 167681"/>
                <a:gd name="connsiteX71" fmla="*/ 91004 w 167967"/>
                <a:gd name="connsiteY71" fmla="*/ 116618 h 167681"/>
                <a:gd name="connsiteX72" fmla="*/ 124429 w 167967"/>
                <a:gd name="connsiteY72" fmla="*/ 114006 h 167681"/>
                <a:gd name="connsiteX73" fmla="*/ 150238 w 167967"/>
                <a:gd name="connsiteY73" fmla="*/ 105694 h 167681"/>
                <a:gd name="connsiteX74" fmla="*/ 150238 w 167967"/>
                <a:gd name="connsiteY74" fmla="*/ 133242 h 167681"/>
                <a:gd name="connsiteX75" fmla="*/ 146080 w 167967"/>
                <a:gd name="connsiteY75" fmla="*/ 137636 h 167681"/>
                <a:gd name="connsiteX76" fmla="*/ 133348 w 167967"/>
                <a:gd name="connsiteY76" fmla="*/ 143335 h 167681"/>
                <a:gd name="connsiteX77" fmla="*/ 112057 w 167967"/>
                <a:gd name="connsiteY77" fmla="*/ 147966 h 167681"/>
                <a:gd name="connsiteX78" fmla="*/ 82912 w 167967"/>
                <a:gd name="connsiteY78" fmla="*/ 149984 h 167681"/>
                <a:gd name="connsiteX79" fmla="*/ 82553 w 167967"/>
                <a:gd name="connsiteY79" fmla="*/ 149391 h 167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67967" h="167681">
                  <a:moveTo>
                    <a:pt x="167967" y="133954"/>
                  </a:moveTo>
                  <a:lnTo>
                    <a:pt x="167967" y="33499"/>
                  </a:lnTo>
                  <a:lnTo>
                    <a:pt x="167967" y="32075"/>
                  </a:lnTo>
                  <a:cubicBezTo>
                    <a:pt x="167409" y="28170"/>
                    <a:pt x="165895" y="24466"/>
                    <a:pt x="163546" y="21294"/>
                  </a:cubicBezTo>
                  <a:cubicBezTo>
                    <a:pt x="161198" y="18122"/>
                    <a:pt x="158098" y="15584"/>
                    <a:pt x="154524" y="13907"/>
                  </a:cubicBezTo>
                  <a:cubicBezTo>
                    <a:pt x="144790" y="8691"/>
                    <a:pt x="134260" y="5120"/>
                    <a:pt x="123357" y="3339"/>
                  </a:cubicBezTo>
                  <a:cubicBezTo>
                    <a:pt x="110370" y="972"/>
                    <a:pt x="97183" y="-142"/>
                    <a:pt x="83984" y="14"/>
                  </a:cubicBezTo>
                  <a:cubicBezTo>
                    <a:pt x="70656" y="-70"/>
                    <a:pt x="57354" y="1123"/>
                    <a:pt x="44251" y="3577"/>
                  </a:cubicBezTo>
                  <a:cubicBezTo>
                    <a:pt x="33220" y="5406"/>
                    <a:pt x="22594" y="9143"/>
                    <a:pt x="12847" y="14620"/>
                  </a:cubicBezTo>
                  <a:cubicBezTo>
                    <a:pt x="9228" y="16382"/>
                    <a:pt x="6128" y="19065"/>
                    <a:pt x="3876" y="22400"/>
                  </a:cubicBezTo>
                  <a:cubicBezTo>
                    <a:pt x="1617" y="25736"/>
                    <a:pt x="282" y="29604"/>
                    <a:pt x="0" y="33618"/>
                  </a:cubicBezTo>
                  <a:lnTo>
                    <a:pt x="0" y="134073"/>
                  </a:lnTo>
                  <a:cubicBezTo>
                    <a:pt x="282" y="138073"/>
                    <a:pt x="1617" y="141927"/>
                    <a:pt x="3870" y="145244"/>
                  </a:cubicBezTo>
                  <a:cubicBezTo>
                    <a:pt x="6128" y="148560"/>
                    <a:pt x="9228" y="151221"/>
                    <a:pt x="12847" y="152953"/>
                  </a:cubicBezTo>
                  <a:cubicBezTo>
                    <a:pt x="22562" y="158526"/>
                    <a:pt x="33201" y="162307"/>
                    <a:pt x="44251" y="164115"/>
                  </a:cubicBezTo>
                  <a:cubicBezTo>
                    <a:pt x="57354" y="166569"/>
                    <a:pt x="70656" y="167762"/>
                    <a:pt x="83984" y="167677"/>
                  </a:cubicBezTo>
                  <a:cubicBezTo>
                    <a:pt x="97312" y="167762"/>
                    <a:pt x="110614" y="166569"/>
                    <a:pt x="123717" y="164115"/>
                  </a:cubicBezTo>
                  <a:cubicBezTo>
                    <a:pt x="134767" y="162307"/>
                    <a:pt x="145406" y="158526"/>
                    <a:pt x="155121" y="152953"/>
                  </a:cubicBezTo>
                  <a:cubicBezTo>
                    <a:pt x="158759" y="151211"/>
                    <a:pt x="161865" y="148532"/>
                    <a:pt x="164124" y="145193"/>
                  </a:cubicBezTo>
                  <a:cubicBezTo>
                    <a:pt x="166382" y="141854"/>
                    <a:pt x="167704" y="137975"/>
                    <a:pt x="167967" y="133954"/>
                  </a:cubicBezTo>
                  <a:lnTo>
                    <a:pt x="167967" y="133954"/>
                  </a:lnTo>
                  <a:close/>
                  <a:moveTo>
                    <a:pt x="17371" y="33025"/>
                  </a:moveTo>
                  <a:cubicBezTo>
                    <a:pt x="17371" y="31837"/>
                    <a:pt x="19155" y="30412"/>
                    <a:pt x="22125" y="28631"/>
                  </a:cubicBezTo>
                  <a:cubicBezTo>
                    <a:pt x="26367" y="26501"/>
                    <a:pt x="30833" y="24867"/>
                    <a:pt x="35447" y="23762"/>
                  </a:cubicBezTo>
                  <a:cubicBezTo>
                    <a:pt x="42281" y="21618"/>
                    <a:pt x="49288" y="20068"/>
                    <a:pt x="56385" y="19132"/>
                  </a:cubicBezTo>
                  <a:cubicBezTo>
                    <a:pt x="65773" y="17910"/>
                    <a:pt x="75231" y="17314"/>
                    <a:pt x="84696" y="17351"/>
                  </a:cubicBezTo>
                  <a:cubicBezTo>
                    <a:pt x="94411" y="17323"/>
                    <a:pt x="104107" y="17997"/>
                    <a:pt x="113720" y="19370"/>
                  </a:cubicBezTo>
                  <a:cubicBezTo>
                    <a:pt x="120893" y="20217"/>
                    <a:pt x="127978" y="21687"/>
                    <a:pt x="134895" y="23762"/>
                  </a:cubicBezTo>
                  <a:cubicBezTo>
                    <a:pt x="139522" y="24986"/>
                    <a:pt x="143994" y="26739"/>
                    <a:pt x="148216" y="28987"/>
                  </a:cubicBezTo>
                  <a:cubicBezTo>
                    <a:pt x="150956" y="30768"/>
                    <a:pt x="152381" y="32194"/>
                    <a:pt x="152381" y="33499"/>
                  </a:cubicBezTo>
                  <a:cubicBezTo>
                    <a:pt x="152381" y="34806"/>
                    <a:pt x="150956" y="36112"/>
                    <a:pt x="148216" y="37893"/>
                  </a:cubicBezTo>
                  <a:cubicBezTo>
                    <a:pt x="144225" y="40271"/>
                    <a:pt x="139945" y="42146"/>
                    <a:pt x="135492" y="43474"/>
                  </a:cubicBezTo>
                  <a:cubicBezTo>
                    <a:pt x="128581" y="45630"/>
                    <a:pt x="121497" y="47180"/>
                    <a:pt x="114316" y="48105"/>
                  </a:cubicBezTo>
                  <a:cubicBezTo>
                    <a:pt x="104710" y="49536"/>
                    <a:pt x="95008" y="50211"/>
                    <a:pt x="85293" y="50124"/>
                  </a:cubicBezTo>
                  <a:cubicBezTo>
                    <a:pt x="75616" y="50211"/>
                    <a:pt x="65952" y="49536"/>
                    <a:pt x="56385" y="48105"/>
                  </a:cubicBezTo>
                  <a:cubicBezTo>
                    <a:pt x="49205" y="47180"/>
                    <a:pt x="42120" y="45630"/>
                    <a:pt x="35209" y="43474"/>
                  </a:cubicBezTo>
                  <a:cubicBezTo>
                    <a:pt x="30756" y="42146"/>
                    <a:pt x="26476" y="40271"/>
                    <a:pt x="22485" y="37893"/>
                  </a:cubicBezTo>
                  <a:cubicBezTo>
                    <a:pt x="19032" y="35637"/>
                    <a:pt x="17371" y="34687"/>
                    <a:pt x="17371" y="33499"/>
                  </a:cubicBezTo>
                  <a:lnTo>
                    <a:pt x="17371" y="33025"/>
                  </a:lnTo>
                  <a:close/>
                  <a:moveTo>
                    <a:pt x="15112" y="54398"/>
                  </a:moveTo>
                  <a:cubicBezTo>
                    <a:pt x="24776" y="59047"/>
                    <a:pt x="35074" y="62247"/>
                    <a:pt x="45682" y="63897"/>
                  </a:cubicBezTo>
                  <a:cubicBezTo>
                    <a:pt x="57861" y="65997"/>
                    <a:pt x="70200" y="67030"/>
                    <a:pt x="82553" y="66984"/>
                  </a:cubicBezTo>
                  <a:lnTo>
                    <a:pt x="90407" y="66984"/>
                  </a:lnTo>
                  <a:lnTo>
                    <a:pt x="97305" y="66984"/>
                  </a:lnTo>
                  <a:lnTo>
                    <a:pt x="108252" y="66153"/>
                  </a:lnTo>
                  <a:cubicBezTo>
                    <a:pt x="111345" y="66153"/>
                    <a:pt x="114316" y="65322"/>
                    <a:pt x="117293" y="64728"/>
                  </a:cubicBezTo>
                  <a:lnTo>
                    <a:pt x="128112" y="62710"/>
                  </a:lnTo>
                  <a:lnTo>
                    <a:pt x="131090" y="61879"/>
                  </a:lnTo>
                  <a:cubicBezTo>
                    <a:pt x="132893" y="61183"/>
                    <a:pt x="134645" y="60349"/>
                    <a:pt x="136326" y="59385"/>
                  </a:cubicBezTo>
                  <a:lnTo>
                    <a:pt x="142031" y="57604"/>
                  </a:lnTo>
                  <a:lnTo>
                    <a:pt x="148216" y="55823"/>
                  </a:lnTo>
                  <a:lnTo>
                    <a:pt x="149051" y="55823"/>
                  </a:lnTo>
                  <a:lnTo>
                    <a:pt x="150835" y="54754"/>
                  </a:lnTo>
                  <a:lnTo>
                    <a:pt x="150835" y="84083"/>
                  </a:lnTo>
                  <a:cubicBezTo>
                    <a:pt x="150835" y="85270"/>
                    <a:pt x="149525" y="86814"/>
                    <a:pt x="146670" y="88596"/>
                  </a:cubicBezTo>
                  <a:cubicBezTo>
                    <a:pt x="142679" y="90974"/>
                    <a:pt x="138398" y="92848"/>
                    <a:pt x="133945" y="94176"/>
                  </a:cubicBezTo>
                  <a:cubicBezTo>
                    <a:pt x="126990" y="96320"/>
                    <a:pt x="119867" y="97869"/>
                    <a:pt x="112654" y="98807"/>
                  </a:cubicBezTo>
                  <a:cubicBezTo>
                    <a:pt x="103010" y="100276"/>
                    <a:pt x="93262" y="100990"/>
                    <a:pt x="83509" y="100944"/>
                  </a:cubicBezTo>
                  <a:cubicBezTo>
                    <a:pt x="73749" y="100995"/>
                    <a:pt x="64008" y="100280"/>
                    <a:pt x="54364" y="98807"/>
                  </a:cubicBezTo>
                  <a:cubicBezTo>
                    <a:pt x="47145" y="97882"/>
                    <a:pt x="40022" y="96332"/>
                    <a:pt x="33072" y="94176"/>
                  </a:cubicBezTo>
                  <a:cubicBezTo>
                    <a:pt x="28613" y="92848"/>
                    <a:pt x="24339" y="90974"/>
                    <a:pt x="20342" y="88596"/>
                  </a:cubicBezTo>
                  <a:cubicBezTo>
                    <a:pt x="17486" y="86814"/>
                    <a:pt x="16061" y="85270"/>
                    <a:pt x="16061" y="84083"/>
                  </a:cubicBezTo>
                  <a:lnTo>
                    <a:pt x="15112" y="54398"/>
                  </a:lnTo>
                  <a:close/>
                  <a:moveTo>
                    <a:pt x="82553" y="149391"/>
                  </a:moveTo>
                  <a:cubicBezTo>
                    <a:pt x="72806" y="149420"/>
                    <a:pt x="63065" y="148746"/>
                    <a:pt x="53414" y="147372"/>
                  </a:cubicBezTo>
                  <a:cubicBezTo>
                    <a:pt x="46195" y="146447"/>
                    <a:pt x="39072" y="144897"/>
                    <a:pt x="32116" y="142742"/>
                  </a:cubicBezTo>
                  <a:cubicBezTo>
                    <a:pt x="27676" y="141327"/>
                    <a:pt x="23402" y="139416"/>
                    <a:pt x="19392" y="137042"/>
                  </a:cubicBezTo>
                  <a:cubicBezTo>
                    <a:pt x="16536" y="135380"/>
                    <a:pt x="15112" y="133836"/>
                    <a:pt x="15112" y="132649"/>
                  </a:cubicBezTo>
                  <a:lnTo>
                    <a:pt x="15112" y="104151"/>
                  </a:lnTo>
                  <a:cubicBezTo>
                    <a:pt x="24743" y="108861"/>
                    <a:pt x="35062" y="112027"/>
                    <a:pt x="45682" y="113531"/>
                  </a:cubicBezTo>
                  <a:cubicBezTo>
                    <a:pt x="57861" y="115630"/>
                    <a:pt x="70200" y="116664"/>
                    <a:pt x="82553" y="116618"/>
                  </a:cubicBezTo>
                  <a:lnTo>
                    <a:pt x="91004" y="116618"/>
                  </a:lnTo>
                  <a:cubicBezTo>
                    <a:pt x="102195" y="116676"/>
                    <a:pt x="113379" y="115802"/>
                    <a:pt x="124429" y="114006"/>
                  </a:cubicBezTo>
                  <a:cubicBezTo>
                    <a:pt x="133413" y="112587"/>
                    <a:pt x="142120" y="109783"/>
                    <a:pt x="150238" y="105694"/>
                  </a:cubicBezTo>
                  <a:lnTo>
                    <a:pt x="150238" y="133242"/>
                  </a:lnTo>
                  <a:cubicBezTo>
                    <a:pt x="150238" y="134429"/>
                    <a:pt x="148935" y="135973"/>
                    <a:pt x="146080" y="137636"/>
                  </a:cubicBezTo>
                  <a:cubicBezTo>
                    <a:pt x="142063" y="140009"/>
                    <a:pt x="137795" y="141922"/>
                    <a:pt x="133348" y="143335"/>
                  </a:cubicBezTo>
                  <a:cubicBezTo>
                    <a:pt x="126399" y="145478"/>
                    <a:pt x="119270" y="147027"/>
                    <a:pt x="112057" y="147966"/>
                  </a:cubicBezTo>
                  <a:cubicBezTo>
                    <a:pt x="102400" y="149334"/>
                    <a:pt x="92666" y="150008"/>
                    <a:pt x="82912" y="149984"/>
                  </a:cubicBezTo>
                  <a:lnTo>
                    <a:pt x="82553" y="149391"/>
                  </a:lnTo>
                  <a:close/>
                </a:path>
              </a:pathLst>
            </a:custGeom>
            <a:solidFill>
              <a:srgbClr val="2D5967"/>
            </a:solidFill>
            <a:ln w="6417" cap="flat">
              <a:noFill/>
              <a:prstDash val="solid"/>
              <a:miter/>
            </a:ln>
          </p:spPr>
          <p:txBody>
            <a:bodyPr rtlCol="0" anchor="ctr"/>
            <a:lstStyle/>
            <a:p>
              <a:endParaRPr lang="en-US"/>
            </a:p>
          </p:txBody>
        </p:sp>
      </p:grpSp>
      <p:grpSp>
        <p:nvGrpSpPr>
          <p:cNvPr id="19" name="Graphic 496">
            <a:extLst>
              <a:ext uri="{FF2B5EF4-FFF2-40B4-BE49-F238E27FC236}">
                <a16:creationId xmlns:a16="http://schemas.microsoft.com/office/drawing/2014/main" id="{5AF75DEE-E6B9-A7BD-ED2A-291ED51E3FF6}"/>
              </a:ext>
            </a:extLst>
          </p:cNvPr>
          <p:cNvGrpSpPr/>
          <p:nvPr/>
        </p:nvGrpSpPr>
        <p:grpSpPr>
          <a:xfrm>
            <a:off x="803770" y="4787084"/>
            <a:ext cx="530142" cy="507644"/>
            <a:chOff x="7023233" y="3040744"/>
            <a:chExt cx="513347" cy="483793"/>
          </a:xfrm>
        </p:grpSpPr>
        <p:sp>
          <p:nvSpPr>
            <p:cNvPr id="21" name="Freeform: Shape 20">
              <a:extLst>
                <a:ext uri="{FF2B5EF4-FFF2-40B4-BE49-F238E27FC236}">
                  <a16:creationId xmlns:a16="http://schemas.microsoft.com/office/drawing/2014/main" id="{9F7BD8C2-A33D-AF03-9E14-A31982F8EC49}"/>
                </a:ext>
              </a:extLst>
            </p:cNvPr>
            <p:cNvSpPr/>
            <p:nvPr/>
          </p:nvSpPr>
          <p:spPr>
            <a:xfrm>
              <a:off x="7028944" y="3046495"/>
              <a:ext cx="501860" cy="472639"/>
            </a:xfrm>
            <a:custGeom>
              <a:avLst/>
              <a:gdLst>
                <a:gd name="connsiteX0" fmla="*/ 381609 w 501860"/>
                <a:gd name="connsiteY0" fmla="*/ 468956 h 472639"/>
                <a:gd name="connsiteX1" fmla="*/ 274063 w 501860"/>
                <a:gd name="connsiteY1" fmla="*/ 329005 h 472639"/>
                <a:gd name="connsiteX2" fmla="*/ 274063 w 501860"/>
                <a:gd name="connsiteY2" fmla="*/ 279903 h 472639"/>
                <a:gd name="connsiteX3" fmla="*/ 0 w 501860"/>
                <a:gd name="connsiteY3" fmla="*/ 279903 h 472639"/>
                <a:gd name="connsiteX4" fmla="*/ 0 w 501860"/>
                <a:gd name="connsiteY4" fmla="*/ 0 h 472639"/>
                <a:gd name="connsiteX5" fmla="*/ 402528 w 501860"/>
                <a:gd name="connsiteY5" fmla="*/ 0 h 472639"/>
                <a:gd name="connsiteX6" fmla="*/ 402528 w 501860"/>
                <a:gd name="connsiteY6" fmla="*/ 181120 h 472639"/>
                <a:gd name="connsiteX7" fmla="*/ 501861 w 501860"/>
                <a:gd name="connsiteY7" fmla="*/ 224245 h 472639"/>
                <a:gd name="connsiteX8" fmla="*/ 501861 w 501860"/>
                <a:gd name="connsiteY8" fmla="*/ 329120 h 472639"/>
                <a:gd name="connsiteX9" fmla="*/ 394379 w 501860"/>
                <a:gd name="connsiteY9" fmla="*/ 469418 h 472639"/>
                <a:gd name="connsiteX10" fmla="*/ 388026 w 501860"/>
                <a:gd name="connsiteY10" fmla="*/ 472640 h 472639"/>
                <a:gd name="connsiteX11" fmla="*/ 381609 w 501860"/>
                <a:gd name="connsiteY11" fmla="*/ 468956 h 47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1860" h="472639">
                  <a:moveTo>
                    <a:pt x="381609" y="468956"/>
                  </a:moveTo>
                  <a:cubicBezTo>
                    <a:pt x="316286" y="436417"/>
                    <a:pt x="277272" y="385242"/>
                    <a:pt x="274063" y="329005"/>
                  </a:cubicBezTo>
                  <a:lnTo>
                    <a:pt x="274063" y="279903"/>
                  </a:lnTo>
                  <a:lnTo>
                    <a:pt x="0" y="279903"/>
                  </a:lnTo>
                  <a:lnTo>
                    <a:pt x="0" y="0"/>
                  </a:lnTo>
                  <a:lnTo>
                    <a:pt x="402528" y="0"/>
                  </a:lnTo>
                  <a:lnTo>
                    <a:pt x="402528" y="181120"/>
                  </a:lnTo>
                  <a:lnTo>
                    <a:pt x="501861" y="224245"/>
                  </a:lnTo>
                  <a:lnTo>
                    <a:pt x="501861" y="329120"/>
                  </a:lnTo>
                  <a:cubicBezTo>
                    <a:pt x="498653" y="385813"/>
                    <a:pt x="459446" y="436872"/>
                    <a:pt x="394379" y="469418"/>
                  </a:cubicBezTo>
                  <a:lnTo>
                    <a:pt x="388026" y="472640"/>
                  </a:lnTo>
                  <a:lnTo>
                    <a:pt x="381609" y="468956"/>
                  </a:lnTo>
                  <a:close/>
                </a:path>
              </a:pathLst>
            </a:custGeom>
            <a:solidFill>
              <a:srgbClr val="FFFFFF"/>
            </a:solidFill>
            <a:ln w="641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BF6CE4B-A570-FC5A-43F3-F7897A8892D5}"/>
                </a:ext>
              </a:extLst>
            </p:cNvPr>
            <p:cNvSpPr/>
            <p:nvPr/>
          </p:nvSpPr>
          <p:spPr>
            <a:xfrm>
              <a:off x="7023233" y="3040744"/>
              <a:ext cx="513347" cy="483793"/>
            </a:xfrm>
            <a:custGeom>
              <a:avLst/>
              <a:gdLst>
                <a:gd name="connsiteX0" fmla="*/ 402464 w 513347"/>
                <a:gd name="connsiteY0" fmla="*/ 11500 h 483793"/>
                <a:gd name="connsiteX1" fmla="*/ 402464 w 513347"/>
                <a:gd name="connsiteY1" fmla="*/ 190665 h 483793"/>
                <a:gd name="connsiteX2" fmla="*/ 502054 w 513347"/>
                <a:gd name="connsiteY2" fmla="*/ 233329 h 483793"/>
                <a:gd name="connsiteX3" fmla="*/ 502054 w 513347"/>
                <a:gd name="connsiteY3" fmla="*/ 334409 h 483793"/>
                <a:gd name="connsiteX4" fmla="*/ 397780 w 513347"/>
                <a:gd name="connsiteY4" fmla="*/ 469535 h 483793"/>
                <a:gd name="connsiteX5" fmla="*/ 393994 w 513347"/>
                <a:gd name="connsiteY5" fmla="*/ 471486 h 483793"/>
                <a:gd name="connsiteX6" fmla="*/ 390209 w 513347"/>
                <a:gd name="connsiteY6" fmla="*/ 469535 h 483793"/>
                <a:gd name="connsiteX7" fmla="*/ 285742 w 513347"/>
                <a:gd name="connsiteY7" fmla="*/ 334409 h 483793"/>
                <a:gd name="connsiteX8" fmla="*/ 285742 w 513347"/>
                <a:gd name="connsiteY8" fmla="*/ 279903 h 483793"/>
                <a:gd name="connsiteX9" fmla="*/ 11486 w 513347"/>
                <a:gd name="connsiteY9" fmla="*/ 279903 h 483793"/>
                <a:gd name="connsiteX10" fmla="*/ 11486 w 513347"/>
                <a:gd name="connsiteY10" fmla="*/ 11500 h 483793"/>
                <a:gd name="connsiteX11" fmla="*/ 402464 w 513347"/>
                <a:gd name="connsiteY11" fmla="*/ 11500 h 483793"/>
                <a:gd name="connsiteX12" fmla="*/ 414015 w 513347"/>
                <a:gd name="connsiteY12" fmla="*/ 0 h 483793"/>
                <a:gd name="connsiteX13" fmla="*/ 0 w 513347"/>
                <a:gd name="connsiteY13" fmla="*/ 0 h 483793"/>
                <a:gd name="connsiteX14" fmla="*/ 0 w 513347"/>
                <a:gd name="connsiteY14" fmla="*/ 291404 h 483793"/>
                <a:gd name="connsiteX15" fmla="*/ 274063 w 513347"/>
                <a:gd name="connsiteY15" fmla="*/ 291404 h 483793"/>
                <a:gd name="connsiteX16" fmla="*/ 274063 w 513347"/>
                <a:gd name="connsiteY16" fmla="*/ 333492 h 483793"/>
                <a:gd name="connsiteX17" fmla="*/ 274063 w 513347"/>
                <a:gd name="connsiteY17" fmla="*/ 334185 h 483793"/>
                <a:gd name="connsiteX18" fmla="*/ 384754 w 513347"/>
                <a:gd name="connsiteY18" fmla="*/ 479308 h 483793"/>
                <a:gd name="connsiteX19" fmla="*/ 388604 w 513347"/>
                <a:gd name="connsiteY19" fmla="*/ 481150 h 483793"/>
                <a:gd name="connsiteX20" fmla="*/ 393737 w 513347"/>
                <a:gd name="connsiteY20" fmla="*/ 483793 h 483793"/>
                <a:gd name="connsiteX21" fmla="*/ 398807 w 513347"/>
                <a:gd name="connsiteY21" fmla="*/ 481150 h 483793"/>
                <a:gd name="connsiteX22" fmla="*/ 402593 w 513347"/>
                <a:gd name="connsiteY22" fmla="*/ 479308 h 483793"/>
                <a:gd name="connsiteX23" fmla="*/ 513347 w 513347"/>
                <a:gd name="connsiteY23" fmla="*/ 334525 h 483793"/>
                <a:gd name="connsiteX24" fmla="*/ 513347 w 513347"/>
                <a:gd name="connsiteY24" fmla="*/ 225739 h 483793"/>
                <a:gd name="connsiteX25" fmla="*/ 506417 w 513347"/>
                <a:gd name="connsiteY25" fmla="*/ 222749 h 483793"/>
                <a:gd name="connsiteX26" fmla="*/ 414015 w 513347"/>
                <a:gd name="connsiteY26" fmla="*/ 183075 h 483793"/>
                <a:gd name="connsiteX27" fmla="*/ 414015 w 513347"/>
                <a:gd name="connsiteY27" fmla="*/ 0 h 4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3347" h="483793">
                  <a:moveTo>
                    <a:pt x="402464" y="11500"/>
                  </a:moveTo>
                  <a:lnTo>
                    <a:pt x="402464" y="190665"/>
                  </a:lnTo>
                  <a:lnTo>
                    <a:pt x="502054" y="233329"/>
                  </a:lnTo>
                  <a:lnTo>
                    <a:pt x="502054" y="334409"/>
                  </a:lnTo>
                  <a:cubicBezTo>
                    <a:pt x="498974" y="388689"/>
                    <a:pt x="461050" y="437907"/>
                    <a:pt x="397780" y="469535"/>
                  </a:cubicBezTo>
                  <a:lnTo>
                    <a:pt x="393994" y="471486"/>
                  </a:lnTo>
                  <a:lnTo>
                    <a:pt x="390209" y="469535"/>
                  </a:lnTo>
                  <a:cubicBezTo>
                    <a:pt x="326938" y="437907"/>
                    <a:pt x="288886" y="389036"/>
                    <a:pt x="285742" y="334409"/>
                  </a:cubicBezTo>
                  <a:lnTo>
                    <a:pt x="285742" y="279903"/>
                  </a:lnTo>
                  <a:lnTo>
                    <a:pt x="11486" y="279903"/>
                  </a:lnTo>
                  <a:lnTo>
                    <a:pt x="11486" y="11500"/>
                  </a:lnTo>
                  <a:lnTo>
                    <a:pt x="402464" y="11500"/>
                  </a:lnTo>
                  <a:close/>
                  <a:moveTo>
                    <a:pt x="414015" y="0"/>
                  </a:moveTo>
                  <a:lnTo>
                    <a:pt x="0" y="0"/>
                  </a:lnTo>
                  <a:lnTo>
                    <a:pt x="0" y="291404"/>
                  </a:lnTo>
                  <a:lnTo>
                    <a:pt x="274063" y="291404"/>
                  </a:lnTo>
                  <a:lnTo>
                    <a:pt x="274063" y="333492"/>
                  </a:lnTo>
                  <a:lnTo>
                    <a:pt x="274063" y="334185"/>
                  </a:lnTo>
                  <a:cubicBezTo>
                    <a:pt x="277464" y="392944"/>
                    <a:pt x="317762" y="445729"/>
                    <a:pt x="384754" y="479308"/>
                  </a:cubicBezTo>
                  <a:lnTo>
                    <a:pt x="388604" y="481150"/>
                  </a:lnTo>
                  <a:lnTo>
                    <a:pt x="393737" y="483793"/>
                  </a:lnTo>
                  <a:lnTo>
                    <a:pt x="398807" y="481150"/>
                  </a:lnTo>
                  <a:lnTo>
                    <a:pt x="402593" y="479308"/>
                  </a:lnTo>
                  <a:cubicBezTo>
                    <a:pt x="469648" y="445729"/>
                    <a:pt x="510011" y="392944"/>
                    <a:pt x="513347" y="334525"/>
                  </a:cubicBezTo>
                  <a:lnTo>
                    <a:pt x="513347" y="225739"/>
                  </a:lnTo>
                  <a:lnTo>
                    <a:pt x="506417" y="222749"/>
                  </a:lnTo>
                  <a:lnTo>
                    <a:pt x="414015" y="183075"/>
                  </a:lnTo>
                  <a:lnTo>
                    <a:pt x="414015" y="0"/>
                  </a:lnTo>
                  <a:close/>
                </a:path>
              </a:pathLst>
            </a:custGeom>
            <a:solidFill>
              <a:srgbClr val="FFFFFF"/>
            </a:solidFill>
            <a:ln w="641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970D22F-9837-1BEB-D1B2-C64B30BFBFE1}"/>
                </a:ext>
              </a:extLst>
            </p:cNvPr>
            <p:cNvSpPr/>
            <p:nvPr/>
          </p:nvSpPr>
          <p:spPr>
            <a:xfrm>
              <a:off x="7034720" y="3052246"/>
              <a:ext cx="390785" cy="268403"/>
            </a:xfrm>
            <a:custGeom>
              <a:avLst/>
              <a:gdLst>
                <a:gd name="connsiteX0" fmla="*/ 17004 w 390785"/>
                <a:gd name="connsiteY0" fmla="*/ 17019 h 268403"/>
                <a:gd name="connsiteX1" fmla="*/ 373781 w 390785"/>
                <a:gd name="connsiteY1" fmla="*/ 17019 h 268403"/>
                <a:gd name="connsiteX2" fmla="*/ 373781 w 390785"/>
                <a:gd name="connsiteY2" fmla="*/ 165251 h 268403"/>
                <a:gd name="connsiteX3" fmla="*/ 382251 w 390785"/>
                <a:gd name="connsiteY3" fmla="*/ 161571 h 268403"/>
                <a:gd name="connsiteX4" fmla="*/ 390785 w 390785"/>
                <a:gd name="connsiteY4" fmla="*/ 165251 h 268403"/>
                <a:gd name="connsiteX5" fmla="*/ 390785 w 390785"/>
                <a:gd name="connsiteY5" fmla="*/ 0 h 268403"/>
                <a:gd name="connsiteX6" fmla="*/ 0 w 390785"/>
                <a:gd name="connsiteY6" fmla="*/ 0 h 268403"/>
                <a:gd name="connsiteX7" fmla="*/ 0 w 390785"/>
                <a:gd name="connsiteY7" fmla="*/ 268404 h 268403"/>
                <a:gd name="connsiteX8" fmla="*/ 261294 w 390785"/>
                <a:gd name="connsiteY8" fmla="*/ 268404 h 268403"/>
                <a:gd name="connsiteX9" fmla="*/ 261294 w 390785"/>
                <a:gd name="connsiteY9" fmla="*/ 251384 h 268403"/>
                <a:gd name="connsiteX10" fmla="*/ 17004 w 390785"/>
                <a:gd name="connsiteY10" fmla="*/ 251384 h 268403"/>
                <a:gd name="connsiteX11" fmla="*/ 17004 w 390785"/>
                <a:gd name="connsiteY11" fmla="*/ 17019 h 26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0785" h="268403">
                  <a:moveTo>
                    <a:pt x="17004" y="17019"/>
                  </a:moveTo>
                  <a:lnTo>
                    <a:pt x="373781" y="17019"/>
                  </a:lnTo>
                  <a:lnTo>
                    <a:pt x="373781" y="165251"/>
                  </a:lnTo>
                  <a:lnTo>
                    <a:pt x="382251" y="161571"/>
                  </a:lnTo>
                  <a:lnTo>
                    <a:pt x="390785" y="165251"/>
                  </a:lnTo>
                  <a:lnTo>
                    <a:pt x="390785" y="0"/>
                  </a:lnTo>
                  <a:lnTo>
                    <a:pt x="0" y="0"/>
                  </a:lnTo>
                  <a:lnTo>
                    <a:pt x="0" y="268404"/>
                  </a:lnTo>
                  <a:lnTo>
                    <a:pt x="261294" y="268404"/>
                  </a:lnTo>
                  <a:lnTo>
                    <a:pt x="261294" y="251384"/>
                  </a:lnTo>
                  <a:lnTo>
                    <a:pt x="17004" y="251384"/>
                  </a:lnTo>
                  <a:lnTo>
                    <a:pt x="17004" y="17019"/>
                  </a:lnTo>
                  <a:close/>
                </a:path>
              </a:pathLst>
            </a:custGeom>
            <a:solidFill>
              <a:srgbClr val="2D5967"/>
            </a:solidFill>
            <a:ln w="6417"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2C1A8B6-0A5A-C377-E8D7-F1B877E71B89}"/>
                </a:ext>
              </a:extLst>
            </p:cNvPr>
            <p:cNvSpPr/>
            <p:nvPr/>
          </p:nvSpPr>
          <p:spPr>
            <a:xfrm>
              <a:off x="7308783" y="3227735"/>
              <a:ext cx="216311" cy="284155"/>
            </a:xfrm>
            <a:custGeom>
              <a:avLst/>
              <a:gdLst>
                <a:gd name="connsiteX0" fmla="*/ 108188 w 216311"/>
                <a:gd name="connsiteY0" fmla="*/ 0 h 284155"/>
                <a:gd name="connsiteX1" fmla="*/ 0 w 216311"/>
                <a:gd name="connsiteY1" fmla="*/ 45999 h 284155"/>
                <a:gd name="connsiteX2" fmla="*/ 0 w 216311"/>
                <a:gd name="connsiteY2" fmla="*/ 147079 h 284155"/>
                <a:gd name="connsiteX3" fmla="*/ 104402 w 216311"/>
                <a:gd name="connsiteY3" fmla="*/ 282204 h 284155"/>
                <a:gd name="connsiteX4" fmla="*/ 108188 w 216311"/>
                <a:gd name="connsiteY4" fmla="*/ 284155 h 284155"/>
                <a:gd name="connsiteX5" fmla="*/ 111974 w 216311"/>
                <a:gd name="connsiteY5" fmla="*/ 282204 h 284155"/>
                <a:gd name="connsiteX6" fmla="*/ 216312 w 216311"/>
                <a:gd name="connsiteY6" fmla="*/ 147079 h 284155"/>
                <a:gd name="connsiteX7" fmla="*/ 216312 w 216311"/>
                <a:gd name="connsiteY7" fmla="*/ 46344 h 284155"/>
                <a:gd name="connsiteX8" fmla="*/ 108188 w 216311"/>
                <a:gd name="connsiteY8" fmla="*/ 0 h 284155"/>
                <a:gd name="connsiteX9" fmla="*/ 199243 w 216311"/>
                <a:gd name="connsiteY9" fmla="*/ 146507 h 284155"/>
                <a:gd name="connsiteX10" fmla="*/ 116722 w 216311"/>
                <a:gd name="connsiteY10" fmla="*/ 260586 h 284155"/>
                <a:gd name="connsiteX11" fmla="*/ 116722 w 216311"/>
                <a:gd name="connsiteY11" fmla="*/ 116149 h 284155"/>
                <a:gd name="connsiteX12" fmla="*/ 99654 w 216311"/>
                <a:gd name="connsiteY12" fmla="*/ 116149 h 284155"/>
                <a:gd name="connsiteX13" fmla="*/ 99654 w 216311"/>
                <a:gd name="connsiteY13" fmla="*/ 260811 h 284155"/>
                <a:gd name="connsiteX14" fmla="*/ 17005 w 216311"/>
                <a:gd name="connsiteY14" fmla="*/ 146738 h 284155"/>
                <a:gd name="connsiteX15" fmla="*/ 17005 w 216311"/>
                <a:gd name="connsiteY15" fmla="*/ 57499 h 284155"/>
                <a:gd name="connsiteX16" fmla="*/ 99654 w 216311"/>
                <a:gd name="connsiteY16" fmla="*/ 22079 h 284155"/>
                <a:gd name="connsiteX17" fmla="*/ 99654 w 216311"/>
                <a:gd name="connsiteY17" fmla="*/ 97978 h 284155"/>
                <a:gd name="connsiteX18" fmla="*/ 116915 w 216311"/>
                <a:gd name="connsiteY18" fmla="*/ 97978 h 284155"/>
                <a:gd name="connsiteX19" fmla="*/ 116915 w 216311"/>
                <a:gd name="connsiteY19" fmla="*/ 22079 h 284155"/>
                <a:gd name="connsiteX20" fmla="*/ 199499 w 216311"/>
                <a:gd name="connsiteY20" fmla="*/ 57499 h 284155"/>
                <a:gd name="connsiteX21" fmla="*/ 199243 w 216311"/>
                <a:gd name="connsiteY21" fmla="*/ 146507 h 28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311" h="284155">
                  <a:moveTo>
                    <a:pt x="108188" y="0"/>
                  </a:moveTo>
                  <a:lnTo>
                    <a:pt x="0" y="45999"/>
                  </a:lnTo>
                  <a:lnTo>
                    <a:pt x="0" y="147079"/>
                  </a:lnTo>
                  <a:cubicBezTo>
                    <a:pt x="3080" y="201359"/>
                    <a:pt x="41132" y="250576"/>
                    <a:pt x="104402" y="282204"/>
                  </a:cubicBezTo>
                  <a:lnTo>
                    <a:pt x="108188" y="284155"/>
                  </a:lnTo>
                  <a:lnTo>
                    <a:pt x="111974" y="282204"/>
                  </a:lnTo>
                  <a:cubicBezTo>
                    <a:pt x="175244" y="250576"/>
                    <a:pt x="213167" y="201705"/>
                    <a:pt x="216312" y="147079"/>
                  </a:cubicBezTo>
                  <a:lnTo>
                    <a:pt x="216312" y="46344"/>
                  </a:lnTo>
                  <a:lnTo>
                    <a:pt x="108188" y="0"/>
                  </a:lnTo>
                  <a:close/>
                  <a:moveTo>
                    <a:pt x="199243" y="146507"/>
                  </a:moveTo>
                  <a:cubicBezTo>
                    <a:pt x="196741" y="190893"/>
                    <a:pt x="166838" y="231832"/>
                    <a:pt x="116722" y="260586"/>
                  </a:cubicBezTo>
                  <a:lnTo>
                    <a:pt x="116722" y="116149"/>
                  </a:lnTo>
                  <a:lnTo>
                    <a:pt x="99654" y="116149"/>
                  </a:lnTo>
                  <a:lnTo>
                    <a:pt x="99654" y="260811"/>
                  </a:lnTo>
                  <a:cubicBezTo>
                    <a:pt x="49538" y="232063"/>
                    <a:pt x="19186" y="191124"/>
                    <a:pt x="17005" y="146738"/>
                  </a:cubicBezTo>
                  <a:lnTo>
                    <a:pt x="17005" y="57499"/>
                  </a:lnTo>
                  <a:lnTo>
                    <a:pt x="99654" y="22079"/>
                  </a:lnTo>
                  <a:lnTo>
                    <a:pt x="99654" y="97978"/>
                  </a:lnTo>
                  <a:lnTo>
                    <a:pt x="116915" y="97978"/>
                  </a:lnTo>
                  <a:lnTo>
                    <a:pt x="116915" y="22079"/>
                  </a:lnTo>
                  <a:lnTo>
                    <a:pt x="199499" y="57499"/>
                  </a:lnTo>
                  <a:lnTo>
                    <a:pt x="199243" y="146507"/>
                  </a:lnTo>
                  <a:close/>
                </a:path>
              </a:pathLst>
            </a:custGeom>
            <a:solidFill>
              <a:srgbClr val="2D5967"/>
            </a:solidFill>
            <a:ln w="6417"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EF7B65A-AB9C-FDE9-967A-7E11E86B7A68}"/>
                </a:ext>
              </a:extLst>
            </p:cNvPr>
            <p:cNvSpPr/>
            <p:nvPr/>
          </p:nvSpPr>
          <p:spPr>
            <a:xfrm>
              <a:off x="7253213" y="3097323"/>
              <a:ext cx="92723" cy="73023"/>
            </a:xfrm>
            <a:custGeom>
              <a:avLst/>
              <a:gdLst>
                <a:gd name="connsiteX0" fmla="*/ 12064 w 92723"/>
                <a:gd name="connsiteY0" fmla="*/ 29324 h 73023"/>
                <a:gd name="connsiteX1" fmla="*/ 0 w 92723"/>
                <a:gd name="connsiteY1" fmla="*/ 41284 h 73023"/>
                <a:gd name="connsiteX2" fmla="*/ 31764 w 92723"/>
                <a:gd name="connsiteY2" fmla="*/ 73023 h 73023"/>
                <a:gd name="connsiteX3" fmla="*/ 92724 w 92723"/>
                <a:gd name="connsiteY3" fmla="*/ 12075 h 73023"/>
                <a:gd name="connsiteX4" fmla="*/ 80724 w 92723"/>
                <a:gd name="connsiteY4" fmla="*/ 0 h 73023"/>
                <a:gd name="connsiteX5" fmla="*/ 31764 w 92723"/>
                <a:gd name="connsiteY5" fmla="*/ 48989 h 73023"/>
                <a:gd name="connsiteX6" fmla="*/ 12064 w 92723"/>
                <a:gd name="connsiteY6" fmla="*/ 29324 h 7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723" h="73023">
                  <a:moveTo>
                    <a:pt x="12064" y="29324"/>
                  </a:moveTo>
                  <a:lnTo>
                    <a:pt x="0" y="41284"/>
                  </a:lnTo>
                  <a:lnTo>
                    <a:pt x="31764" y="73023"/>
                  </a:lnTo>
                  <a:lnTo>
                    <a:pt x="92724" y="12075"/>
                  </a:lnTo>
                  <a:lnTo>
                    <a:pt x="80724" y="0"/>
                  </a:lnTo>
                  <a:lnTo>
                    <a:pt x="31764" y="48989"/>
                  </a:lnTo>
                  <a:lnTo>
                    <a:pt x="12064" y="29324"/>
                  </a:lnTo>
                  <a:close/>
                </a:path>
              </a:pathLst>
            </a:custGeom>
            <a:solidFill>
              <a:srgbClr val="2D5967"/>
            </a:solidFill>
            <a:ln w="6417"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D225024-4C20-0296-3906-DA54473C14D8}"/>
                </a:ext>
              </a:extLst>
            </p:cNvPr>
            <p:cNvSpPr/>
            <p:nvPr/>
          </p:nvSpPr>
          <p:spPr>
            <a:xfrm>
              <a:off x="7261875" y="3186098"/>
              <a:ext cx="68660" cy="68653"/>
            </a:xfrm>
            <a:custGeom>
              <a:avLst/>
              <a:gdLst>
                <a:gd name="connsiteX0" fmla="*/ 68661 w 68660"/>
                <a:gd name="connsiteY0" fmla="*/ 56579 h 68653"/>
                <a:gd name="connsiteX1" fmla="*/ 46330 w 68660"/>
                <a:gd name="connsiteY1" fmla="*/ 34384 h 68653"/>
                <a:gd name="connsiteX2" fmla="*/ 68661 w 68660"/>
                <a:gd name="connsiteY2" fmla="*/ 12075 h 68653"/>
                <a:gd name="connsiteX3" fmla="*/ 56661 w 68660"/>
                <a:gd name="connsiteY3" fmla="*/ 0 h 68653"/>
                <a:gd name="connsiteX4" fmla="*/ 34395 w 68660"/>
                <a:gd name="connsiteY4" fmla="*/ 22309 h 68653"/>
                <a:gd name="connsiteX5" fmla="*/ 12064 w 68660"/>
                <a:gd name="connsiteY5" fmla="*/ 0 h 68653"/>
                <a:gd name="connsiteX6" fmla="*/ 0 w 68660"/>
                <a:gd name="connsiteY6" fmla="*/ 12075 h 68653"/>
                <a:gd name="connsiteX7" fmla="*/ 22267 w 68660"/>
                <a:gd name="connsiteY7" fmla="*/ 34384 h 68653"/>
                <a:gd name="connsiteX8" fmla="*/ 0 w 68660"/>
                <a:gd name="connsiteY8" fmla="*/ 56579 h 68653"/>
                <a:gd name="connsiteX9" fmla="*/ 12064 w 68660"/>
                <a:gd name="connsiteY9" fmla="*/ 68653 h 68653"/>
                <a:gd name="connsiteX10" fmla="*/ 34395 w 68660"/>
                <a:gd name="connsiteY10" fmla="*/ 46344 h 68653"/>
                <a:gd name="connsiteX11" fmla="*/ 56661 w 68660"/>
                <a:gd name="connsiteY11" fmla="*/ 68653 h 68653"/>
                <a:gd name="connsiteX12" fmla="*/ 68661 w 68660"/>
                <a:gd name="connsiteY12" fmla="*/ 56579 h 6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660" h="68653">
                  <a:moveTo>
                    <a:pt x="68661" y="56579"/>
                  </a:moveTo>
                  <a:lnTo>
                    <a:pt x="46330" y="34384"/>
                  </a:lnTo>
                  <a:lnTo>
                    <a:pt x="68661" y="12075"/>
                  </a:lnTo>
                  <a:lnTo>
                    <a:pt x="56661" y="0"/>
                  </a:lnTo>
                  <a:lnTo>
                    <a:pt x="34395" y="22309"/>
                  </a:lnTo>
                  <a:lnTo>
                    <a:pt x="12064" y="0"/>
                  </a:lnTo>
                  <a:lnTo>
                    <a:pt x="0" y="12075"/>
                  </a:lnTo>
                  <a:lnTo>
                    <a:pt x="22267" y="34384"/>
                  </a:lnTo>
                  <a:lnTo>
                    <a:pt x="0" y="56579"/>
                  </a:lnTo>
                  <a:lnTo>
                    <a:pt x="12064" y="68653"/>
                  </a:lnTo>
                  <a:lnTo>
                    <a:pt x="34395" y="46344"/>
                  </a:lnTo>
                  <a:lnTo>
                    <a:pt x="56661" y="68653"/>
                  </a:lnTo>
                  <a:lnTo>
                    <a:pt x="68661" y="56579"/>
                  </a:lnTo>
                  <a:close/>
                </a:path>
              </a:pathLst>
            </a:custGeom>
            <a:solidFill>
              <a:srgbClr val="2D5967"/>
            </a:solidFill>
            <a:ln w="641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D6EABC-C33D-4AC9-FD43-368A80B74F42}"/>
                </a:ext>
              </a:extLst>
            </p:cNvPr>
            <p:cNvSpPr/>
            <p:nvPr/>
          </p:nvSpPr>
          <p:spPr>
            <a:xfrm>
              <a:off x="7091316" y="3199675"/>
              <a:ext cx="115888" cy="66468"/>
            </a:xfrm>
            <a:custGeom>
              <a:avLst/>
              <a:gdLst>
                <a:gd name="connsiteX0" fmla="*/ 115889 w 115888"/>
                <a:gd name="connsiteY0" fmla="*/ 66469 h 66468"/>
                <a:gd name="connsiteX1" fmla="*/ 115889 w 115888"/>
                <a:gd name="connsiteY1" fmla="*/ 29209 h 66468"/>
                <a:gd name="connsiteX2" fmla="*/ 107354 w 115888"/>
                <a:gd name="connsiteY2" fmla="*/ 8556 h 66468"/>
                <a:gd name="connsiteX3" fmla="*/ 86692 w 115888"/>
                <a:gd name="connsiteY3" fmla="*/ 0 h 66468"/>
                <a:gd name="connsiteX4" fmla="*/ 29197 w 115888"/>
                <a:gd name="connsiteY4" fmla="*/ 0 h 66468"/>
                <a:gd name="connsiteX5" fmla="*/ 8534 w 115888"/>
                <a:gd name="connsiteY5" fmla="*/ 8556 h 66468"/>
                <a:gd name="connsiteX6" fmla="*/ 0 w 115888"/>
                <a:gd name="connsiteY6" fmla="*/ 29209 h 66468"/>
                <a:gd name="connsiteX7" fmla="*/ 0 w 115888"/>
                <a:gd name="connsiteY7" fmla="*/ 66469 h 66468"/>
                <a:gd name="connsiteX8" fmla="*/ 16427 w 115888"/>
                <a:gd name="connsiteY8" fmla="*/ 66469 h 66468"/>
                <a:gd name="connsiteX9" fmla="*/ 16427 w 115888"/>
                <a:gd name="connsiteY9" fmla="*/ 29209 h 66468"/>
                <a:gd name="connsiteX10" fmla="*/ 17389 w 115888"/>
                <a:gd name="connsiteY10" fmla="*/ 24501 h 66468"/>
                <a:gd name="connsiteX11" fmla="*/ 20021 w 115888"/>
                <a:gd name="connsiteY11" fmla="*/ 20509 h 66468"/>
                <a:gd name="connsiteX12" fmla="*/ 23999 w 115888"/>
                <a:gd name="connsiteY12" fmla="*/ 17841 h 66468"/>
                <a:gd name="connsiteX13" fmla="*/ 28747 w 115888"/>
                <a:gd name="connsiteY13" fmla="*/ 16905 h 66468"/>
                <a:gd name="connsiteX14" fmla="*/ 86243 w 115888"/>
                <a:gd name="connsiteY14" fmla="*/ 16905 h 66468"/>
                <a:gd name="connsiteX15" fmla="*/ 90927 w 115888"/>
                <a:gd name="connsiteY15" fmla="*/ 17844 h 66468"/>
                <a:gd name="connsiteX16" fmla="*/ 94905 w 115888"/>
                <a:gd name="connsiteY16" fmla="*/ 20516 h 66468"/>
                <a:gd name="connsiteX17" fmla="*/ 97536 w 115888"/>
                <a:gd name="connsiteY17" fmla="*/ 24510 h 66468"/>
                <a:gd name="connsiteX18" fmla="*/ 98434 w 115888"/>
                <a:gd name="connsiteY18" fmla="*/ 29209 h 66468"/>
                <a:gd name="connsiteX19" fmla="*/ 98434 w 115888"/>
                <a:gd name="connsiteY19" fmla="*/ 66469 h 66468"/>
                <a:gd name="connsiteX20" fmla="*/ 115889 w 115888"/>
                <a:gd name="connsiteY20" fmla="*/ 66469 h 6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5888" h="66468">
                  <a:moveTo>
                    <a:pt x="115889" y="66469"/>
                  </a:moveTo>
                  <a:lnTo>
                    <a:pt x="115889" y="29209"/>
                  </a:lnTo>
                  <a:cubicBezTo>
                    <a:pt x="115889" y="21463"/>
                    <a:pt x="112808" y="14034"/>
                    <a:pt x="107354" y="8556"/>
                  </a:cubicBezTo>
                  <a:cubicBezTo>
                    <a:pt x="101899" y="3078"/>
                    <a:pt x="94456" y="0"/>
                    <a:pt x="86692" y="0"/>
                  </a:cubicBezTo>
                  <a:lnTo>
                    <a:pt x="29197" y="0"/>
                  </a:lnTo>
                  <a:cubicBezTo>
                    <a:pt x="21432" y="0"/>
                    <a:pt x="13989" y="3078"/>
                    <a:pt x="8534" y="8556"/>
                  </a:cubicBezTo>
                  <a:cubicBezTo>
                    <a:pt x="3080" y="14034"/>
                    <a:pt x="0" y="21463"/>
                    <a:pt x="0" y="29209"/>
                  </a:cubicBezTo>
                  <a:lnTo>
                    <a:pt x="0" y="66469"/>
                  </a:lnTo>
                  <a:lnTo>
                    <a:pt x="16427" y="66469"/>
                  </a:lnTo>
                  <a:lnTo>
                    <a:pt x="16427" y="29209"/>
                  </a:lnTo>
                  <a:cubicBezTo>
                    <a:pt x="16427" y="27594"/>
                    <a:pt x="16748" y="25994"/>
                    <a:pt x="17389" y="24501"/>
                  </a:cubicBezTo>
                  <a:cubicBezTo>
                    <a:pt x="17967" y="23008"/>
                    <a:pt x="18866" y="21652"/>
                    <a:pt x="20021" y="20509"/>
                  </a:cubicBezTo>
                  <a:cubicBezTo>
                    <a:pt x="21176" y="19366"/>
                    <a:pt x="22523" y="18460"/>
                    <a:pt x="23999" y="17841"/>
                  </a:cubicBezTo>
                  <a:cubicBezTo>
                    <a:pt x="25539" y="17223"/>
                    <a:pt x="27143" y="16905"/>
                    <a:pt x="28747" y="16905"/>
                  </a:cubicBezTo>
                  <a:lnTo>
                    <a:pt x="86243" y="16905"/>
                  </a:lnTo>
                  <a:cubicBezTo>
                    <a:pt x="87847" y="16905"/>
                    <a:pt x="89451" y="17224"/>
                    <a:pt x="90927" y="17844"/>
                  </a:cubicBezTo>
                  <a:cubicBezTo>
                    <a:pt x="92403" y="18463"/>
                    <a:pt x="93750" y="19372"/>
                    <a:pt x="94905" y="20516"/>
                  </a:cubicBezTo>
                  <a:cubicBezTo>
                    <a:pt x="95996" y="21660"/>
                    <a:pt x="96894" y="23017"/>
                    <a:pt x="97536" y="24510"/>
                  </a:cubicBezTo>
                  <a:cubicBezTo>
                    <a:pt x="98114" y="26002"/>
                    <a:pt x="98434" y="27599"/>
                    <a:pt x="98434" y="29209"/>
                  </a:cubicBezTo>
                  <a:lnTo>
                    <a:pt x="98434" y="66469"/>
                  </a:lnTo>
                  <a:lnTo>
                    <a:pt x="115889" y="66469"/>
                  </a:lnTo>
                  <a:close/>
                </a:path>
              </a:pathLst>
            </a:custGeom>
            <a:solidFill>
              <a:srgbClr val="2D5967"/>
            </a:solidFill>
            <a:ln w="641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C1AD6CD-D76F-6D65-F2F1-7709D72000FF}"/>
                </a:ext>
              </a:extLst>
            </p:cNvPr>
            <p:cNvSpPr/>
            <p:nvPr/>
          </p:nvSpPr>
          <p:spPr>
            <a:xfrm>
              <a:off x="7109475" y="3106750"/>
              <a:ext cx="79122" cy="79118"/>
            </a:xfrm>
            <a:custGeom>
              <a:avLst/>
              <a:gdLst>
                <a:gd name="connsiteX0" fmla="*/ 39592 w 79122"/>
                <a:gd name="connsiteY0" fmla="*/ 79118 h 79118"/>
                <a:gd name="connsiteX1" fmla="*/ 61538 w 79122"/>
                <a:gd name="connsiteY1" fmla="*/ 72451 h 79118"/>
                <a:gd name="connsiteX2" fmla="*/ 76104 w 79122"/>
                <a:gd name="connsiteY2" fmla="*/ 54698 h 79118"/>
                <a:gd name="connsiteX3" fmla="*/ 78350 w 79122"/>
                <a:gd name="connsiteY3" fmla="*/ 31841 h 79118"/>
                <a:gd name="connsiteX4" fmla="*/ 67570 w 79122"/>
                <a:gd name="connsiteY4" fmla="*/ 11587 h 79118"/>
                <a:gd name="connsiteX5" fmla="*/ 47293 w 79122"/>
                <a:gd name="connsiteY5" fmla="*/ 760 h 79118"/>
                <a:gd name="connsiteX6" fmla="*/ 24449 w 79122"/>
                <a:gd name="connsiteY6" fmla="*/ 3011 h 79118"/>
                <a:gd name="connsiteX7" fmla="*/ 6674 w 79122"/>
                <a:gd name="connsiteY7" fmla="*/ 17581 h 79118"/>
                <a:gd name="connsiteX8" fmla="*/ 0 w 79122"/>
                <a:gd name="connsiteY8" fmla="*/ 39559 h 79118"/>
                <a:gd name="connsiteX9" fmla="*/ 11615 w 79122"/>
                <a:gd name="connsiteY9" fmla="*/ 67531 h 79118"/>
                <a:gd name="connsiteX10" fmla="*/ 39592 w 79122"/>
                <a:gd name="connsiteY10" fmla="*/ 79118 h 79118"/>
                <a:gd name="connsiteX11" fmla="*/ 39592 w 79122"/>
                <a:gd name="connsiteY11" fmla="*/ 79118 h 79118"/>
                <a:gd name="connsiteX12" fmla="*/ 39592 w 79122"/>
                <a:gd name="connsiteY12" fmla="*/ 17020 h 79118"/>
                <a:gd name="connsiteX13" fmla="*/ 52362 w 79122"/>
                <a:gd name="connsiteY13" fmla="*/ 20896 h 79118"/>
                <a:gd name="connsiteX14" fmla="*/ 60832 w 79122"/>
                <a:gd name="connsiteY14" fmla="*/ 31218 h 79118"/>
                <a:gd name="connsiteX15" fmla="*/ 62115 w 79122"/>
                <a:gd name="connsiteY15" fmla="*/ 44506 h 79118"/>
                <a:gd name="connsiteX16" fmla="*/ 55827 w 79122"/>
                <a:gd name="connsiteY16" fmla="*/ 56282 h 79118"/>
                <a:gd name="connsiteX17" fmla="*/ 44084 w 79122"/>
                <a:gd name="connsiteY17" fmla="*/ 62576 h 79118"/>
                <a:gd name="connsiteX18" fmla="*/ 30801 w 79122"/>
                <a:gd name="connsiteY18" fmla="*/ 61268 h 79118"/>
                <a:gd name="connsiteX19" fmla="*/ 20470 w 79122"/>
                <a:gd name="connsiteY19" fmla="*/ 52797 h 79118"/>
                <a:gd name="connsiteX20" fmla="*/ 16556 w 79122"/>
                <a:gd name="connsiteY20" fmla="*/ 40019 h 79118"/>
                <a:gd name="connsiteX21" fmla="*/ 23293 w 79122"/>
                <a:gd name="connsiteY21" fmla="*/ 23756 h 79118"/>
                <a:gd name="connsiteX22" fmla="*/ 39592 w 79122"/>
                <a:gd name="connsiteY22" fmla="*/ 17020 h 79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122" h="79118">
                  <a:moveTo>
                    <a:pt x="39592" y="79118"/>
                  </a:moveTo>
                  <a:cubicBezTo>
                    <a:pt x="47421" y="79118"/>
                    <a:pt x="55057" y="76798"/>
                    <a:pt x="61538" y="72451"/>
                  </a:cubicBezTo>
                  <a:cubicBezTo>
                    <a:pt x="68083" y="68104"/>
                    <a:pt x="73152" y="61926"/>
                    <a:pt x="76104" y="54698"/>
                  </a:cubicBezTo>
                  <a:cubicBezTo>
                    <a:pt x="79120" y="47469"/>
                    <a:pt x="79890" y="39515"/>
                    <a:pt x="78350" y="31841"/>
                  </a:cubicBezTo>
                  <a:cubicBezTo>
                    <a:pt x="76874" y="24168"/>
                    <a:pt x="73088" y="17119"/>
                    <a:pt x="67570" y="11587"/>
                  </a:cubicBezTo>
                  <a:cubicBezTo>
                    <a:pt x="61987" y="6054"/>
                    <a:pt x="54993" y="2287"/>
                    <a:pt x="47293" y="760"/>
                  </a:cubicBezTo>
                  <a:cubicBezTo>
                    <a:pt x="39592" y="-766"/>
                    <a:pt x="31635" y="17"/>
                    <a:pt x="24449" y="3011"/>
                  </a:cubicBezTo>
                  <a:cubicBezTo>
                    <a:pt x="17197" y="6005"/>
                    <a:pt x="11038" y="11076"/>
                    <a:pt x="6674" y="17581"/>
                  </a:cubicBezTo>
                  <a:cubicBezTo>
                    <a:pt x="2311" y="24087"/>
                    <a:pt x="0" y="31735"/>
                    <a:pt x="0" y="39559"/>
                  </a:cubicBezTo>
                  <a:cubicBezTo>
                    <a:pt x="0" y="50051"/>
                    <a:pt x="4171" y="60113"/>
                    <a:pt x="11615" y="67531"/>
                  </a:cubicBezTo>
                  <a:cubicBezTo>
                    <a:pt x="18994" y="74950"/>
                    <a:pt x="29068" y="79118"/>
                    <a:pt x="39592" y="79118"/>
                  </a:cubicBezTo>
                  <a:lnTo>
                    <a:pt x="39592" y="79118"/>
                  </a:lnTo>
                  <a:close/>
                  <a:moveTo>
                    <a:pt x="39592" y="17020"/>
                  </a:moveTo>
                  <a:cubicBezTo>
                    <a:pt x="44148" y="17020"/>
                    <a:pt x="48576" y="18369"/>
                    <a:pt x="52362" y="20896"/>
                  </a:cubicBezTo>
                  <a:cubicBezTo>
                    <a:pt x="56147" y="23423"/>
                    <a:pt x="59100" y="27015"/>
                    <a:pt x="60832" y="31218"/>
                  </a:cubicBezTo>
                  <a:cubicBezTo>
                    <a:pt x="62564" y="35420"/>
                    <a:pt x="63014" y="40045"/>
                    <a:pt x="62115" y="44506"/>
                  </a:cubicBezTo>
                  <a:cubicBezTo>
                    <a:pt x="61217" y="48967"/>
                    <a:pt x="59035" y="53066"/>
                    <a:pt x="55827" y="56282"/>
                  </a:cubicBezTo>
                  <a:cubicBezTo>
                    <a:pt x="52619" y="59499"/>
                    <a:pt x="48512" y="61689"/>
                    <a:pt x="44084" y="62576"/>
                  </a:cubicBezTo>
                  <a:cubicBezTo>
                    <a:pt x="39592" y="63464"/>
                    <a:pt x="34972" y="63009"/>
                    <a:pt x="30801" y="61268"/>
                  </a:cubicBezTo>
                  <a:cubicBezTo>
                    <a:pt x="26566" y="59527"/>
                    <a:pt x="22973" y="56579"/>
                    <a:pt x="20470" y="52797"/>
                  </a:cubicBezTo>
                  <a:cubicBezTo>
                    <a:pt x="17903" y="49015"/>
                    <a:pt x="16556" y="44568"/>
                    <a:pt x="16556" y="40019"/>
                  </a:cubicBezTo>
                  <a:cubicBezTo>
                    <a:pt x="16556" y="33919"/>
                    <a:pt x="18994" y="28069"/>
                    <a:pt x="23293" y="23756"/>
                  </a:cubicBezTo>
                  <a:cubicBezTo>
                    <a:pt x="27593" y="19443"/>
                    <a:pt x="33497" y="17020"/>
                    <a:pt x="39592" y="17020"/>
                  </a:cubicBezTo>
                  <a:close/>
                </a:path>
              </a:pathLst>
            </a:custGeom>
            <a:solidFill>
              <a:srgbClr val="2D5967"/>
            </a:solidFill>
            <a:ln w="6417" cap="flat">
              <a:noFill/>
              <a:prstDash val="solid"/>
              <a:miter/>
            </a:ln>
          </p:spPr>
          <p:txBody>
            <a:bodyPr rtlCol="0" anchor="ctr"/>
            <a:lstStyle/>
            <a:p>
              <a:endParaRPr lang="en-US"/>
            </a:p>
          </p:txBody>
        </p:sp>
      </p:grpSp>
      <p:grpSp>
        <p:nvGrpSpPr>
          <p:cNvPr id="30" name="Graphic 3">
            <a:extLst>
              <a:ext uri="{FF2B5EF4-FFF2-40B4-BE49-F238E27FC236}">
                <a16:creationId xmlns:a16="http://schemas.microsoft.com/office/drawing/2014/main" id="{184C97D2-A48B-B8B3-3730-1B2604F1EB4A}"/>
              </a:ext>
            </a:extLst>
          </p:cNvPr>
          <p:cNvGrpSpPr/>
          <p:nvPr/>
        </p:nvGrpSpPr>
        <p:grpSpPr>
          <a:xfrm>
            <a:off x="864226" y="4192881"/>
            <a:ext cx="442180" cy="408849"/>
            <a:chOff x="6124875" y="1582905"/>
            <a:chExt cx="513347" cy="513347"/>
          </a:xfrm>
        </p:grpSpPr>
        <p:grpSp>
          <p:nvGrpSpPr>
            <p:cNvPr id="32" name="Graphic 3">
              <a:extLst>
                <a:ext uri="{FF2B5EF4-FFF2-40B4-BE49-F238E27FC236}">
                  <a16:creationId xmlns:a16="http://schemas.microsoft.com/office/drawing/2014/main" id="{95A4A295-A4D7-2F66-463B-B7B6EC3E78F6}"/>
                </a:ext>
              </a:extLst>
            </p:cNvPr>
            <p:cNvGrpSpPr/>
            <p:nvPr/>
          </p:nvGrpSpPr>
          <p:grpSpPr>
            <a:xfrm>
              <a:off x="6124875" y="1582905"/>
              <a:ext cx="513347" cy="513347"/>
              <a:chOff x="6124875" y="1582905"/>
              <a:chExt cx="513347" cy="513347"/>
            </a:xfrm>
            <a:solidFill>
              <a:srgbClr val="FFFFFF"/>
            </a:solidFill>
          </p:grpSpPr>
          <p:grpSp>
            <p:nvGrpSpPr>
              <p:cNvPr id="38" name="Graphic 3">
                <a:extLst>
                  <a:ext uri="{FF2B5EF4-FFF2-40B4-BE49-F238E27FC236}">
                    <a16:creationId xmlns:a16="http://schemas.microsoft.com/office/drawing/2014/main" id="{62A88603-C914-2E14-68B8-DE0E5E2C285F}"/>
                  </a:ext>
                </a:extLst>
              </p:cNvPr>
              <p:cNvGrpSpPr/>
              <p:nvPr/>
            </p:nvGrpSpPr>
            <p:grpSpPr>
              <a:xfrm>
                <a:off x="6124875" y="1970360"/>
                <a:ext cx="265862" cy="125892"/>
                <a:chOff x="6124875" y="1970360"/>
                <a:chExt cx="265862" cy="125892"/>
              </a:xfrm>
              <a:solidFill>
                <a:srgbClr val="FFFFFF"/>
              </a:solidFill>
            </p:grpSpPr>
            <p:sp>
              <p:nvSpPr>
                <p:cNvPr id="42" name="Freeform: Shape 41">
                  <a:extLst>
                    <a:ext uri="{FF2B5EF4-FFF2-40B4-BE49-F238E27FC236}">
                      <a16:creationId xmlns:a16="http://schemas.microsoft.com/office/drawing/2014/main" id="{C176B8E6-B2F1-0EB2-47C3-DBBAD06D66DE}"/>
                    </a:ext>
                  </a:extLst>
                </p:cNvPr>
                <p:cNvSpPr/>
                <p:nvPr/>
              </p:nvSpPr>
              <p:spPr>
                <a:xfrm>
                  <a:off x="6131003" y="1975250"/>
                  <a:ext cx="254838" cy="114887"/>
                </a:xfrm>
                <a:custGeom>
                  <a:avLst/>
                  <a:gdLst>
                    <a:gd name="connsiteX0" fmla="*/ 0 w 254838"/>
                    <a:gd name="connsiteY0" fmla="*/ 114887 h 114887"/>
                    <a:gd name="connsiteX1" fmla="*/ 0 w 254838"/>
                    <a:gd name="connsiteY1" fmla="*/ 96554 h 114887"/>
                    <a:gd name="connsiteX2" fmla="*/ 18378 w 254838"/>
                    <a:gd name="connsiteY2" fmla="*/ 86781 h 114887"/>
                    <a:gd name="connsiteX3" fmla="*/ 18378 w 254838"/>
                    <a:gd name="connsiteY3" fmla="*/ 30557 h 114887"/>
                    <a:gd name="connsiteX4" fmla="*/ 49005 w 254838"/>
                    <a:gd name="connsiteY4" fmla="*/ 0 h 114887"/>
                    <a:gd name="connsiteX5" fmla="*/ 209503 w 254838"/>
                    <a:gd name="connsiteY5" fmla="*/ 0 h 114887"/>
                    <a:gd name="connsiteX6" fmla="*/ 240131 w 254838"/>
                    <a:gd name="connsiteY6" fmla="*/ 30557 h 114887"/>
                    <a:gd name="connsiteX7" fmla="*/ 240131 w 254838"/>
                    <a:gd name="connsiteY7" fmla="*/ 86781 h 114887"/>
                    <a:gd name="connsiteX8" fmla="*/ 254838 w 254838"/>
                    <a:gd name="connsiteY8" fmla="*/ 96554 h 114887"/>
                    <a:gd name="connsiteX9" fmla="*/ 254838 w 254838"/>
                    <a:gd name="connsiteY9" fmla="*/ 114887 h 114887"/>
                    <a:gd name="connsiteX10" fmla="*/ 0 w 254838"/>
                    <a:gd name="connsiteY10" fmla="*/ 114887 h 114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4838" h="114887">
                      <a:moveTo>
                        <a:pt x="0" y="114887"/>
                      </a:moveTo>
                      <a:lnTo>
                        <a:pt x="0" y="96554"/>
                      </a:lnTo>
                      <a:lnTo>
                        <a:pt x="18378" y="86781"/>
                      </a:lnTo>
                      <a:lnTo>
                        <a:pt x="18378" y="30557"/>
                      </a:lnTo>
                      <a:cubicBezTo>
                        <a:pt x="18378" y="13443"/>
                        <a:pt x="31853" y="0"/>
                        <a:pt x="49005" y="0"/>
                      </a:cubicBezTo>
                      <a:lnTo>
                        <a:pt x="209503" y="0"/>
                      </a:lnTo>
                      <a:cubicBezTo>
                        <a:pt x="226655" y="0"/>
                        <a:pt x="240131" y="13443"/>
                        <a:pt x="240131" y="30557"/>
                      </a:cubicBezTo>
                      <a:lnTo>
                        <a:pt x="240131" y="86781"/>
                      </a:lnTo>
                      <a:lnTo>
                        <a:pt x="254838" y="96554"/>
                      </a:lnTo>
                      <a:lnTo>
                        <a:pt x="254838" y="114887"/>
                      </a:lnTo>
                      <a:lnTo>
                        <a:pt x="0" y="114887"/>
                      </a:lnTo>
                      <a:close/>
                    </a:path>
                  </a:pathLst>
                </a:custGeom>
                <a:solidFill>
                  <a:srgbClr val="FFFFFF"/>
                </a:solidFill>
                <a:ln w="6417"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3CD9ABF4-2FD5-11A1-9434-534D1FA36E25}"/>
                    </a:ext>
                  </a:extLst>
                </p:cNvPr>
                <p:cNvSpPr/>
                <p:nvPr/>
              </p:nvSpPr>
              <p:spPr>
                <a:xfrm>
                  <a:off x="6124875" y="1970360"/>
                  <a:ext cx="265862" cy="125892"/>
                </a:xfrm>
                <a:custGeom>
                  <a:avLst/>
                  <a:gdLst>
                    <a:gd name="connsiteX0" fmla="*/ 214406 w 265862"/>
                    <a:gd name="connsiteY0" fmla="*/ 12224 h 125892"/>
                    <a:gd name="connsiteX1" fmla="*/ 238906 w 265862"/>
                    <a:gd name="connsiteY1" fmla="*/ 36666 h 125892"/>
                    <a:gd name="connsiteX2" fmla="*/ 238906 w 265862"/>
                    <a:gd name="connsiteY2" fmla="*/ 96561 h 125892"/>
                    <a:gd name="connsiteX3" fmla="*/ 253613 w 265862"/>
                    <a:gd name="connsiteY3" fmla="*/ 105114 h 125892"/>
                    <a:gd name="connsiteX4" fmla="*/ 253613 w 265862"/>
                    <a:gd name="connsiteY4" fmla="*/ 113668 h 125892"/>
                    <a:gd name="connsiteX5" fmla="*/ 12250 w 265862"/>
                    <a:gd name="connsiteY5" fmla="*/ 113668 h 125892"/>
                    <a:gd name="connsiteX6" fmla="*/ 12250 w 265862"/>
                    <a:gd name="connsiteY6" fmla="*/ 105114 h 125892"/>
                    <a:gd name="connsiteX7" fmla="*/ 30628 w 265862"/>
                    <a:gd name="connsiteY7" fmla="*/ 96561 h 125892"/>
                    <a:gd name="connsiteX8" fmla="*/ 30628 w 265862"/>
                    <a:gd name="connsiteY8" fmla="*/ 36666 h 125892"/>
                    <a:gd name="connsiteX9" fmla="*/ 55133 w 265862"/>
                    <a:gd name="connsiteY9" fmla="*/ 12224 h 125892"/>
                    <a:gd name="connsiteX10" fmla="*/ 214406 w 265862"/>
                    <a:gd name="connsiteY10" fmla="*/ 12224 h 125892"/>
                    <a:gd name="connsiteX11" fmla="*/ 214406 w 265862"/>
                    <a:gd name="connsiteY11" fmla="*/ 12224 h 125892"/>
                    <a:gd name="connsiteX12" fmla="*/ 214406 w 265862"/>
                    <a:gd name="connsiteY12" fmla="*/ 0 h 125892"/>
                    <a:gd name="connsiteX13" fmla="*/ 53908 w 265862"/>
                    <a:gd name="connsiteY13" fmla="*/ 0 h 125892"/>
                    <a:gd name="connsiteX14" fmla="*/ 17152 w 265862"/>
                    <a:gd name="connsiteY14" fmla="*/ 36666 h 125892"/>
                    <a:gd name="connsiteX15" fmla="*/ 17152 w 265862"/>
                    <a:gd name="connsiteY15" fmla="*/ 89226 h 125892"/>
                    <a:gd name="connsiteX16" fmla="*/ 6128 w 265862"/>
                    <a:gd name="connsiteY16" fmla="*/ 95335 h 125892"/>
                    <a:gd name="connsiteX17" fmla="*/ 0 w 265862"/>
                    <a:gd name="connsiteY17" fmla="*/ 96561 h 125892"/>
                    <a:gd name="connsiteX18" fmla="*/ 0 w 265862"/>
                    <a:gd name="connsiteY18" fmla="*/ 103889 h 125892"/>
                    <a:gd name="connsiteX19" fmla="*/ 0 w 265862"/>
                    <a:gd name="connsiteY19" fmla="*/ 113668 h 125892"/>
                    <a:gd name="connsiteX20" fmla="*/ 0 w 265862"/>
                    <a:gd name="connsiteY20" fmla="*/ 125892 h 125892"/>
                    <a:gd name="connsiteX21" fmla="*/ 12250 w 265862"/>
                    <a:gd name="connsiteY21" fmla="*/ 125892 h 125892"/>
                    <a:gd name="connsiteX22" fmla="*/ 253613 w 265862"/>
                    <a:gd name="connsiteY22" fmla="*/ 125892 h 125892"/>
                    <a:gd name="connsiteX23" fmla="*/ 265863 w 265862"/>
                    <a:gd name="connsiteY23" fmla="*/ 125892 h 125892"/>
                    <a:gd name="connsiteX24" fmla="*/ 265863 w 265862"/>
                    <a:gd name="connsiteY24" fmla="*/ 113668 h 125892"/>
                    <a:gd name="connsiteX25" fmla="*/ 265863 w 265862"/>
                    <a:gd name="connsiteY25" fmla="*/ 105114 h 125892"/>
                    <a:gd name="connsiteX26" fmla="*/ 265863 w 265862"/>
                    <a:gd name="connsiteY26" fmla="*/ 97780 h 125892"/>
                    <a:gd name="connsiteX27" fmla="*/ 259734 w 265862"/>
                    <a:gd name="connsiteY27" fmla="*/ 94116 h 125892"/>
                    <a:gd name="connsiteX28" fmla="*/ 249936 w 265862"/>
                    <a:gd name="connsiteY28" fmla="*/ 88001 h 125892"/>
                    <a:gd name="connsiteX29" fmla="*/ 249936 w 265862"/>
                    <a:gd name="connsiteY29" fmla="*/ 35447 h 125892"/>
                    <a:gd name="connsiteX30" fmla="*/ 214406 w 265862"/>
                    <a:gd name="connsiteY30" fmla="*/ 0 h 125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65862" h="125892">
                      <a:moveTo>
                        <a:pt x="214406" y="12224"/>
                      </a:moveTo>
                      <a:cubicBezTo>
                        <a:pt x="227881" y="12224"/>
                        <a:pt x="238906" y="23223"/>
                        <a:pt x="238906" y="36666"/>
                      </a:cubicBezTo>
                      <a:lnTo>
                        <a:pt x="238906" y="96561"/>
                      </a:lnTo>
                      <a:lnTo>
                        <a:pt x="253613" y="105114"/>
                      </a:lnTo>
                      <a:lnTo>
                        <a:pt x="253613" y="113668"/>
                      </a:lnTo>
                      <a:lnTo>
                        <a:pt x="12250" y="113668"/>
                      </a:lnTo>
                      <a:lnTo>
                        <a:pt x="12250" y="105114"/>
                      </a:lnTo>
                      <a:lnTo>
                        <a:pt x="30628" y="96561"/>
                      </a:lnTo>
                      <a:lnTo>
                        <a:pt x="30628" y="36666"/>
                      </a:lnTo>
                      <a:cubicBezTo>
                        <a:pt x="30628" y="23223"/>
                        <a:pt x="41658" y="12224"/>
                        <a:pt x="55133" y="12224"/>
                      </a:cubicBezTo>
                      <a:lnTo>
                        <a:pt x="214406" y="12224"/>
                      </a:lnTo>
                      <a:lnTo>
                        <a:pt x="214406" y="12224"/>
                      </a:lnTo>
                      <a:close/>
                      <a:moveTo>
                        <a:pt x="214406" y="0"/>
                      </a:moveTo>
                      <a:lnTo>
                        <a:pt x="53908" y="0"/>
                      </a:lnTo>
                      <a:cubicBezTo>
                        <a:pt x="34304" y="0"/>
                        <a:pt x="17152" y="15888"/>
                        <a:pt x="17152" y="36666"/>
                      </a:cubicBezTo>
                      <a:lnTo>
                        <a:pt x="17152" y="89226"/>
                      </a:lnTo>
                      <a:lnTo>
                        <a:pt x="6128" y="95335"/>
                      </a:lnTo>
                      <a:lnTo>
                        <a:pt x="0" y="96561"/>
                      </a:lnTo>
                      <a:lnTo>
                        <a:pt x="0" y="103889"/>
                      </a:lnTo>
                      <a:lnTo>
                        <a:pt x="0" y="113668"/>
                      </a:lnTo>
                      <a:lnTo>
                        <a:pt x="0" y="125892"/>
                      </a:lnTo>
                      <a:lnTo>
                        <a:pt x="12250" y="125892"/>
                      </a:lnTo>
                      <a:lnTo>
                        <a:pt x="253613" y="125892"/>
                      </a:lnTo>
                      <a:lnTo>
                        <a:pt x="265863" y="125892"/>
                      </a:lnTo>
                      <a:lnTo>
                        <a:pt x="265863" y="113668"/>
                      </a:lnTo>
                      <a:lnTo>
                        <a:pt x="265863" y="105114"/>
                      </a:lnTo>
                      <a:lnTo>
                        <a:pt x="265863" y="97780"/>
                      </a:lnTo>
                      <a:lnTo>
                        <a:pt x="259734" y="94116"/>
                      </a:lnTo>
                      <a:lnTo>
                        <a:pt x="249936" y="88001"/>
                      </a:lnTo>
                      <a:lnTo>
                        <a:pt x="249936" y="35447"/>
                      </a:lnTo>
                      <a:cubicBezTo>
                        <a:pt x="251162" y="15888"/>
                        <a:pt x="235235" y="0"/>
                        <a:pt x="214406" y="0"/>
                      </a:cubicBezTo>
                      <a:close/>
                    </a:path>
                  </a:pathLst>
                </a:custGeom>
                <a:solidFill>
                  <a:srgbClr val="FFFFFF"/>
                </a:solidFill>
                <a:ln w="6417" cap="flat">
                  <a:noFill/>
                  <a:prstDash val="solid"/>
                  <a:miter/>
                </a:ln>
              </p:spPr>
              <p:txBody>
                <a:bodyPr rtlCol="0" anchor="ctr"/>
                <a:lstStyle/>
                <a:p>
                  <a:endParaRPr lang="en-US"/>
                </a:p>
              </p:txBody>
            </p:sp>
          </p:grpSp>
          <p:grpSp>
            <p:nvGrpSpPr>
              <p:cNvPr id="39" name="Graphic 3">
                <a:extLst>
                  <a:ext uri="{FF2B5EF4-FFF2-40B4-BE49-F238E27FC236}">
                    <a16:creationId xmlns:a16="http://schemas.microsoft.com/office/drawing/2014/main" id="{37A9800A-6CCE-5B8E-2A31-7B1C6D3A5953}"/>
                  </a:ext>
                </a:extLst>
              </p:cNvPr>
              <p:cNvGrpSpPr/>
              <p:nvPr/>
            </p:nvGrpSpPr>
            <p:grpSpPr>
              <a:xfrm>
                <a:off x="6141415" y="1582905"/>
                <a:ext cx="496808" cy="495014"/>
                <a:chOff x="6141415" y="1582905"/>
                <a:chExt cx="496808" cy="495014"/>
              </a:xfrm>
              <a:solidFill>
                <a:srgbClr val="FFFFFF"/>
              </a:solidFill>
            </p:grpSpPr>
            <p:sp>
              <p:nvSpPr>
                <p:cNvPr id="40" name="Freeform: Shape 39">
                  <a:extLst>
                    <a:ext uri="{FF2B5EF4-FFF2-40B4-BE49-F238E27FC236}">
                      <a16:creationId xmlns:a16="http://schemas.microsoft.com/office/drawing/2014/main" id="{9F17D40E-E10D-D370-54A3-21EDF02B5985}"/>
                    </a:ext>
                  </a:extLst>
                </p:cNvPr>
                <p:cNvSpPr/>
                <p:nvPr/>
              </p:nvSpPr>
              <p:spPr>
                <a:xfrm>
                  <a:off x="6149386" y="1589018"/>
                  <a:ext cx="482740" cy="481566"/>
                </a:xfrm>
                <a:custGeom>
                  <a:avLst/>
                  <a:gdLst>
                    <a:gd name="connsiteX0" fmla="*/ 400605 w 482740"/>
                    <a:gd name="connsiteY0" fmla="*/ 464459 h 481566"/>
                    <a:gd name="connsiteX1" fmla="*/ 268290 w 482740"/>
                    <a:gd name="connsiteY1" fmla="*/ 333678 h 481566"/>
                    <a:gd name="connsiteX2" fmla="*/ 198475 w 482740"/>
                    <a:gd name="connsiteY2" fmla="*/ 256674 h 481566"/>
                    <a:gd name="connsiteX3" fmla="*/ 171524 w 482740"/>
                    <a:gd name="connsiteY3" fmla="*/ 283564 h 481566"/>
                    <a:gd name="connsiteX4" fmla="*/ 166621 w 482740"/>
                    <a:gd name="connsiteY4" fmla="*/ 314120 h 481566"/>
                    <a:gd name="connsiteX5" fmla="*/ 153146 w 482740"/>
                    <a:gd name="connsiteY5" fmla="*/ 327562 h 481566"/>
                    <a:gd name="connsiteX6" fmla="*/ 134768 w 482740"/>
                    <a:gd name="connsiteY6" fmla="*/ 334897 h 481566"/>
                    <a:gd name="connsiteX7" fmla="*/ 116390 w 482740"/>
                    <a:gd name="connsiteY7" fmla="*/ 327562 h 481566"/>
                    <a:gd name="connsiteX8" fmla="*/ 7349 w 482740"/>
                    <a:gd name="connsiteY8" fmla="*/ 218784 h 481566"/>
                    <a:gd name="connsiteX9" fmla="*/ 7349 w 482740"/>
                    <a:gd name="connsiteY9" fmla="*/ 180894 h 481566"/>
                    <a:gd name="connsiteX10" fmla="*/ 20824 w 482740"/>
                    <a:gd name="connsiteY10" fmla="*/ 167449 h 481566"/>
                    <a:gd name="connsiteX11" fmla="*/ 39202 w 482740"/>
                    <a:gd name="connsiteY11" fmla="*/ 160116 h 481566"/>
                    <a:gd name="connsiteX12" fmla="*/ 50233 w 482740"/>
                    <a:gd name="connsiteY12" fmla="*/ 162560 h 481566"/>
                    <a:gd name="connsiteX13" fmla="*/ 161719 w 482740"/>
                    <a:gd name="connsiteY13" fmla="*/ 51335 h 481566"/>
                    <a:gd name="connsiteX14" fmla="*/ 166621 w 482740"/>
                    <a:gd name="connsiteY14" fmla="*/ 20778 h 481566"/>
                    <a:gd name="connsiteX15" fmla="*/ 180097 w 482740"/>
                    <a:gd name="connsiteY15" fmla="*/ 7334 h 481566"/>
                    <a:gd name="connsiteX16" fmla="*/ 198475 w 482740"/>
                    <a:gd name="connsiteY16" fmla="*/ 0 h 481566"/>
                    <a:gd name="connsiteX17" fmla="*/ 216852 w 482740"/>
                    <a:gd name="connsiteY17" fmla="*/ 7334 h 481566"/>
                    <a:gd name="connsiteX18" fmla="*/ 325913 w 482740"/>
                    <a:gd name="connsiteY18" fmla="*/ 116114 h 481566"/>
                    <a:gd name="connsiteX19" fmla="*/ 325913 w 482740"/>
                    <a:gd name="connsiteY19" fmla="*/ 154004 h 481566"/>
                    <a:gd name="connsiteX20" fmla="*/ 312438 w 482740"/>
                    <a:gd name="connsiteY20" fmla="*/ 167449 h 481566"/>
                    <a:gd name="connsiteX21" fmla="*/ 294021 w 482740"/>
                    <a:gd name="connsiteY21" fmla="*/ 174783 h 481566"/>
                    <a:gd name="connsiteX22" fmla="*/ 281765 w 482740"/>
                    <a:gd name="connsiteY22" fmla="*/ 172338 h 481566"/>
                    <a:gd name="connsiteX23" fmla="*/ 254834 w 482740"/>
                    <a:gd name="connsiteY23" fmla="*/ 199228 h 481566"/>
                    <a:gd name="connsiteX24" fmla="*/ 333228 w 482740"/>
                    <a:gd name="connsiteY24" fmla="*/ 266452 h 481566"/>
                    <a:gd name="connsiteX25" fmla="*/ 465543 w 482740"/>
                    <a:gd name="connsiteY25" fmla="*/ 398456 h 481566"/>
                    <a:gd name="connsiteX26" fmla="*/ 482741 w 482740"/>
                    <a:gd name="connsiteY26" fmla="*/ 420459 h 481566"/>
                    <a:gd name="connsiteX27" fmla="*/ 474142 w 482740"/>
                    <a:gd name="connsiteY27" fmla="*/ 443682 h 481566"/>
                    <a:gd name="connsiteX28" fmla="*/ 444753 w 482740"/>
                    <a:gd name="connsiteY28" fmla="*/ 473013 h 481566"/>
                    <a:gd name="connsiteX29" fmla="*/ 421460 w 482740"/>
                    <a:gd name="connsiteY29" fmla="*/ 481567 h 481566"/>
                    <a:gd name="connsiteX30" fmla="*/ 400605 w 482740"/>
                    <a:gd name="connsiteY30" fmla="*/ 464459 h 48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2740" h="481566">
                      <a:moveTo>
                        <a:pt x="400605" y="464459"/>
                      </a:moveTo>
                      <a:lnTo>
                        <a:pt x="268290" y="333678"/>
                      </a:lnTo>
                      <a:lnTo>
                        <a:pt x="198475" y="256674"/>
                      </a:lnTo>
                      <a:lnTo>
                        <a:pt x="171524" y="283564"/>
                      </a:lnTo>
                      <a:cubicBezTo>
                        <a:pt x="176420" y="293341"/>
                        <a:pt x="173975" y="305564"/>
                        <a:pt x="166621" y="314120"/>
                      </a:cubicBezTo>
                      <a:lnTo>
                        <a:pt x="153146" y="327562"/>
                      </a:lnTo>
                      <a:cubicBezTo>
                        <a:pt x="148243" y="332452"/>
                        <a:pt x="142115" y="334897"/>
                        <a:pt x="134768" y="334897"/>
                      </a:cubicBezTo>
                      <a:cubicBezTo>
                        <a:pt x="127415" y="334897"/>
                        <a:pt x="121293" y="332452"/>
                        <a:pt x="116390" y="327562"/>
                      </a:cubicBezTo>
                      <a:lnTo>
                        <a:pt x="7349" y="218784"/>
                      </a:lnTo>
                      <a:cubicBezTo>
                        <a:pt x="-2450" y="209006"/>
                        <a:pt x="-2450" y="191894"/>
                        <a:pt x="7349" y="180894"/>
                      </a:cubicBezTo>
                      <a:lnTo>
                        <a:pt x="20824" y="167449"/>
                      </a:lnTo>
                      <a:cubicBezTo>
                        <a:pt x="25727" y="162560"/>
                        <a:pt x="31855" y="160116"/>
                        <a:pt x="39202" y="160116"/>
                      </a:cubicBezTo>
                      <a:cubicBezTo>
                        <a:pt x="42879" y="160116"/>
                        <a:pt x="47781" y="161338"/>
                        <a:pt x="50233" y="162560"/>
                      </a:cubicBezTo>
                      <a:lnTo>
                        <a:pt x="161719" y="51335"/>
                      </a:lnTo>
                      <a:cubicBezTo>
                        <a:pt x="156823" y="41557"/>
                        <a:pt x="159268" y="29334"/>
                        <a:pt x="166621" y="20778"/>
                      </a:cubicBezTo>
                      <a:lnTo>
                        <a:pt x="180097" y="7334"/>
                      </a:lnTo>
                      <a:cubicBezTo>
                        <a:pt x="184999" y="2445"/>
                        <a:pt x="192353" y="0"/>
                        <a:pt x="198475" y="0"/>
                      </a:cubicBezTo>
                      <a:cubicBezTo>
                        <a:pt x="204603" y="0"/>
                        <a:pt x="211950" y="2445"/>
                        <a:pt x="216852" y="7334"/>
                      </a:cubicBezTo>
                      <a:lnTo>
                        <a:pt x="325913" y="116114"/>
                      </a:lnTo>
                      <a:cubicBezTo>
                        <a:pt x="335667" y="125892"/>
                        <a:pt x="335667" y="143004"/>
                        <a:pt x="325913" y="154004"/>
                      </a:cubicBezTo>
                      <a:lnTo>
                        <a:pt x="312438" y="167449"/>
                      </a:lnTo>
                      <a:cubicBezTo>
                        <a:pt x="307497" y="172338"/>
                        <a:pt x="300181" y="174783"/>
                        <a:pt x="294021" y="174783"/>
                      </a:cubicBezTo>
                      <a:cubicBezTo>
                        <a:pt x="290364" y="174783"/>
                        <a:pt x="285487" y="173560"/>
                        <a:pt x="281765" y="172338"/>
                      </a:cubicBezTo>
                      <a:lnTo>
                        <a:pt x="254834" y="199228"/>
                      </a:lnTo>
                      <a:lnTo>
                        <a:pt x="333228" y="266452"/>
                      </a:lnTo>
                      <a:lnTo>
                        <a:pt x="465543" y="398456"/>
                      </a:lnTo>
                      <a:lnTo>
                        <a:pt x="482741" y="420459"/>
                      </a:lnTo>
                      <a:lnTo>
                        <a:pt x="474142" y="443682"/>
                      </a:lnTo>
                      <a:lnTo>
                        <a:pt x="444753" y="473013"/>
                      </a:lnTo>
                      <a:lnTo>
                        <a:pt x="421460" y="481567"/>
                      </a:lnTo>
                      <a:lnTo>
                        <a:pt x="400605" y="464459"/>
                      </a:lnTo>
                      <a:close/>
                    </a:path>
                  </a:pathLst>
                </a:custGeom>
                <a:solidFill>
                  <a:srgbClr val="FFFFFF"/>
                </a:solidFill>
                <a:ln w="6417"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9F25130-15F0-AED2-EE73-E837E1D653D8}"/>
                    </a:ext>
                  </a:extLst>
                </p:cNvPr>
                <p:cNvSpPr/>
                <p:nvPr/>
              </p:nvSpPr>
              <p:spPr>
                <a:xfrm>
                  <a:off x="6141415" y="1582905"/>
                  <a:ext cx="496808" cy="495014"/>
                </a:xfrm>
                <a:custGeom>
                  <a:avLst/>
                  <a:gdLst>
                    <a:gd name="connsiteX0" fmla="*/ 206446 w 496808"/>
                    <a:gd name="connsiteY0" fmla="*/ 12223 h 495014"/>
                    <a:gd name="connsiteX1" fmla="*/ 221147 w 496808"/>
                    <a:gd name="connsiteY1" fmla="*/ 18334 h 495014"/>
                    <a:gd name="connsiteX2" fmla="*/ 330163 w 496808"/>
                    <a:gd name="connsiteY2" fmla="*/ 127114 h 495014"/>
                    <a:gd name="connsiteX3" fmla="*/ 330163 w 496808"/>
                    <a:gd name="connsiteY3" fmla="*/ 156448 h 495014"/>
                    <a:gd name="connsiteX4" fmla="*/ 316687 w 496808"/>
                    <a:gd name="connsiteY4" fmla="*/ 169894 h 495014"/>
                    <a:gd name="connsiteX5" fmla="*/ 301993 w 496808"/>
                    <a:gd name="connsiteY5" fmla="*/ 176005 h 495014"/>
                    <a:gd name="connsiteX6" fmla="*/ 289736 w 496808"/>
                    <a:gd name="connsiteY6" fmla="*/ 171116 h 495014"/>
                    <a:gd name="connsiteX7" fmla="*/ 253000 w 496808"/>
                    <a:gd name="connsiteY7" fmla="*/ 206561 h 495014"/>
                    <a:gd name="connsiteX8" fmla="*/ 337542 w 496808"/>
                    <a:gd name="connsiteY8" fmla="*/ 278674 h 495014"/>
                    <a:gd name="connsiteX9" fmla="*/ 468638 w 496808"/>
                    <a:gd name="connsiteY9" fmla="*/ 409459 h 495014"/>
                    <a:gd name="connsiteX10" fmla="*/ 483333 w 496808"/>
                    <a:gd name="connsiteY10" fmla="*/ 427792 h 495014"/>
                    <a:gd name="connsiteX11" fmla="*/ 477236 w 496808"/>
                    <a:gd name="connsiteY11" fmla="*/ 447344 h 495014"/>
                    <a:gd name="connsiteX12" fmla="*/ 449003 w 496808"/>
                    <a:gd name="connsiteY12" fmla="*/ 474237 h 495014"/>
                    <a:gd name="connsiteX13" fmla="*/ 429431 w 496808"/>
                    <a:gd name="connsiteY13" fmla="*/ 480346 h 495014"/>
                    <a:gd name="connsiteX14" fmla="*/ 412298 w 496808"/>
                    <a:gd name="connsiteY14" fmla="*/ 466902 h 495014"/>
                    <a:gd name="connsiteX15" fmla="*/ 279983 w 496808"/>
                    <a:gd name="connsiteY15" fmla="*/ 334895 h 495014"/>
                    <a:gd name="connsiteX16" fmla="*/ 206446 w 496808"/>
                    <a:gd name="connsiteY16" fmla="*/ 253007 h 495014"/>
                    <a:gd name="connsiteX17" fmla="*/ 170916 w 496808"/>
                    <a:gd name="connsiteY17" fmla="*/ 288452 h 495014"/>
                    <a:gd name="connsiteX18" fmla="*/ 169690 w 496808"/>
                    <a:gd name="connsiteY18" fmla="*/ 315342 h 495014"/>
                    <a:gd name="connsiteX19" fmla="*/ 154989 w 496808"/>
                    <a:gd name="connsiteY19" fmla="*/ 328786 h 495014"/>
                    <a:gd name="connsiteX20" fmla="*/ 140282 w 496808"/>
                    <a:gd name="connsiteY20" fmla="*/ 334895 h 495014"/>
                    <a:gd name="connsiteX21" fmla="*/ 125581 w 496808"/>
                    <a:gd name="connsiteY21" fmla="*/ 328786 h 495014"/>
                    <a:gd name="connsiteX22" fmla="*/ 16540 w 496808"/>
                    <a:gd name="connsiteY22" fmla="*/ 220006 h 495014"/>
                    <a:gd name="connsiteX23" fmla="*/ 16540 w 496808"/>
                    <a:gd name="connsiteY23" fmla="*/ 190672 h 495014"/>
                    <a:gd name="connsiteX24" fmla="*/ 30021 w 496808"/>
                    <a:gd name="connsiteY24" fmla="*/ 177227 h 495014"/>
                    <a:gd name="connsiteX25" fmla="*/ 44722 w 496808"/>
                    <a:gd name="connsiteY25" fmla="*/ 171116 h 495014"/>
                    <a:gd name="connsiteX26" fmla="*/ 56972 w 496808"/>
                    <a:gd name="connsiteY26" fmla="*/ 176005 h 495014"/>
                    <a:gd name="connsiteX27" fmla="*/ 175812 w 496808"/>
                    <a:gd name="connsiteY27" fmla="*/ 57446 h 495014"/>
                    <a:gd name="connsiteX28" fmla="*/ 177038 w 496808"/>
                    <a:gd name="connsiteY28" fmla="*/ 30556 h 495014"/>
                    <a:gd name="connsiteX29" fmla="*/ 191739 w 496808"/>
                    <a:gd name="connsiteY29" fmla="*/ 18334 h 495014"/>
                    <a:gd name="connsiteX30" fmla="*/ 206446 w 496808"/>
                    <a:gd name="connsiteY30" fmla="*/ 12223 h 495014"/>
                    <a:gd name="connsiteX31" fmla="*/ 206446 w 496808"/>
                    <a:gd name="connsiteY31" fmla="*/ 0 h 495014"/>
                    <a:gd name="connsiteX32" fmla="*/ 183166 w 496808"/>
                    <a:gd name="connsiteY32" fmla="*/ 9778 h 495014"/>
                    <a:gd name="connsiteX33" fmla="*/ 169690 w 496808"/>
                    <a:gd name="connsiteY33" fmla="*/ 23223 h 495014"/>
                    <a:gd name="connsiteX34" fmla="*/ 162336 w 496808"/>
                    <a:gd name="connsiteY34" fmla="*/ 56224 h 495014"/>
                    <a:gd name="connsiteX35" fmla="*/ 56972 w 496808"/>
                    <a:gd name="connsiteY35" fmla="*/ 161338 h 495014"/>
                    <a:gd name="connsiteX36" fmla="*/ 47174 w 496808"/>
                    <a:gd name="connsiteY36" fmla="*/ 160116 h 495014"/>
                    <a:gd name="connsiteX37" fmla="*/ 23893 w 496808"/>
                    <a:gd name="connsiteY37" fmla="*/ 169894 h 495014"/>
                    <a:gd name="connsiteX38" fmla="*/ 9192 w 496808"/>
                    <a:gd name="connsiteY38" fmla="*/ 183338 h 495014"/>
                    <a:gd name="connsiteX39" fmla="*/ 9192 w 496808"/>
                    <a:gd name="connsiteY39" fmla="*/ 229784 h 495014"/>
                    <a:gd name="connsiteX40" fmla="*/ 118234 w 496808"/>
                    <a:gd name="connsiteY40" fmla="*/ 338565 h 495014"/>
                    <a:gd name="connsiteX41" fmla="*/ 141508 w 496808"/>
                    <a:gd name="connsiteY41" fmla="*/ 348345 h 495014"/>
                    <a:gd name="connsiteX42" fmla="*/ 164788 w 496808"/>
                    <a:gd name="connsiteY42" fmla="*/ 338565 h 495014"/>
                    <a:gd name="connsiteX43" fmla="*/ 178263 w 496808"/>
                    <a:gd name="connsiteY43" fmla="*/ 325122 h 495014"/>
                    <a:gd name="connsiteX44" fmla="*/ 186843 w 496808"/>
                    <a:gd name="connsiteY44" fmla="*/ 292119 h 495014"/>
                    <a:gd name="connsiteX45" fmla="*/ 206446 w 496808"/>
                    <a:gd name="connsiteY45" fmla="*/ 272563 h 495014"/>
                    <a:gd name="connsiteX46" fmla="*/ 271378 w 496808"/>
                    <a:gd name="connsiteY46" fmla="*/ 344674 h 495014"/>
                    <a:gd name="connsiteX47" fmla="*/ 403700 w 496808"/>
                    <a:gd name="connsiteY47" fmla="*/ 476682 h 495014"/>
                    <a:gd name="connsiteX48" fmla="*/ 422052 w 496808"/>
                    <a:gd name="connsiteY48" fmla="*/ 491344 h 495014"/>
                    <a:gd name="connsiteX49" fmla="*/ 426993 w 496808"/>
                    <a:gd name="connsiteY49" fmla="*/ 495014 h 495014"/>
                    <a:gd name="connsiteX50" fmla="*/ 433088 w 496808"/>
                    <a:gd name="connsiteY50" fmla="*/ 492570 h 495014"/>
                    <a:gd name="connsiteX51" fmla="*/ 452724 w 496808"/>
                    <a:gd name="connsiteY51" fmla="*/ 486461 h 495014"/>
                    <a:gd name="connsiteX52" fmla="*/ 455163 w 496808"/>
                    <a:gd name="connsiteY52" fmla="*/ 485235 h 495014"/>
                    <a:gd name="connsiteX53" fmla="*/ 457601 w 496808"/>
                    <a:gd name="connsiteY53" fmla="*/ 482790 h 495014"/>
                    <a:gd name="connsiteX54" fmla="*/ 484552 w 496808"/>
                    <a:gd name="connsiteY54" fmla="*/ 455904 h 495014"/>
                    <a:gd name="connsiteX55" fmla="*/ 486990 w 496808"/>
                    <a:gd name="connsiteY55" fmla="*/ 453459 h 495014"/>
                    <a:gd name="connsiteX56" fmla="*/ 488210 w 496808"/>
                    <a:gd name="connsiteY56" fmla="*/ 451014 h 495014"/>
                    <a:gd name="connsiteX57" fmla="*/ 494370 w 496808"/>
                    <a:gd name="connsiteY57" fmla="*/ 431456 h 495014"/>
                    <a:gd name="connsiteX58" fmla="*/ 496808 w 496808"/>
                    <a:gd name="connsiteY58" fmla="*/ 425347 h 495014"/>
                    <a:gd name="connsiteX59" fmla="*/ 493151 w 496808"/>
                    <a:gd name="connsiteY59" fmla="*/ 420457 h 495014"/>
                    <a:gd name="connsiteX60" fmla="*/ 478456 w 496808"/>
                    <a:gd name="connsiteY60" fmla="*/ 402124 h 495014"/>
                    <a:gd name="connsiteX61" fmla="*/ 346141 w 496808"/>
                    <a:gd name="connsiteY61" fmla="*/ 268897 h 495014"/>
                    <a:gd name="connsiteX62" fmla="*/ 272604 w 496808"/>
                    <a:gd name="connsiteY62" fmla="*/ 205339 h 495014"/>
                    <a:gd name="connsiteX63" fmla="*/ 292175 w 496808"/>
                    <a:gd name="connsiteY63" fmla="*/ 185783 h 495014"/>
                    <a:gd name="connsiteX64" fmla="*/ 301993 w 496808"/>
                    <a:gd name="connsiteY64" fmla="*/ 187005 h 495014"/>
                    <a:gd name="connsiteX65" fmla="*/ 325286 w 496808"/>
                    <a:gd name="connsiteY65" fmla="*/ 177227 h 495014"/>
                    <a:gd name="connsiteX66" fmla="*/ 338761 w 496808"/>
                    <a:gd name="connsiteY66" fmla="*/ 163782 h 495014"/>
                    <a:gd name="connsiteX67" fmla="*/ 338761 w 496808"/>
                    <a:gd name="connsiteY67" fmla="*/ 117336 h 495014"/>
                    <a:gd name="connsiteX68" fmla="*/ 229720 w 496808"/>
                    <a:gd name="connsiteY68" fmla="*/ 8556 h 495014"/>
                    <a:gd name="connsiteX69" fmla="*/ 206446 w 496808"/>
                    <a:gd name="connsiteY69" fmla="*/ 0 h 495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96808" h="495014">
                      <a:moveTo>
                        <a:pt x="206446" y="12223"/>
                      </a:moveTo>
                      <a:cubicBezTo>
                        <a:pt x="211342" y="12223"/>
                        <a:pt x="217470" y="14667"/>
                        <a:pt x="221147" y="18334"/>
                      </a:cubicBezTo>
                      <a:lnTo>
                        <a:pt x="330163" y="127114"/>
                      </a:lnTo>
                      <a:cubicBezTo>
                        <a:pt x="337542" y="134448"/>
                        <a:pt x="337542" y="147893"/>
                        <a:pt x="330163" y="156448"/>
                      </a:cubicBezTo>
                      <a:lnTo>
                        <a:pt x="316687" y="169894"/>
                      </a:lnTo>
                      <a:cubicBezTo>
                        <a:pt x="313030" y="173560"/>
                        <a:pt x="306934" y="176005"/>
                        <a:pt x="301993" y="176005"/>
                      </a:cubicBezTo>
                      <a:cubicBezTo>
                        <a:pt x="297116" y="176005"/>
                        <a:pt x="293458" y="174783"/>
                        <a:pt x="289736" y="171116"/>
                      </a:cubicBezTo>
                      <a:lnTo>
                        <a:pt x="253000" y="206561"/>
                      </a:lnTo>
                      <a:lnTo>
                        <a:pt x="337542" y="278674"/>
                      </a:lnTo>
                      <a:lnTo>
                        <a:pt x="468638" y="409459"/>
                      </a:lnTo>
                      <a:lnTo>
                        <a:pt x="483333" y="427792"/>
                      </a:lnTo>
                      <a:lnTo>
                        <a:pt x="477236" y="447344"/>
                      </a:lnTo>
                      <a:lnTo>
                        <a:pt x="449003" y="474237"/>
                      </a:lnTo>
                      <a:lnTo>
                        <a:pt x="429431" y="480346"/>
                      </a:lnTo>
                      <a:lnTo>
                        <a:pt x="412298" y="466902"/>
                      </a:lnTo>
                      <a:lnTo>
                        <a:pt x="279983" y="334895"/>
                      </a:lnTo>
                      <a:lnTo>
                        <a:pt x="206446" y="253007"/>
                      </a:lnTo>
                      <a:lnTo>
                        <a:pt x="170916" y="288452"/>
                      </a:lnTo>
                      <a:cubicBezTo>
                        <a:pt x="177038" y="295786"/>
                        <a:pt x="177038" y="308008"/>
                        <a:pt x="169690" y="315342"/>
                      </a:cubicBezTo>
                      <a:lnTo>
                        <a:pt x="154989" y="328786"/>
                      </a:lnTo>
                      <a:cubicBezTo>
                        <a:pt x="151313" y="332457"/>
                        <a:pt x="145184" y="334895"/>
                        <a:pt x="140282" y="334895"/>
                      </a:cubicBezTo>
                      <a:cubicBezTo>
                        <a:pt x="135386" y="334895"/>
                        <a:pt x="129258" y="332457"/>
                        <a:pt x="125581" y="328786"/>
                      </a:cubicBezTo>
                      <a:lnTo>
                        <a:pt x="16540" y="220006"/>
                      </a:lnTo>
                      <a:cubicBezTo>
                        <a:pt x="7966" y="212673"/>
                        <a:pt x="7966" y="199228"/>
                        <a:pt x="16540" y="190672"/>
                      </a:cubicBezTo>
                      <a:lnTo>
                        <a:pt x="30021" y="177227"/>
                      </a:lnTo>
                      <a:cubicBezTo>
                        <a:pt x="33692" y="173560"/>
                        <a:pt x="39820" y="171116"/>
                        <a:pt x="44722" y="171116"/>
                      </a:cubicBezTo>
                      <a:cubicBezTo>
                        <a:pt x="49618" y="171116"/>
                        <a:pt x="53295" y="172338"/>
                        <a:pt x="56972" y="176005"/>
                      </a:cubicBezTo>
                      <a:lnTo>
                        <a:pt x="175812" y="57446"/>
                      </a:lnTo>
                      <a:cubicBezTo>
                        <a:pt x="169690" y="48890"/>
                        <a:pt x="169690" y="37890"/>
                        <a:pt x="177038" y="30556"/>
                      </a:cubicBezTo>
                      <a:lnTo>
                        <a:pt x="191739" y="18334"/>
                      </a:lnTo>
                      <a:cubicBezTo>
                        <a:pt x="196641" y="14667"/>
                        <a:pt x="201544" y="12223"/>
                        <a:pt x="206446" y="12223"/>
                      </a:cubicBezTo>
                      <a:close/>
                      <a:moveTo>
                        <a:pt x="206446" y="0"/>
                      </a:moveTo>
                      <a:cubicBezTo>
                        <a:pt x="197867" y="0"/>
                        <a:pt x="189294" y="3667"/>
                        <a:pt x="183166" y="9778"/>
                      </a:cubicBezTo>
                      <a:lnTo>
                        <a:pt x="169690" y="23223"/>
                      </a:lnTo>
                      <a:cubicBezTo>
                        <a:pt x="161111" y="31779"/>
                        <a:pt x="158660" y="45223"/>
                        <a:pt x="162336" y="56224"/>
                      </a:cubicBezTo>
                      <a:lnTo>
                        <a:pt x="56972" y="161338"/>
                      </a:lnTo>
                      <a:cubicBezTo>
                        <a:pt x="53295" y="160116"/>
                        <a:pt x="49618" y="160116"/>
                        <a:pt x="47174" y="160116"/>
                      </a:cubicBezTo>
                      <a:cubicBezTo>
                        <a:pt x="38594" y="160116"/>
                        <a:pt x="30021" y="163782"/>
                        <a:pt x="23893" y="169894"/>
                      </a:cubicBezTo>
                      <a:lnTo>
                        <a:pt x="9192" y="183338"/>
                      </a:lnTo>
                      <a:cubicBezTo>
                        <a:pt x="-3064" y="195561"/>
                        <a:pt x="-3064" y="216339"/>
                        <a:pt x="9192" y="229784"/>
                      </a:cubicBezTo>
                      <a:lnTo>
                        <a:pt x="118234" y="338565"/>
                      </a:lnTo>
                      <a:cubicBezTo>
                        <a:pt x="124355" y="344674"/>
                        <a:pt x="132935" y="348345"/>
                        <a:pt x="141508" y="348345"/>
                      </a:cubicBezTo>
                      <a:cubicBezTo>
                        <a:pt x="150087" y="348345"/>
                        <a:pt x="158660" y="344674"/>
                        <a:pt x="164788" y="338565"/>
                      </a:cubicBezTo>
                      <a:lnTo>
                        <a:pt x="178263" y="325122"/>
                      </a:lnTo>
                      <a:cubicBezTo>
                        <a:pt x="186843" y="316564"/>
                        <a:pt x="189294" y="303119"/>
                        <a:pt x="186843" y="292119"/>
                      </a:cubicBezTo>
                      <a:lnTo>
                        <a:pt x="206446" y="272563"/>
                      </a:lnTo>
                      <a:lnTo>
                        <a:pt x="271378" y="344674"/>
                      </a:lnTo>
                      <a:lnTo>
                        <a:pt x="403700" y="476682"/>
                      </a:lnTo>
                      <a:lnTo>
                        <a:pt x="422052" y="491344"/>
                      </a:lnTo>
                      <a:lnTo>
                        <a:pt x="426993" y="495014"/>
                      </a:lnTo>
                      <a:lnTo>
                        <a:pt x="433088" y="492570"/>
                      </a:lnTo>
                      <a:lnTo>
                        <a:pt x="452724" y="486461"/>
                      </a:lnTo>
                      <a:lnTo>
                        <a:pt x="455163" y="485235"/>
                      </a:lnTo>
                      <a:lnTo>
                        <a:pt x="457601" y="482790"/>
                      </a:lnTo>
                      <a:lnTo>
                        <a:pt x="484552" y="455904"/>
                      </a:lnTo>
                      <a:lnTo>
                        <a:pt x="486990" y="453459"/>
                      </a:lnTo>
                      <a:lnTo>
                        <a:pt x="488210" y="451014"/>
                      </a:lnTo>
                      <a:lnTo>
                        <a:pt x="494370" y="431456"/>
                      </a:lnTo>
                      <a:lnTo>
                        <a:pt x="496808" y="425347"/>
                      </a:lnTo>
                      <a:lnTo>
                        <a:pt x="493151" y="420457"/>
                      </a:lnTo>
                      <a:lnTo>
                        <a:pt x="478456" y="402124"/>
                      </a:lnTo>
                      <a:lnTo>
                        <a:pt x="346141" y="268897"/>
                      </a:lnTo>
                      <a:lnTo>
                        <a:pt x="272604" y="205339"/>
                      </a:lnTo>
                      <a:lnTo>
                        <a:pt x="292175" y="185783"/>
                      </a:lnTo>
                      <a:cubicBezTo>
                        <a:pt x="295897" y="187005"/>
                        <a:pt x="298335" y="187005"/>
                        <a:pt x="301993" y="187005"/>
                      </a:cubicBezTo>
                      <a:cubicBezTo>
                        <a:pt x="310591" y="187005"/>
                        <a:pt x="319190" y="183338"/>
                        <a:pt x="325286" y="177227"/>
                      </a:cubicBezTo>
                      <a:lnTo>
                        <a:pt x="338761" y="163782"/>
                      </a:lnTo>
                      <a:cubicBezTo>
                        <a:pt x="351018" y="151559"/>
                        <a:pt x="351018" y="130781"/>
                        <a:pt x="338761" y="117336"/>
                      </a:cubicBezTo>
                      <a:lnTo>
                        <a:pt x="229720" y="8556"/>
                      </a:lnTo>
                      <a:cubicBezTo>
                        <a:pt x="223598" y="3667"/>
                        <a:pt x="215019" y="0"/>
                        <a:pt x="206446" y="0"/>
                      </a:cubicBezTo>
                      <a:close/>
                    </a:path>
                  </a:pathLst>
                </a:custGeom>
                <a:solidFill>
                  <a:srgbClr val="FFFFFF"/>
                </a:solidFill>
                <a:ln w="6417" cap="flat">
                  <a:noFill/>
                  <a:prstDash val="solid"/>
                  <a:miter/>
                </a:ln>
              </p:spPr>
              <p:txBody>
                <a:bodyPr rtlCol="0" anchor="ctr"/>
                <a:lstStyle/>
                <a:p>
                  <a:endParaRPr lang="en-US"/>
                </a:p>
              </p:txBody>
            </p:sp>
          </p:grpSp>
        </p:grpSp>
        <p:grpSp>
          <p:nvGrpSpPr>
            <p:cNvPr id="33" name="Graphic 3">
              <a:extLst>
                <a:ext uri="{FF2B5EF4-FFF2-40B4-BE49-F238E27FC236}">
                  <a16:creationId xmlns:a16="http://schemas.microsoft.com/office/drawing/2014/main" id="{B10418D5-AD24-28EC-AF3E-A873D340B05A}"/>
                </a:ext>
              </a:extLst>
            </p:cNvPr>
            <p:cNvGrpSpPr/>
            <p:nvPr/>
          </p:nvGrpSpPr>
          <p:grpSpPr>
            <a:xfrm>
              <a:off x="6137131" y="1595744"/>
              <a:ext cx="487616" cy="488290"/>
              <a:chOff x="6137131" y="1595744"/>
              <a:chExt cx="487616" cy="488290"/>
            </a:xfrm>
            <a:solidFill>
              <a:srgbClr val="2D5967"/>
            </a:solidFill>
          </p:grpSpPr>
          <p:sp>
            <p:nvSpPr>
              <p:cNvPr id="34" name="Freeform: Shape 33">
                <a:extLst>
                  <a:ext uri="{FF2B5EF4-FFF2-40B4-BE49-F238E27FC236}">
                    <a16:creationId xmlns:a16="http://schemas.microsoft.com/office/drawing/2014/main" id="{03C47363-2883-7943-F5C9-6A0DB324DB3D}"/>
                  </a:ext>
                </a:extLst>
              </p:cNvPr>
              <p:cNvSpPr/>
              <p:nvPr/>
            </p:nvSpPr>
            <p:spPr>
              <a:xfrm>
                <a:off x="6137131" y="2065701"/>
                <a:ext cx="241356" cy="18332"/>
              </a:xfrm>
              <a:custGeom>
                <a:avLst/>
                <a:gdLst>
                  <a:gd name="connsiteX0" fmla="*/ 226656 w 241356"/>
                  <a:gd name="connsiteY0" fmla="*/ 0 h 18332"/>
                  <a:gd name="connsiteX1" fmla="*/ 229107 w 241356"/>
                  <a:gd name="connsiteY1" fmla="*/ 0 h 18332"/>
                  <a:gd name="connsiteX2" fmla="*/ 222979 w 241356"/>
                  <a:gd name="connsiteY2" fmla="*/ 0 h 18332"/>
                  <a:gd name="connsiteX3" fmla="*/ 18378 w 241356"/>
                  <a:gd name="connsiteY3" fmla="*/ 0 h 18332"/>
                  <a:gd name="connsiteX4" fmla="*/ 0 w 241356"/>
                  <a:gd name="connsiteY4" fmla="*/ 9779 h 18332"/>
                  <a:gd name="connsiteX5" fmla="*/ 0 w 241356"/>
                  <a:gd name="connsiteY5" fmla="*/ 18333 h 18332"/>
                  <a:gd name="connsiteX6" fmla="*/ 241357 w 241356"/>
                  <a:gd name="connsiteY6" fmla="*/ 18333 h 18332"/>
                  <a:gd name="connsiteX7" fmla="*/ 241357 w 241356"/>
                  <a:gd name="connsiteY7" fmla="*/ 9779 h 18332"/>
                  <a:gd name="connsiteX8" fmla="*/ 226656 w 241356"/>
                  <a:gd name="connsiteY8" fmla="*/ 0 h 18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356" h="18332">
                    <a:moveTo>
                      <a:pt x="226656" y="0"/>
                    </a:moveTo>
                    <a:lnTo>
                      <a:pt x="229107" y="0"/>
                    </a:lnTo>
                    <a:lnTo>
                      <a:pt x="222979" y="0"/>
                    </a:lnTo>
                    <a:lnTo>
                      <a:pt x="18378" y="0"/>
                    </a:lnTo>
                    <a:lnTo>
                      <a:pt x="0" y="9779"/>
                    </a:lnTo>
                    <a:lnTo>
                      <a:pt x="0" y="18333"/>
                    </a:lnTo>
                    <a:lnTo>
                      <a:pt x="241357" y="18333"/>
                    </a:lnTo>
                    <a:lnTo>
                      <a:pt x="241357" y="9779"/>
                    </a:lnTo>
                    <a:lnTo>
                      <a:pt x="226656" y="0"/>
                    </a:lnTo>
                    <a:close/>
                  </a:path>
                </a:pathLst>
              </a:custGeom>
              <a:solidFill>
                <a:srgbClr val="2D5967"/>
              </a:solidFill>
              <a:ln w="6417"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7AC87F9-EFE1-25BD-F4CD-C99973D958A0}"/>
                  </a:ext>
                </a:extLst>
              </p:cNvPr>
              <p:cNvSpPr/>
              <p:nvPr/>
            </p:nvSpPr>
            <p:spPr>
              <a:xfrm>
                <a:off x="6154290" y="1981365"/>
                <a:ext cx="209503" cy="70893"/>
              </a:xfrm>
              <a:custGeom>
                <a:avLst/>
                <a:gdLst>
                  <a:gd name="connsiteX0" fmla="*/ 209503 w 209503"/>
                  <a:gd name="connsiteY0" fmla="*/ 24448 h 70893"/>
                  <a:gd name="connsiteX1" fmla="*/ 184998 w 209503"/>
                  <a:gd name="connsiteY1" fmla="*/ 0 h 70893"/>
                  <a:gd name="connsiteX2" fmla="*/ 24499 w 209503"/>
                  <a:gd name="connsiteY2" fmla="*/ 0 h 70893"/>
                  <a:gd name="connsiteX3" fmla="*/ 0 w 209503"/>
                  <a:gd name="connsiteY3" fmla="*/ 24448 h 70893"/>
                  <a:gd name="connsiteX4" fmla="*/ 0 w 209503"/>
                  <a:gd name="connsiteY4" fmla="*/ 70893 h 70893"/>
                  <a:gd name="connsiteX5" fmla="*/ 208278 w 209503"/>
                  <a:gd name="connsiteY5" fmla="*/ 70893 h 70893"/>
                  <a:gd name="connsiteX6" fmla="*/ 209503 w 209503"/>
                  <a:gd name="connsiteY6" fmla="*/ 24448 h 70893"/>
                  <a:gd name="connsiteX7" fmla="*/ 191126 w 209503"/>
                  <a:gd name="connsiteY7" fmla="*/ 52560 h 70893"/>
                  <a:gd name="connsiteX8" fmla="*/ 18378 w 209503"/>
                  <a:gd name="connsiteY8" fmla="*/ 52560 h 70893"/>
                  <a:gd name="connsiteX9" fmla="*/ 18378 w 209503"/>
                  <a:gd name="connsiteY9" fmla="*/ 24448 h 70893"/>
                  <a:gd name="connsiteX10" fmla="*/ 24499 w 209503"/>
                  <a:gd name="connsiteY10" fmla="*/ 18333 h 70893"/>
                  <a:gd name="connsiteX11" fmla="*/ 184998 w 209503"/>
                  <a:gd name="connsiteY11" fmla="*/ 18333 h 70893"/>
                  <a:gd name="connsiteX12" fmla="*/ 191126 w 209503"/>
                  <a:gd name="connsiteY12" fmla="*/ 24448 h 70893"/>
                  <a:gd name="connsiteX13" fmla="*/ 191126 w 209503"/>
                  <a:gd name="connsiteY13" fmla="*/ 52560 h 7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503" h="70893">
                    <a:moveTo>
                      <a:pt x="209503" y="24448"/>
                    </a:moveTo>
                    <a:cubicBezTo>
                      <a:pt x="209503" y="11005"/>
                      <a:pt x="198473" y="0"/>
                      <a:pt x="184998" y="0"/>
                    </a:cubicBezTo>
                    <a:lnTo>
                      <a:pt x="24499" y="0"/>
                    </a:lnTo>
                    <a:cubicBezTo>
                      <a:pt x="11024" y="0"/>
                      <a:pt x="0" y="11005"/>
                      <a:pt x="0" y="24448"/>
                    </a:cubicBezTo>
                    <a:lnTo>
                      <a:pt x="0" y="70893"/>
                    </a:lnTo>
                    <a:lnTo>
                      <a:pt x="208278" y="70893"/>
                    </a:lnTo>
                    <a:cubicBezTo>
                      <a:pt x="209503" y="70893"/>
                      <a:pt x="209503" y="24448"/>
                      <a:pt x="209503" y="24448"/>
                    </a:cubicBezTo>
                    <a:close/>
                    <a:moveTo>
                      <a:pt x="191126" y="52560"/>
                    </a:moveTo>
                    <a:lnTo>
                      <a:pt x="18378" y="52560"/>
                    </a:lnTo>
                    <a:lnTo>
                      <a:pt x="18378" y="24448"/>
                    </a:lnTo>
                    <a:cubicBezTo>
                      <a:pt x="18378" y="20778"/>
                      <a:pt x="20823" y="18333"/>
                      <a:pt x="24499" y="18333"/>
                    </a:cubicBezTo>
                    <a:lnTo>
                      <a:pt x="184998" y="18333"/>
                    </a:lnTo>
                    <a:cubicBezTo>
                      <a:pt x="188675" y="18333"/>
                      <a:pt x="191126" y="20778"/>
                      <a:pt x="191126" y="24448"/>
                    </a:cubicBezTo>
                    <a:lnTo>
                      <a:pt x="191126" y="52560"/>
                    </a:lnTo>
                    <a:close/>
                  </a:path>
                </a:pathLst>
              </a:custGeom>
              <a:solidFill>
                <a:srgbClr val="2D5967"/>
              </a:solidFill>
              <a:ln w="6417"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D6BB8C2-8465-4AB6-1070-20CC0ABA6C10}"/>
                  </a:ext>
                </a:extLst>
              </p:cNvPr>
              <p:cNvSpPr/>
              <p:nvPr/>
            </p:nvSpPr>
            <p:spPr>
              <a:xfrm>
                <a:off x="6565969" y="2004594"/>
                <a:ext cx="58778" cy="59888"/>
              </a:xfrm>
              <a:custGeom>
                <a:avLst/>
                <a:gdLst>
                  <a:gd name="connsiteX0" fmla="*/ 58778 w 58778"/>
                  <a:gd name="connsiteY0" fmla="*/ 6115 h 59888"/>
                  <a:gd name="connsiteX1" fmla="*/ 52682 w 58778"/>
                  <a:gd name="connsiteY1" fmla="*/ 0 h 59888"/>
                  <a:gd name="connsiteX2" fmla="*/ 0 w 58778"/>
                  <a:gd name="connsiteY2" fmla="*/ 52560 h 59888"/>
                  <a:gd name="connsiteX3" fmla="*/ 6096 w 58778"/>
                  <a:gd name="connsiteY3" fmla="*/ 59888 h 59888"/>
                  <a:gd name="connsiteX4" fmla="*/ 24449 w 58778"/>
                  <a:gd name="connsiteY4" fmla="*/ 52560 h 59888"/>
                  <a:gd name="connsiteX5" fmla="*/ 52682 w 58778"/>
                  <a:gd name="connsiteY5" fmla="*/ 25667 h 59888"/>
                  <a:gd name="connsiteX6" fmla="*/ 58778 w 58778"/>
                  <a:gd name="connsiteY6" fmla="*/ 6115 h 5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778" h="59888">
                    <a:moveTo>
                      <a:pt x="58778" y="6115"/>
                    </a:moveTo>
                    <a:lnTo>
                      <a:pt x="52682" y="0"/>
                    </a:lnTo>
                    <a:lnTo>
                      <a:pt x="0" y="52560"/>
                    </a:lnTo>
                    <a:lnTo>
                      <a:pt x="6096" y="59888"/>
                    </a:lnTo>
                    <a:lnTo>
                      <a:pt x="24449" y="52560"/>
                    </a:lnTo>
                    <a:lnTo>
                      <a:pt x="52682" y="25667"/>
                    </a:lnTo>
                    <a:lnTo>
                      <a:pt x="58778" y="6115"/>
                    </a:lnTo>
                    <a:close/>
                  </a:path>
                </a:pathLst>
              </a:custGeom>
              <a:solidFill>
                <a:srgbClr val="2D5967"/>
              </a:solidFill>
              <a:ln w="6417"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E926BE8-4CE5-2274-6B96-68F93CB825F5}"/>
                  </a:ext>
                </a:extLst>
              </p:cNvPr>
              <p:cNvSpPr/>
              <p:nvPr/>
            </p:nvSpPr>
            <p:spPr>
              <a:xfrm>
                <a:off x="6152752" y="1595744"/>
                <a:ext cx="458520" cy="454069"/>
              </a:xfrm>
              <a:custGeom>
                <a:avLst/>
                <a:gdLst>
                  <a:gd name="connsiteX0" fmla="*/ 326205 w 458520"/>
                  <a:gd name="connsiteY0" fmla="*/ 265841 h 454069"/>
                  <a:gd name="connsiteX1" fmla="*/ 241663 w 458520"/>
                  <a:gd name="connsiteY1" fmla="*/ 193728 h 454069"/>
                  <a:gd name="connsiteX2" fmla="*/ 277180 w 458520"/>
                  <a:gd name="connsiteY2" fmla="*/ 158282 h 454069"/>
                  <a:gd name="connsiteX3" fmla="*/ 289437 w 458520"/>
                  <a:gd name="connsiteY3" fmla="*/ 163171 h 454069"/>
                  <a:gd name="connsiteX4" fmla="*/ 304131 w 458520"/>
                  <a:gd name="connsiteY4" fmla="*/ 157060 h 454069"/>
                  <a:gd name="connsiteX5" fmla="*/ 317607 w 458520"/>
                  <a:gd name="connsiteY5" fmla="*/ 143615 h 454069"/>
                  <a:gd name="connsiteX6" fmla="*/ 317607 w 458520"/>
                  <a:gd name="connsiteY6" fmla="*/ 114281 h 454069"/>
                  <a:gd name="connsiteX7" fmla="*/ 208584 w 458520"/>
                  <a:gd name="connsiteY7" fmla="*/ 5500 h 454069"/>
                  <a:gd name="connsiteX8" fmla="*/ 179182 w 458520"/>
                  <a:gd name="connsiteY8" fmla="*/ 5500 h 454069"/>
                  <a:gd name="connsiteX9" fmla="*/ 165707 w 458520"/>
                  <a:gd name="connsiteY9" fmla="*/ 18945 h 454069"/>
                  <a:gd name="connsiteX10" fmla="*/ 164481 w 458520"/>
                  <a:gd name="connsiteY10" fmla="*/ 45835 h 454069"/>
                  <a:gd name="connsiteX11" fmla="*/ 45641 w 458520"/>
                  <a:gd name="connsiteY11" fmla="*/ 164394 h 454069"/>
                  <a:gd name="connsiteX12" fmla="*/ 19910 w 458520"/>
                  <a:gd name="connsiteY12" fmla="*/ 165616 h 454069"/>
                  <a:gd name="connsiteX13" fmla="*/ 6434 w 458520"/>
                  <a:gd name="connsiteY13" fmla="*/ 179061 h 454069"/>
                  <a:gd name="connsiteX14" fmla="*/ 6434 w 458520"/>
                  <a:gd name="connsiteY14" fmla="*/ 208394 h 454069"/>
                  <a:gd name="connsiteX15" fmla="*/ 115476 w 458520"/>
                  <a:gd name="connsiteY15" fmla="*/ 317173 h 454069"/>
                  <a:gd name="connsiteX16" fmla="*/ 130177 w 458520"/>
                  <a:gd name="connsiteY16" fmla="*/ 323288 h 454069"/>
                  <a:gd name="connsiteX17" fmla="*/ 144878 w 458520"/>
                  <a:gd name="connsiteY17" fmla="*/ 317173 h 454069"/>
                  <a:gd name="connsiteX18" fmla="*/ 158353 w 458520"/>
                  <a:gd name="connsiteY18" fmla="*/ 303731 h 454069"/>
                  <a:gd name="connsiteX19" fmla="*/ 159579 w 458520"/>
                  <a:gd name="connsiteY19" fmla="*/ 276841 h 454069"/>
                  <a:gd name="connsiteX20" fmla="*/ 195109 w 458520"/>
                  <a:gd name="connsiteY20" fmla="*/ 241396 h 454069"/>
                  <a:gd name="connsiteX21" fmla="*/ 268646 w 458520"/>
                  <a:gd name="connsiteY21" fmla="*/ 323288 h 454069"/>
                  <a:gd name="connsiteX22" fmla="*/ 400961 w 458520"/>
                  <a:gd name="connsiteY22" fmla="*/ 454070 h 454069"/>
                  <a:gd name="connsiteX23" fmla="*/ 458521 w 458520"/>
                  <a:gd name="connsiteY23" fmla="*/ 396620 h 454069"/>
                  <a:gd name="connsiteX24" fmla="*/ 326205 w 458520"/>
                  <a:gd name="connsiteY24" fmla="*/ 265841 h 454069"/>
                  <a:gd name="connsiteX25" fmla="*/ 180408 w 458520"/>
                  <a:gd name="connsiteY25" fmla="*/ 31168 h 454069"/>
                  <a:gd name="connsiteX26" fmla="*/ 193883 w 458520"/>
                  <a:gd name="connsiteY26" fmla="*/ 17723 h 454069"/>
                  <a:gd name="connsiteX27" fmla="*/ 195109 w 458520"/>
                  <a:gd name="connsiteY27" fmla="*/ 17723 h 454069"/>
                  <a:gd name="connsiteX28" fmla="*/ 196334 w 458520"/>
                  <a:gd name="connsiteY28" fmla="*/ 17723 h 454069"/>
                  <a:gd name="connsiteX29" fmla="*/ 305350 w 458520"/>
                  <a:gd name="connsiteY29" fmla="*/ 126503 h 454069"/>
                  <a:gd name="connsiteX30" fmla="*/ 305350 w 458520"/>
                  <a:gd name="connsiteY30" fmla="*/ 130171 h 454069"/>
                  <a:gd name="connsiteX31" fmla="*/ 291875 w 458520"/>
                  <a:gd name="connsiteY31" fmla="*/ 143615 h 454069"/>
                  <a:gd name="connsiteX32" fmla="*/ 288217 w 458520"/>
                  <a:gd name="connsiteY32" fmla="*/ 143615 h 454069"/>
                  <a:gd name="connsiteX33" fmla="*/ 180408 w 458520"/>
                  <a:gd name="connsiteY33" fmla="*/ 34834 h 454069"/>
                  <a:gd name="connsiteX34" fmla="*/ 180408 w 458520"/>
                  <a:gd name="connsiteY34" fmla="*/ 31168 h 454069"/>
                  <a:gd name="connsiteX35" fmla="*/ 144878 w 458520"/>
                  <a:gd name="connsiteY35" fmla="*/ 290286 h 454069"/>
                  <a:gd name="connsiteX36" fmla="*/ 131403 w 458520"/>
                  <a:gd name="connsiteY36" fmla="*/ 303731 h 454069"/>
                  <a:gd name="connsiteX37" fmla="*/ 127726 w 458520"/>
                  <a:gd name="connsiteY37" fmla="*/ 303731 h 454069"/>
                  <a:gd name="connsiteX38" fmla="*/ 19910 w 458520"/>
                  <a:gd name="connsiteY38" fmla="*/ 194950 h 454069"/>
                  <a:gd name="connsiteX39" fmla="*/ 19910 w 458520"/>
                  <a:gd name="connsiteY39" fmla="*/ 191283 h 454069"/>
                  <a:gd name="connsiteX40" fmla="*/ 33385 w 458520"/>
                  <a:gd name="connsiteY40" fmla="*/ 179061 h 454069"/>
                  <a:gd name="connsiteX41" fmla="*/ 34611 w 458520"/>
                  <a:gd name="connsiteY41" fmla="*/ 177838 h 454069"/>
                  <a:gd name="connsiteX42" fmla="*/ 35837 w 458520"/>
                  <a:gd name="connsiteY42" fmla="*/ 179061 h 454069"/>
                  <a:gd name="connsiteX43" fmla="*/ 144878 w 458520"/>
                  <a:gd name="connsiteY43" fmla="*/ 287841 h 454069"/>
                  <a:gd name="connsiteX44" fmla="*/ 144878 w 458520"/>
                  <a:gd name="connsiteY44" fmla="*/ 290286 h 454069"/>
                  <a:gd name="connsiteX45" fmla="*/ 146103 w 458520"/>
                  <a:gd name="connsiteY45" fmla="*/ 263396 h 454069"/>
                  <a:gd name="connsiteX46" fmla="*/ 59117 w 458520"/>
                  <a:gd name="connsiteY46" fmla="*/ 176616 h 454069"/>
                  <a:gd name="connsiteX47" fmla="*/ 176731 w 458520"/>
                  <a:gd name="connsiteY47" fmla="*/ 59279 h 454069"/>
                  <a:gd name="connsiteX48" fmla="*/ 263718 w 458520"/>
                  <a:gd name="connsiteY48" fmla="*/ 146060 h 454069"/>
                  <a:gd name="connsiteX49" fmla="*/ 226962 w 458520"/>
                  <a:gd name="connsiteY49" fmla="*/ 182727 h 454069"/>
                  <a:gd name="connsiteX50" fmla="*/ 180408 w 458520"/>
                  <a:gd name="connsiteY50" fmla="*/ 229173 h 454069"/>
                  <a:gd name="connsiteX51" fmla="*/ 146103 w 458520"/>
                  <a:gd name="connsiteY51" fmla="*/ 263396 h 454069"/>
                  <a:gd name="connsiteX52" fmla="*/ 282121 w 458520"/>
                  <a:gd name="connsiteY52" fmla="*/ 309845 h 454069"/>
                  <a:gd name="connsiteX53" fmla="*/ 207359 w 458520"/>
                  <a:gd name="connsiteY53" fmla="*/ 227951 h 454069"/>
                  <a:gd name="connsiteX54" fmla="*/ 229413 w 458520"/>
                  <a:gd name="connsiteY54" fmla="*/ 205950 h 454069"/>
                  <a:gd name="connsiteX55" fmla="*/ 313949 w 458520"/>
                  <a:gd name="connsiteY55" fmla="*/ 278063 h 454069"/>
                  <a:gd name="connsiteX56" fmla="*/ 432789 w 458520"/>
                  <a:gd name="connsiteY56" fmla="*/ 396620 h 454069"/>
                  <a:gd name="connsiteX57" fmla="*/ 400961 w 458520"/>
                  <a:gd name="connsiteY57" fmla="*/ 428402 h 454069"/>
                  <a:gd name="connsiteX58" fmla="*/ 282121 w 458520"/>
                  <a:gd name="connsiteY58" fmla="*/ 309845 h 454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58520" h="454069">
                    <a:moveTo>
                      <a:pt x="326205" y="265841"/>
                    </a:moveTo>
                    <a:lnTo>
                      <a:pt x="241663" y="193728"/>
                    </a:lnTo>
                    <a:lnTo>
                      <a:pt x="277180" y="158282"/>
                    </a:lnTo>
                    <a:cubicBezTo>
                      <a:pt x="280902" y="160727"/>
                      <a:pt x="285779" y="163171"/>
                      <a:pt x="289437" y="163171"/>
                    </a:cubicBezTo>
                    <a:cubicBezTo>
                      <a:pt x="294377" y="163171"/>
                      <a:pt x="300473" y="160727"/>
                      <a:pt x="304131" y="157060"/>
                    </a:cubicBezTo>
                    <a:lnTo>
                      <a:pt x="317607" y="143615"/>
                    </a:lnTo>
                    <a:cubicBezTo>
                      <a:pt x="324986" y="136281"/>
                      <a:pt x="324986" y="122837"/>
                      <a:pt x="317607" y="114281"/>
                    </a:cubicBezTo>
                    <a:lnTo>
                      <a:pt x="208584" y="5500"/>
                    </a:lnTo>
                    <a:cubicBezTo>
                      <a:pt x="201237" y="-1833"/>
                      <a:pt x="187761" y="-1833"/>
                      <a:pt x="179182" y="5500"/>
                    </a:cubicBezTo>
                    <a:lnTo>
                      <a:pt x="165707" y="18945"/>
                    </a:lnTo>
                    <a:cubicBezTo>
                      <a:pt x="158353" y="26279"/>
                      <a:pt x="158353" y="37279"/>
                      <a:pt x="164481" y="45835"/>
                    </a:cubicBezTo>
                    <a:lnTo>
                      <a:pt x="45641" y="164394"/>
                    </a:lnTo>
                    <a:cubicBezTo>
                      <a:pt x="39513" y="158282"/>
                      <a:pt x="27264" y="158282"/>
                      <a:pt x="19910" y="165616"/>
                    </a:cubicBezTo>
                    <a:lnTo>
                      <a:pt x="6434" y="179061"/>
                    </a:lnTo>
                    <a:cubicBezTo>
                      <a:pt x="-2145" y="187616"/>
                      <a:pt x="-2145" y="199839"/>
                      <a:pt x="6434" y="208394"/>
                    </a:cubicBezTo>
                    <a:lnTo>
                      <a:pt x="115476" y="317173"/>
                    </a:lnTo>
                    <a:cubicBezTo>
                      <a:pt x="119146" y="320843"/>
                      <a:pt x="125274" y="323288"/>
                      <a:pt x="130177" y="323288"/>
                    </a:cubicBezTo>
                    <a:cubicBezTo>
                      <a:pt x="135073" y="323288"/>
                      <a:pt x="141201" y="320843"/>
                      <a:pt x="144878" y="317173"/>
                    </a:cubicBezTo>
                    <a:lnTo>
                      <a:pt x="158353" y="303731"/>
                    </a:lnTo>
                    <a:cubicBezTo>
                      <a:pt x="165707" y="296397"/>
                      <a:pt x="165707" y="285397"/>
                      <a:pt x="159579" y="276841"/>
                    </a:cubicBezTo>
                    <a:lnTo>
                      <a:pt x="195109" y="241396"/>
                    </a:lnTo>
                    <a:lnTo>
                      <a:pt x="268646" y="323288"/>
                    </a:lnTo>
                    <a:lnTo>
                      <a:pt x="400961" y="454070"/>
                    </a:lnTo>
                    <a:lnTo>
                      <a:pt x="458521" y="396620"/>
                    </a:lnTo>
                    <a:lnTo>
                      <a:pt x="326205" y="265841"/>
                    </a:lnTo>
                    <a:close/>
                    <a:moveTo>
                      <a:pt x="180408" y="31168"/>
                    </a:moveTo>
                    <a:lnTo>
                      <a:pt x="193883" y="17723"/>
                    </a:lnTo>
                    <a:lnTo>
                      <a:pt x="195109" y="17723"/>
                    </a:lnTo>
                    <a:lnTo>
                      <a:pt x="196334" y="17723"/>
                    </a:lnTo>
                    <a:lnTo>
                      <a:pt x="305350" y="126503"/>
                    </a:lnTo>
                    <a:cubicBezTo>
                      <a:pt x="306569" y="127726"/>
                      <a:pt x="306569" y="128948"/>
                      <a:pt x="305350" y="130171"/>
                    </a:cubicBezTo>
                    <a:lnTo>
                      <a:pt x="291875" y="143615"/>
                    </a:lnTo>
                    <a:cubicBezTo>
                      <a:pt x="290656" y="144838"/>
                      <a:pt x="289437" y="144838"/>
                      <a:pt x="288217" y="143615"/>
                    </a:cubicBezTo>
                    <a:lnTo>
                      <a:pt x="180408" y="34834"/>
                    </a:lnTo>
                    <a:cubicBezTo>
                      <a:pt x="179182" y="33612"/>
                      <a:pt x="179182" y="32390"/>
                      <a:pt x="180408" y="31168"/>
                    </a:cubicBezTo>
                    <a:close/>
                    <a:moveTo>
                      <a:pt x="144878" y="290286"/>
                    </a:moveTo>
                    <a:lnTo>
                      <a:pt x="131403" y="303731"/>
                    </a:lnTo>
                    <a:cubicBezTo>
                      <a:pt x="130177" y="304953"/>
                      <a:pt x="128951" y="304953"/>
                      <a:pt x="127726" y="303731"/>
                    </a:cubicBezTo>
                    <a:lnTo>
                      <a:pt x="19910" y="194950"/>
                    </a:lnTo>
                    <a:cubicBezTo>
                      <a:pt x="18684" y="193728"/>
                      <a:pt x="18684" y="192506"/>
                      <a:pt x="19910" y="191283"/>
                    </a:cubicBezTo>
                    <a:lnTo>
                      <a:pt x="33385" y="179061"/>
                    </a:lnTo>
                    <a:lnTo>
                      <a:pt x="34611" y="177838"/>
                    </a:lnTo>
                    <a:cubicBezTo>
                      <a:pt x="34611" y="177838"/>
                      <a:pt x="35837" y="177838"/>
                      <a:pt x="35837" y="179061"/>
                    </a:cubicBezTo>
                    <a:lnTo>
                      <a:pt x="144878" y="287841"/>
                    </a:lnTo>
                    <a:cubicBezTo>
                      <a:pt x="146103" y="287841"/>
                      <a:pt x="146103" y="289064"/>
                      <a:pt x="144878" y="290286"/>
                    </a:cubicBezTo>
                    <a:close/>
                    <a:moveTo>
                      <a:pt x="146103" y="263396"/>
                    </a:moveTo>
                    <a:lnTo>
                      <a:pt x="59117" y="176616"/>
                    </a:lnTo>
                    <a:lnTo>
                      <a:pt x="176731" y="59279"/>
                    </a:lnTo>
                    <a:lnTo>
                      <a:pt x="263718" y="146060"/>
                    </a:lnTo>
                    <a:lnTo>
                      <a:pt x="226962" y="182727"/>
                    </a:lnTo>
                    <a:lnTo>
                      <a:pt x="180408" y="229173"/>
                    </a:lnTo>
                    <a:lnTo>
                      <a:pt x="146103" y="263396"/>
                    </a:lnTo>
                    <a:close/>
                    <a:moveTo>
                      <a:pt x="282121" y="309845"/>
                    </a:moveTo>
                    <a:lnTo>
                      <a:pt x="207359" y="227951"/>
                    </a:lnTo>
                    <a:lnTo>
                      <a:pt x="229413" y="205950"/>
                    </a:lnTo>
                    <a:lnTo>
                      <a:pt x="313949" y="278063"/>
                    </a:lnTo>
                    <a:lnTo>
                      <a:pt x="432789" y="396620"/>
                    </a:lnTo>
                    <a:lnTo>
                      <a:pt x="400961" y="428402"/>
                    </a:lnTo>
                    <a:lnTo>
                      <a:pt x="282121" y="309845"/>
                    </a:lnTo>
                    <a:close/>
                  </a:path>
                </a:pathLst>
              </a:custGeom>
              <a:solidFill>
                <a:srgbClr val="2D5967"/>
              </a:solidFill>
              <a:ln w="6417" cap="flat">
                <a:noFill/>
                <a:prstDash val="solid"/>
                <a:miter/>
              </a:ln>
            </p:spPr>
            <p:txBody>
              <a:bodyPr rtlCol="0" anchor="ctr"/>
              <a:lstStyle/>
              <a:p>
                <a:endParaRPr lang="en-US"/>
              </a:p>
            </p:txBody>
          </p:sp>
        </p:grpSp>
      </p:grpSp>
      <p:pic>
        <p:nvPicPr>
          <p:cNvPr id="9" name="Picture 8">
            <a:extLst>
              <a:ext uri="{FF2B5EF4-FFF2-40B4-BE49-F238E27FC236}">
                <a16:creationId xmlns:a16="http://schemas.microsoft.com/office/drawing/2014/main" id="{A79555C7-15F8-E25D-963E-5EEF8D85A668}"/>
              </a:ext>
            </a:extLst>
          </p:cNvPr>
          <p:cNvPicPr>
            <a:picLocks noChangeAspect="1"/>
          </p:cNvPicPr>
          <p:nvPr/>
        </p:nvPicPr>
        <p:blipFill>
          <a:blip r:embed="rId5"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48583" y="1839582"/>
            <a:ext cx="473570" cy="3771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69" name="Google Shape;69;p15"/>
          <p:cNvSpPr txBox="1"/>
          <p:nvPr/>
        </p:nvSpPr>
        <p:spPr>
          <a:xfrm>
            <a:off x="418722" y="2013365"/>
            <a:ext cx="2960279" cy="4401164"/>
          </a:xfrm>
          <a:prstGeom prst="rect">
            <a:avLst/>
          </a:prstGeom>
          <a:noFill/>
          <a:ln>
            <a:noFill/>
          </a:ln>
        </p:spPr>
        <p:txBody>
          <a:bodyPr spcFirstLastPara="1" wrap="square" lIns="121900" tIns="121900" rIns="121900" bIns="121900" anchor="t" anchorCtr="0">
            <a:spAutoFit/>
          </a:bodyPr>
          <a:lstStyle/>
          <a:p>
            <a:pPr algn="just">
              <a:lnSpc>
                <a:spcPct val="150000"/>
              </a:lnSpc>
              <a:buClr>
                <a:schemeClr val="dk1"/>
              </a:buClr>
              <a:buSzPts val="1100"/>
            </a:pPr>
            <a:r>
              <a:rPr lang="en" sz="1200" dirty="0">
                <a:solidFill>
                  <a:schemeClr val="dk1"/>
                </a:solidFill>
                <a:latin typeface="Rockwell" panose="02060603020205020403" pitchFamily="18" charset="0"/>
                <a:ea typeface="Karla Medium"/>
                <a:cs typeface="Karla Medium"/>
                <a:sym typeface="Karla Medium"/>
              </a:rPr>
              <a:t>The  OCI IAM service provides authentication and authorization for resources and services; it uses a tenancy shared by various business teams, and individuals and maintaining security, isolation, and governance.</a:t>
            </a:r>
          </a:p>
          <a:p>
            <a:pPr algn="just">
              <a:lnSpc>
                <a:spcPct val="150000"/>
              </a:lnSpc>
              <a:buClr>
                <a:schemeClr val="dk1"/>
              </a:buClr>
              <a:buSzPts val="1100"/>
            </a:pPr>
            <a:endParaRPr lang="en" sz="1200" dirty="0">
              <a:solidFill>
                <a:schemeClr val="dk1"/>
              </a:solidFill>
              <a:latin typeface="Rockwell" panose="02060603020205020403" pitchFamily="18" charset="0"/>
              <a:ea typeface="Karla Medium"/>
              <a:cs typeface="Karla Medium"/>
              <a:sym typeface="Karla Medium"/>
            </a:endParaRPr>
          </a:p>
          <a:p>
            <a:pPr>
              <a:lnSpc>
                <a:spcPct val="150000"/>
              </a:lnSpc>
              <a:buClr>
                <a:schemeClr val="dk1"/>
              </a:buClr>
              <a:buSzPts val="1100"/>
            </a:pPr>
            <a:r>
              <a:rPr lang="en-US" sz="1200" b="1" dirty="0">
                <a:solidFill>
                  <a:schemeClr val="dk1"/>
                </a:solidFill>
                <a:latin typeface="Rockwell" panose="02060603020205020403" pitchFamily="18" charset="0"/>
                <a:ea typeface="Karla"/>
                <a:cs typeface="Karla"/>
                <a:sym typeface="Karla"/>
              </a:rPr>
              <a:t>Resource :</a:t>
            </a:r>
            <a:r>
              <a:rPr lang="en-US" sz="1200" dirty="0">
                <a:solidFill>
                  <a:schemeClr val="dk1"/>
                </a:solidFill>
                <a:latin typeface="Rockwell" panose="02060603020205020403" pitchFamily="18" charset="0"/>
                <a:ea typeface="Karla Medium"/>
                <a:cs typeface="Karla Medium"/>
                <a:sym typeface="Karla Medium"/>
              </a:rPr>
              <a:t> </a:t>
            </a:r>
            <a:r>
              <a:rPr lang="en-US" sz="1200" dirty="0">
                <a:solidFill>
                  <a:schemeClr val="dk1"/>
                </a:solidFill>
                <a:latin typeface="Rockwell" panose="02060603020205020403" pitchFamily="18" charset="0"/>
                <a:ea typeface="Karla"/>
                <a:cs typeface="Karla"/>
                <a:sym typeface="Karla"/>
              </a:rPr>
              <a:t>A cloud object  created  for interacting with OCI services.</a:t>
            </a:r>
            <a:r>
              <a:rPr lang="en-US" sz="1200" dirty="0">
                <a:solidFill>
                  <a:schemeClr val="dk1"/>
                </a:solidFill>
                <a:latin typeface="Rockwell" panose="02060603020205020403" pitchFamily="18" charset="0"/>
                <a:ea typeface="Karla Medium"/>
                <a:cs typeface="Karla Medium"/>
                <a:sym typeface="Karla Medium"/>
              </a:rPr>
              <a:t> </a:t>
            </a:r>
          </a:p>
          <a:p>
            <a:pPr>
              <a:lnSpc>
                <a:spcPct val="150000"/>
              </a:lnSpc>
              <a:buClr>
                <a:schemeClr val="dk1"/>
              </a:buClr>
              <a:buSzPts val="1100"/>
            </a:pPr>
            <a:endParaRPr lang="en-US" sz="1200" dirty="0">
              <a:solidFill>
                <a:schemeClr val="dk1"/>
              </a:solidFill>
              <a:latin typeface="Rockwell" panose="02060603020205020403" pitchFamily="18" charset="0"/>
              <a:ea typeface="Karla Medium"/>
              <a:cs typeface="Karla Medium"/>
              <a:sym typeface="Karla Medium"/>
            </a:endParaRPr>
          </a:p>
          <a:p>
            <a:pPr>
              <a:lnSpc>
                <a:spcPct val="150000"/>
              </a:lnSpc>
            </a:pPr>
            <a:r>
              <a:rPr lang="en-US" sz="1200" b="1" dirty="0">
                <a:solidFill>
                  <a:schemeClr val="dk1"/>
                </a:solidFill>
                <a:latin typeface="Rockwell" panose="02060603020205020403" pitchFamily="18" charset="0"/>
                <a:ea typeface="Karla"/>
                <a:cs typeface="Karla"/>
                <a:sym typeface="Karla"/>
              </a:rPr>
              <a:t>Policy :</a:t>
            </a:r>
            <a:r>
              <a:rPr lang="en-US" sz="1200" dirty="0">
                <a:solidFill>
                  <a:schemeClr val="dk1"/>
                </a:solidFill>
                <a:latin typeface="Rockwell" panose="02060603020205020403" pitchFamily="18" charset="0"/>
                <a:ea typeface="Karla Medium"/>
                <a:cs typeface="Karla Medium"/>
                <a:sym typeface="Karla Medium"/>
              </a:rPr>
              <a:t> </a:t>
            </a:r>
            <a:r>
              <a:rPr lang="en-US" sz="1200" dirty="0">
                <a:solidFill>
                  <a:schemeClr val="dk1"/>
                </a:solidFill>
                <a:latin typeface="Rockwell" panose="02060603020205020403" pitchFamily="18" charset="0"/>
                <a:ea typeface="Karla"/>
                <a:cs typeface="Karla"/>
                <a:sym typeface="Karla"/>
              </a:rPr>
              <a:t>A set of authorization rules that define access to resources within a tenancy.</a:t>
            </a:r>
            <a:endParaRPr lang="en-US" sz="1200" dirty="0">
              <a:latin typeface="Rockwell" panose="02060603020205020403" pitchFamily="18" charset="0"/>
            </a:endParaRPr>
          </a:p>
          <a:p>
            <a:pPr algn="just">
              <a:lnSpc>
                <a:spcPct val="150000"/>
              </a:lnSpc>
              <a:buClr>
                <a:schemeClr val="dk1"/>
              </a:buClr>
              <a:buSzPts val="1100"/>
            </a:pPr>
            <a:endParaRPr sz="1200" dirty="0">
              <a:solidFill>
                <a:schemeClr val="dk1"/>
              </a:solidFill>
              <a:latin typeface="Rockwell" panose="02060603020205020403" pitchFamily="18" charset="0"/>
              <a:ea typeface="Karla Medium"/>
              <a:cs typeface="Karla Medium"/>
              <a:sym typeface="Karla Medium"/>
            </a:endParaRPr>
          </a:p>
        </p:txBody>
      </p:sp>
      <p:pic>
        <p:nvPicPr>
          <p:cNvPr id="2" name="Graphic 85">
            <a:extLst>
              <a:ext uri="{FF2B5EF4-FFF2-40B4-BE49-F238E27FC236}">
                <a16:creationId xmlns:a16="http://schemas.microsoft.com/office/drawing/2014/main" id="{8E7DA26C-6BB7-8BEF-C7F9-82C68B64DA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928" y="1143281"/>
            <a:ext cx="751438" cy="702432"/>
          </a:xfrm>
          <a:prstGeom prst="rect">
            <a:avLst/>
          </a:prstGeom>
        </p:spPr>
      </p:pic>
      <p:sp>
        <p:nvSpPr>
          <p:cNvPr id="3" name="Google Shape;68;p15">
            <a:extLst>
              <a:ext uri="{FF2B5EF4-FFF2-40B4-BE49-F238E27FC236}">
                <a16:creationId xmlns:a16="http://schemas.microsoft.com/office/drawing/2014/main" id="{792BBCCD-BAFC-1427-5B29-3D3355029011}"/>
              </a:ext>
            </a:extLst>
          </p:cNvPr>
          <p:cNvSpPr txBox="1">
            <a:spLocks/>
          </p:cNvSpPr>
          <p:nvPr/>
        </p:nvSpPr>
        <p:spPr>
          <a:xfrm>
            <a:off x="168790" y="174356"/>
            <a:ext cx="9643763" cy="588965"/>
          </a:xfrm>
          <a:prstGeom prst="rect">
            <a:avLst/>
          </a:prstGeom>
          <a:noFill/>
        </p:spPr>
        <p:txBody>
          <a:bodyPr spcFirstLastPara="1" wrap="square" lIns="121900" tIns="121900" rIns="121900" bIns="121900" anchor="t" anchorCtr="0">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 OCI - Identity and Access Management (IAM)</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grpSp>
        <p:nvGrpSpPr>
          <p:cNvPr id="93" name="Group 92">
            <a:extLst>
              <a:ext uri="{FF2B5EF4-FFF2-40B4-BE49-F238E27FC236}">
                <a16:creationId xmlns:a16="http://schemas.microsoft.com/office/drawing/2014/main" id="{6E595D1E-D84B-B93F-4E57-D41874556663}"/>
              </a:ext>
            </a:extLst>
          </p:cNvPr>
          <p:cNvGrpSpPr/>
          <p:nvPr/>
        </p:nvGrpSpPr>
        <p:grpSpPr>
          <a:xfrm>
            <a:off x="3681520" y="885148"/>
            <a:ext cx="7981561" cy="5221564"/>
            <a:chOff x="4714031" y="1723340"/>
            <a:chExt cx="7331936" cy="4334559"/>
          </a:xfrm>
        </p:grpSpPr>
        <p:grpSp>
          <p:nvGrpSpPr>
            <p:cNvPr id="62" name="Group 61">
              <a:extLst>
                <a:ext uri="{FF2B5EF4-FFF2-40B4-BE49-F238E27FC236}">
                  <a16:creationId xmlns:a16="http://schemas.microsoft.com/office/drawing/2014/main" id="{44FD41D3-9F14-C9D1-E007-EF3179BE8741}"/>
                </a:ext>
              </a:extLst>
            </p:cNvPr>
            <p:cNvGrpSpPr/>
            <p:nvPr/>
          </p:nvGrpSpPr>
          <p:grpSpPr>
            <a:xfrm>
              <a:off x="4714031" y="1723340"/>
              <a:ext cx="4734656" cy="4334559"/>
              <a:chOff x="5192754" y="1803690"/>
              <a:chExt cx="4491573" cy="4087956"/>
            </a:xfrm>
          </p:grpSpPr>
          <p:sp>
            <p:nvSpPr>
              <p:cNvPr id="4" name="Rectangle 3">
                <a:extLst>
                  <a:ext uri="{FF2B5EF4-FFF2-40B4-BE49-F238E27FC236}">
                    <a16:creationId xmlns:a16="http://schemas.microsoft.com/office/drawing/2014/main" id="{DCC9D715-6255-29D6-D421-CA16CF81FA86}"/>
                  </a:ext>
                </a:extLst>
              </p:cNvPr>
              <p:cNvSpPr/>
              <p:nvPr/>
            </p:nvSpPr>
            <p:spPr>
              <a:xfrm>
                <a:off x="5192754" y="1803690"/>
                <a:ext cx="4491573" cy="4087956"/>
              </a:xfrm>
              <a:prstGeom prst="rect">
                <a:avLst/>
              </a:prstGeom>
              <a:solidFill>
                <a:srgbClr val="F5F5F5"/>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BE7B02B-BBC3-99AA-9262-9530C0274FB1}"/>
                  </a:ext>
                </a:extLst>
              </p:cNvPr>
              <p:cNvSpPr txBox="1"/>
              <p:nvPr/>
            </p:nvSpPr>
            <p:spPr>
              <a:xfrm>
                <a:off x="5194327" y="1826843"/>
                <a:ext cx="1002718" cy="232213"/>
              </a:xfrm>
              <a:prstGeom prst="rect">
                <a:avLst/>
              </a:prstGeom>
              <a:noFill/>
            </p:spPr>
            <p:txBody>
              <a:bodyPr wrap="square" rtlCol="0">
                <a:spAutoFit/>
              </a:bodyPr>
              <a:lstStyle/>
              <a:p>
                <a:r>
                  <a:rPr lang="en-IN" sz="1000" b="1"/>
                  <a:t> Tenancy </a:t>
                </a:r>
              </a:p>
            </p:txBody>
          </p:sp>
          <p:sp>
            <p:nvSpPr>
              <p:cNvPr id="7" name="Rectangle 6">
                <a:extLst>
                  <a:ext uri="{FF2B5EF4-FFF2-40B4-BE49-F238E27FC236}">
                    <a16:creationId xmlns:a16="http://schemas.microsoft.com/office/drawing/2014/main" id="{5AC4C026-662F-AD91-582B-1EC43E6CED92}"/>
                  </a:ext>
                </a:extLst>
              </p:cNvPr>
              <p:cNvSpPr/>
              <p:nvPr/>
            </p:nvSpPr>
            <p:spPr>
              <a:xfrm>
                <a:off x="5727776" y="2471566"/>
                <a:ext cx="3840830" cy="3321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10575F0A-F46E-3B66-5E59-AE018F4B62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88864" y="2399113"/>
                <a:ext cx="277898" cy="208263"/>
              </a:xfrm>
              <a:prstGeom prst="rect">
                <a:avLst/>
              </a:prstGeom>
            </p:spPr>
          </p:pic>
          <p:sp>
            <p:nvSpPr>
              <p:cNvPr id="10" name="TextBox 9">
                <a:extLst>
                  <a:ext uri="{FF2B5EF4-FFF2-40B4-BE49-F238E27FC236}">
                    <a16:creationId xmlns:a16="http://schemas.microsoft.com/office/drawing/2014/main" id="{E71BBCFD-8D47-AA7C-CBB6-8979246E6188}"/>
                  </a:ext>
                </a:extLst>
              </p:cNvPr>
              <p:cNvSpPr txBox="1"/>
              <p:nvPr/>
            </p:nvSpPr>
            <p:spPr>
              <a:xfrm>
                <a:off x="5930881" y="2482897"/>
                <a:ext cx="1724470" cy="229869"/>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sp>
            <p:nvSpPr>
              <p:cNvPr id="11" name="Rectangle 10">
                <a:extLst>
                  <a:ext uri="{FF2B5EF4-FFF2-40B4-BE49-F238E27FC236}">
                    <a16:creationId xmlns:a16="http://schemas.microsoft.com/office/drawing/2014/main" id="{D281452C-043B-5A7A-0F38-817E2007512F}"/>
                  </a:ext>
                </a:extLst>
              </p:cNvPr>
              <p:cNvSpPr/>
              <p:nvPr/>
            </p:nvSpPr>
            <p:spPr>
              <a:xfrm>
                <a:off x="6060506" y="3332292"/>
                <a:ext cx="3395800" cy="2327130"/>
              </a:xfrm>
              <a:prstGeom prst="rect">
                <a:avLst/>
              </a:prstGeom>
              <a:solidFill>
                <a:srgbClr val="FCF8EA">
                  <a:alpha val="52000"/>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05BC792A-A7AA-F1A5-2DF1-0665102C42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61445" y="3274812"/>
                <a:ext cx="277898" cy="208263"/>
              </a:xfrm>
              <a:prstGeom prst="rect">
                <a:avLst/>
              </a:prstGeom>
            </p:spPr>
          </p:pic>
          <p:sp>
            <p:nvSpPr>
              <p:cNvPr id="15" name="TextBox 14">
                <a:extLst>
                  <a:ext uri="{FF2B5EF4-FFF2-40B4-BE49-F238E27FC236}">
                    <a16:creationId xmlns:a16="http://schemas.microsoft.com/office/drawing/2014/main" id="{30A67399-7F3B-F745-566F-B119EEE4FFCA}"/>
                  </a:ext>
                </a:extLst>
              </p:cNvPr>
              <p:cNvSpPr txBox="1"/>
              <p:nvPr/>
            </p:nvSpPr>
            <p:spPr>
              <a:xfrm>
                <a:off x="6208288" y="3330760"/>
                <a:ext cx="1724470" cy="229869"/>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grpSp>
            <p:nvGrpSpPr>
              <p:cNvPr id="16" name="Graphic 496">
                <a:extLst>
                  <a:ext uri="{FF2B5EF4-FFF2-40B4-BE49-F238E27FC236}">
                    <a16:creationId xmlns:a16="http://schemas.microsoft.com/office/drawing/2014/main" id="{B49AA293-3FF8-F2D6-CF32-DEA16106E3F2}"/>
                  </a:ext>
                </a:extLst>
              </p:cNvPr>
              <p:cNvGrpSpPr/>
              <p:nvPr/>
            </p:nvGrpSpPr>
            <p:grpSpPr>
              <a:xfrm>
                <a:off x="6438416" y="1856691"/>
                <a:ext cx="531267" cy="505527"/>
                <a:chOff x="7023233" y="3040744"/>
                <a:chExt cx="513347" cy="483793"/>
              </a:xfrm>
            </p:grpSpPr>
            <p:sp>
              <p:nvSpPr>
                <p:cNvPr id="17" name="Freeform: Shape 16">
                  <a:extLst>
                    <a:ext uri="{FF2B5EF4-FFF2-40B4-BE49-F238E27FC236}">
                      <a16:creationId xmlns:a16="http://schemas.microsoft.com/office/drawing/2014/main" id="{931BE2CF-FCC9-2934-9811-8852BEE58C18}"/>
                    </a:ext>
                  </a:extLst>
                </p:cNvPr>
                <p:cNvSpPr/>
                <p:nvPr/>
              </p:nvSpPr>
              <p:spPr>
                <a:xfrm>
                  <a:off x="7028944" y="3046495"/>
                  <a:ext cx="501860" cy="472639"/>
                </a:xfrm>
                <a:custGeom>
                  <a:avLst/>
                  <a:gdLst>
                    <a:gd name="connsiteX0" fmla="*/ 381609 w 501860"/>
                    <a:gd name="connsiteY0" fmla="*/ 468956 h 472639"/>
                    <a:gd name="connsiteX1" fmla="*/ 274063 w 501860"/>
                    <a:gd name="connsiteY1" fmla="*/ 329005 h 472639"/>
                    <a:gd name="connsiteX2" fmla="*/ 274063 w 501860"/>
                    <a:gd name="connsiteY2" fmla="*/ 279903 h 472639"/>
                    <a:gd name="connsiteX3" fmla="*/ 0 w 501860"/>
                    <a:gd name="connsiteY3" fmla="*/ 279903 h 472639"/>
                    <a:gd name="connsiteX4" fmla="*/ 0 w 501860"/>
                    <a:gd name="connsiteY4" fmla="*/ 0 h 472639"/>
                    <a:gd name="connsiteX5" fmla="*/ 402528 w 501860"/>
                    <a:gd name="connsiteY5" fmla="*/ 0 h 472639"/>
                    <a:gd name="connsiteX6" fmla="*/ 402528 w 501860"/>
                    <a:gd name="connsiteY6" fmla="*/ 181120 h 472639"/>
                    <a:gd name="connsiteX7" fmla="*/ 501861 w 501860"/>
                    <a:gd name="connsiteY7" fmla="*/ 224245 h 472639"/>
                    <a:gd name="connsiteX8" fmla="*/ 501861 w 501860"/>
                    <a:gd name="connsiteY8" fmla="*/ 329120 h 472639"/>
                    <a:gd name="connsiteX9" fmla="*/ 394379 w 501860"/>
                    <a:gd name="connsiteY9" fmla="*/ 469418 h 472639"/>
                    <a:gd name="connsiteX10" fmla="*/ 388026 w 501860"/>
                    <a:gd name="connsiteY10" fmla="*/ 472640 h 472639"/>
                    <a:gd name="connsiteX11" fmla="*/ 381609 w 501860"/>
                    <a:gd name="connsiteY11" fmla="*/ 468956 h 47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1860" h="472639">
                      <a:moveTo>
                        <a:pt x="381609" y="468956"/>
                      </a:moveTo>
                      <a:cubicBezTo>
                        <a:pt x="316286" y="436417"/>
                        <a:pt x="277272" y="385242"/>
                        <a:pt x="274063" y="329005"/>
                      </a:cubicBezTo>
                      <a:lnTo>
                        <a:pt x="274063" y="279903"/>
                      </a:lnTo>
                      <a:lnTo>
                        <a:pt x="0" y="279903"/>
                      </a:lnTo>
                      <a:lnTo>
                        <a:pt x="0" y="0"/>
                      </a:lnTo>
                      <a:lnTo>
                        <a:pt x="402528" y="0"/>
                      </a:lnTo>
                      <a:lnTo>
                        <a:pt x="402528" y="181120"/>
                      </a:lnTo>
                      <a:lnTo>
                        <a:pt x="501861" y="224245"/>
                      </a:lnTo>
                      <a:lnTo>
                        <a:pt x="501861" y="329120"/>
                      </a:lnTo>
                      <a:cubicBezTo>
                        <a:pt x="498653" y="385813"/>
                        <a:pt x="459446" y="436872"/>
                        <a:pt x="394379" y="469418"/>
                      </a:cubicBezTo>
                      <a:lnTo>
                        <a:pt x="388026" y="472640"/>
                      </a:lnTo>
                      <a:lnTo>
                        <a:pt x="381609" y="468956"/>
                      </a:lnTo>
                      <a:close/>
                    </a:path>
                  </a:pathLst>
                </a:custGeom>
                <a:solidFill>
                  <a:srgbClr val="FFFFFF"/>
                </a:solidFill>
                <a:ln w="6417"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911BC7C-E434-BA87-8D33-326E6ADFB4B6}"/>
                    </a:ext>
                  </a:extLst>
                </p:cNvPr>
                <p:cNvSpPr/>
                <p:nvPr/>
              </p:nvSpPr>
              <p:spPr>
                <a:xfrm>
                  <a:off x="7023233" y="3040744"/>
                  <a:ext cx="513347" cy="483793"/>
                </a:xfrm>
                <a:custGeom>
                  <a:avLst/>
                  <a:gdLst>
                    <a:gd name="connsiteX0" fmla="*/ 402464 w 513347"/>
                    <a:gd name="connsiteY0" fmla="*/ 11500 h 483793"/>
                    <a:gd name="connsiteX1" fmla="*/ 402464 w 513347"/>
                    <a:gd name="connsiteY1" fmla="*/ 190665 h 483793"/>
                    <a:gd name="connsiteX2" fmla="*/ 502054 w 513347"/>
                    <a:gd name="connsiteY2" fmla="*/ 233329 h 483793"/>
                    <a:gd name="connsiteX3" fmla="*/ 502054 w 513347"/>
                    <a:gd name="connsiteY3" fmla="*/ 334409 h 483793"/>
                    <a:gd name="connsiteX4" fmla="*/ 397780 w 513347"/>
                    <a:gd name="connsiteY4" fmla="*/ 469535 h 483793"/>
                    <a:gd name="connsiteX5" fmla="*/ 393994 w 513347"/>
                    <a:gd name="connsiteY5" fmla="*/ 471486 h 483793"/>
                    <a:gd name="connsiteX6" fmla="*/ 390209 w 513347"/>
                    <a:gd name="connsiteY6" fmla="*/ 469535 h 483793"/>
                    <a:gd name="connsiteX7" fmla="*/ 285742 w 513347"/>
                    <a:gd name="connsiteY7" fmla="*/ 334409 h 483793"/>
                    <a:gd name="connsiteX8" fmla="*/ 285742 w 513347"/>
                    <a:gd name="connsiteY8" fmla="*/ 279903 h 483793"/>
                    <a:gd name="connsiteX9" fmla="*/ 11486 w 513347"/>
                    <a:gd name="connsiteY9" fmla="*/ 279903 h 483793"/>
                    <a:gd name="connsiteX10" fmla="*/ 11486 w 513347"/>
                    <a:gd name="connsiteY10" fmla="*/ 11500 h 483793"/>
                    <a:gd name="connsiteX11" fmla="*/ 402464 w 513347"/>
                    <a:gd name="connsiteY11" fmla="*/ 11500 h 483793"/>
                    <a:gd name="connsiteX12" fmla="*/ 414015 w 513347"/>
                    <a:gd name="connsiteY12" fmla="*/ 0 h 483793"/>
                    <a:gd name="connsiteX13" fmla="*/ 0 w 513347"/>
                    <a:gd name="connsiteY13" fmla="*/ 0 h 483793"/>
                    <a:gd name="connsiteX14" fmla="*/ 0 w 513347"/>
                    <a:gd name="connsiteY14" fmla="*/ 291404 h 483793"/>
                    <a:gd name="connsiteX15" fmla="*/ 274063 w 513347"/>
                    <a:gd name="connsiteY15" fmla="*/ 291404 h 483793"/>
                    <a:gd name="connsiteX16" fmla="*/ 274063 w 513347"/>
                    <a:gd name="connsiteY16" fmla="*/ 333492 h 483793"/>
                    <a:gd name="connsiteX17" fmla="*/ 274063 w 513347"/>
                    <a:gd name="connsiteY17" fmla="*/ 334185 h 483793"/>
                    <a:gd name="connsiteX18" fmla="*/ 384754 w 513347"/>
                    <a:gd name="connsiteY18" fmla="*/ 479308 h 483793"/>
                    <a:gd name="connsiteX19" fmla="*/ 388604 w 513347"/>
                    <a:gd name="connsiteY19" fmla="*/ 481150 h 483793"/>
                    <a:gd name="connsiteX20" fmla="*/ 393737 w 513347"/>
                    <a:gd name="connsiteY20" fmla="*/ 483793 h 483793"/>
                    <a:gd name="connsiteX21" fmla="*/ 398807 w 513347"/>
                    <a:gd name="connsiteY21" fmla="*/ 481150 h 483793"/>
                    <a:gd name="connsiteX22" fmla="*/ 402593 w 513347"/>
                    <a:gd name="connsiteY22" fmla="*/ 479308 h 483793"/>
                    <a:gd name="connsiteX23" fmla="*/ 513347 w 513347"/>
                    <a:gd name="connsiteY23" fmla="*/ 334525 h 483793"/>
                    <a:gd name="connsiteX24" fmla="*/ 513347 w 513347"/>
                    <a:gd name="connsiteY24" fmla="*/ 225739 h 483793"/>
                    <a:gd name="connsiteX25" fmla="*/ 506417 w 513347"/>
                    <a:gd name="connsiteY25" fmla="*/ 222749 h 483793"/>
                    <a:gd name="connsiteX26" fmla="*/ 414015 w 513347"/>
                    <a:gd name="connsiteY26" fmla="*/ 183075 h 483793"/>
                    <a:gd name="connsiteX27" fmla="*/ 414015 w 513347"/>
                    <a:gd name="connsiteY27" fmla="*/ 0 h 4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3347" h="483793">
                      <a:moveTo>
                        <a:pt x="402464" y="11500"/>
                      </a:moveTo>
                      <a:lnTo>
                        <a:pt x="402464" y="190665"/>
                      </a:lnTo>
                      <a:lnTo>
                        <a:pt x="502054" y="233329"/>
                      </a:lnTo>
                      <a:lnTo>
                        <a:pt x="502054" y="334409"/>
                      </a:lnTo>
                      <a:cubicBezTo>
                        <a:pt x="498974" y="388689"/>
                        <a:pt x="461050" y="437907"/>
                        <a:pt x="397780" y="469535"/>
                      </a:cubicBezTo>
                      <a:lnTo>
                        <a:pt x="393994" y="471486"/>
                      </a:lnTo>
                      <a:lnTo>
                        <a:pt x="390209" y="469535"/>
                      </a:lnTo>
                      <a:cubicBezTo>
                        <a:pt x="326938" y="437907"/>
                        <a:pt x="288886" y="389036"/>
                        <a:pt x="285742" y="334409"/>
                      </a:cubicBezTo>
                      <a:lnTo>
                        <a:pt x="285742" y="279903"/>
                      </a:lnTo>
                      <a:lnTo>
                        <a:pt x="11486" y="279903"/>
                      </a:lnTo>
                      <a:lnTo>
                        <a:pt x="11486" y="11500"/>
                      </a:lnTo>
                      <a:lnTo>
                        <a:pt x="402464" y="11500"/>
                      </a:lnTo>
                      <a:close/>
                      <a:moveTo>
                        <a:pt x="414015" y="0"/>
                      </a:moveTo>
                      <a:lnTo>
                        <a:pt x="0" y="0"/>
                      </a:lnTo>
                      <a:lnTo>
                        <a:pt x="0" y="291404"/>
                      </a:lnTo>
                      <a:lnTo>
                        <a:pt x="274063" y="291404"/>
                      </a:lnTo>
                      <a:lnTo>
                        <a:pt x="274063" y="333492"/>
                      </a:lnTo>
                      <a:lnTo>
                        <a:pt x="274063" y="334185"/>
                      </a:lnTo>
                      <a:cubicBezTo>
                        <a:pt x="277464" y="392944"/>
                        <a:pt x="317762" y="445729"/>
                        <a:pt x="384754" y="479308"/>
                      </a:cubicBezTo>
                      <a:lnTo>
                        <a:pt x="388604" y="481150"/>
                      </a:lnTo>
                      <a:lnTo>
                        <a:pt x="393737" y="483793"/>
                      </a:lnTo>
                      <a:lnTo>
                        <a:pt x="398807" y="481150"/>
                      </a:lnTo>
                      <a:lnTo>
                        <a:pt x="402593" y="479308"/>
                      </a:lnTo>
                      <a:cubicBezTo>
                        <a:pt x="469648" y="445729"/>
                        <a:pt x="510011" y="392944"/>
                        <a:pt x="513347" y="334525"/>
                      </a:cubicBezTo>
                      <a:lnTo>
                        <a:pt x="513347" y="225739"/>
                      </a:lnTo>
                      <a:lnTo>
                        <a:pt x="506417" y="222749"/>
                      </a:lnTo>
                      <a:lnTo>
                        <a:pt x="414015" y="183075"/>
                      </a:lnTo>
                      <a:lnTo>
                        <a:pt x="414015" y="0"/>
                      </a:lnTo>
                      <a:close/>
                    </a:path>
                  </a:pathLst>
                </a:custGeom>
                <a:solidFill>
                  <a:srgbClr val="FFFFFF"/>
                </a:solidFill>
                <a:ln w="6417"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B32279D-72C5-D70B-26F9-535ED41A2607}"/>
                    </a:ext>
                  </a:extLst>
                </p:cNvPr>
                <p:cNvSpPr/>
                <p:nvPr/>
              </p:nvSpPr>
              <p:spPr>
                <a:xfrm>
                  <a:off x="7034720" y="3052246"/>
                  <a:ext cx="390785" cy="268403"/>
                </a:xfrm>
                <a:custGeom>
                  <a:avLst/>
                  <a:gdLst>
                    <a:gd name="connsiteX0" fmla="*/ 17004 w 390785"/>
                    <a:gd name="connsiteY0" fmla="*/ 17019 h 268403"/>
                    <a:gd name="connsiteX1" fmla="*/ 373781 w 390785"/>
                    <a:gd name="connsiteY1" fmla="*/ 17019 h 268403"/>
                    <a:gd name="connsiteX2" fmla="*/ 373781 w 390785"/>
                    <a:gd name="connsiteY2" fmla="*/ 165251 h 268403"/>
                    <a:gd name="connsiteX3" fmla="*/ 382251 w 390785"/>
                    <a:gd name="connsiteY3" fmla="*/ 161571 h 268403"/>
                    <a:gd name="connsiteX4" fmla="*/ 390785 w 390785"/>
                    <a:gd name="connsiteY4" fmla="*/ 165251 h 268403"/>
                    <a:gd name="connsiteX5" fmla="*/ 390785 w 390785"/>
                    <a:gd name="connsiteY5" fmla="*/ 0 h 268403"/>
                    <a:gd name="connsiteX6" fmla="*/ 0 w 390785"/>
                    <a:gd name="connsiteY6" fmla="*/ 0 h 268403"/>
                    <a:gd name="connsiteX7" fmla="*/ 0 w 390785"/>
                    <a:gd name="connsiteY7" fmla="*/ 268404 h 268403"/>
                    <a:gd name="connsiteX8" fmla="*/ 261294 w 390785"/>
                    <a:gd name="connsiteY8" fmla="*/ 268404 h 268403"/>
                    <a:gd name="connsiteX9" fmla="*/ 261294 w 390785"/>
                    <a:gd name="connsiteY9" fmla="*/ 251384 h 268403"/>
                    <a:gd name="connsiteX10" fmla="*/ 17004 w 390785"/>
                    <a:gd name="connsiteY10" fmla="*/ 251384 h 268403"/>
                    <a:gd name="connsiteX11" fmla="*/ 17004 w 390785"/>
                    <a:gd name="connsiteY11" fmla="*/ 17019 h 26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0785" h="268403">
                      <a:moveTo>
                        <a:pt x="17004" y="17019"/>
                      </a:moveTo>
                      <a:lnTo>
                        <a:pt x="373781" y="17019"/>
                      </a:lnTo>
                      <a:lnTo>
                        <a:pt x="373781" y="165251"/>
                      </a:lnTo>
                      <a:lnTo>
                        <a:pt x="382251" y="161571"/>
                      </a:lnTo>
                      <a:lnTo>
                        <a:pt x="390785" y="165251"/>
                      </a:lnTo>
                      <a:lnTo>
                        <a:pt x="390785" y="0"/>
                      </a:lnTo>
                      <a:lnTo>
                        <a:pt x="0" y="0"/>
                      </a:lnTo>
                      <a:lnTo>
                        <a:pt x="0" y="268404"/>
                      </a:lnTo>
                      <a:lnTo>
                        <a:pt x="261294" y="268404"/>
                      </a:lnTo>
                      <a:lnTo>
                        <a:pt x="261294" y="251384"/>
                      </a:lnTo>
                      <a:lnTo>
                        <a:pt x="17004" y="251384"/>
                      </a:lnTo>
                      <a:lnTo>
                        <a:pt x="17004" y="17019"/>
                      </a:lnTo>
                      <a:close/>
                    </a:path>
                  </a:pathLst>
                </a:custGeom>
                <a:solidFill>
                  <a:srgbClr val="2D5967"/>
                </a:solidFill>
                <a:ln w="6417"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A025D80-E66C-AA9D-600F-36291D4ED54D}"/>
                    </a:ext>
                  </a:extLst>
                </p:cNvPr>
                <p:cNvSpPr/>
                <p:nvPr/>
              </p:nvSpPr>
              <p:spPr>
                <a:xfrm>
                  <a:off x="7308783" y="3227735"/>
                  <a:ext cx="216311" cy="284155"/>
                </a:xfrm>
                <a:custGeom>
                  <a:avLst/>
                  <a:gdLst>
                    <a:gd name="connsiteX0" fmla="*/ 108188 w 216311"/>
                    <a:gd name="connsiteY0" fmla="*/ 0 h 284155"/>
                    <a:gd name="connsiteX1" fmla="*/ 0 w 216311"/>
                    <a:gd name="connsiteY1" fmla="*/ 45999 h 284155"/>
                    <a:gd name="connsiteX2" fmla="*/ 0 w 216311"/>
                    <a:gd name="connsiteY2" fmla="*/ 147079 h 284155"/>
                    <a:gd name="connsiteX3" fmla="*/ 104402 w 216311"/>
                    <a:gd name="connsiteY3" fmla="*/ 282204 h 284155"/>
                    <a:gd name="connsiteX4" fmla="*/ 108188 w 216311"/>
                    <a:gd name="connsiteY4" fmla="*/ 284155 h 284155"/>
                    <a:gd name="connsiteX5" fmla="*/ 111974 w 216311"/>
                    <a:gd name="connsiteY5" fmla="*/ 282204 h 284155"/>
                    <a:gd name="connsiteX6" fmla="*/ 216312 w 216311"/>
                    <a:gd name="connsiteY6" fmla="*/ 147079 h 284155"/>
                    <a:gd name="connsiteX7" fmla="*/ 216312 w 216311"/>
                    <a:gd name="connsiteY7" fmla="*/ 46344 h 284155"/>
                    <a:gd name="connsiteX8" fmla="*/ 108188 w 216311"/>
                    <a:gd name="connsiteY8" fmla="*/ 0 h 284155"/>
                    <a:gd name="connsiteX9" fmla="*/ 199243 w 216311"/>
                    <a:gd name="connsiteY9" fmla="*/ 146507 h 284155"/>
                    <a:gd name="connsiteX10" fmla="*/ 116722 w 216311"/>
                    <a:gd name="connsiteY10" fmla="*/ 260586 h 284155"/>
                    <a:gd name="connsiteX11" fmla="*/ 116722 w 216311"/>
                    <a:gd name="connsiteY11" fmla="*/ 116149 h 284155"/>
                    <a:gd name="connsiteX12" fmla="*/ 99654 w 216311"/>
                    <a:gd name="connsiteY12" fmla="*/ 116149 h 284155"/>
                    <a:gd name="connsiteX13" fmla="*/ 99654 w 216311"/>
                    <a:gd name="connsiteY13" fmla="*/ 260811 h 284155"/>
                    <a:gd name="connsiteX14" fmla="*/ 17005 w 216311"/>
                    <a:gd name="connsiteY14" fmla="*/ 146738 h 284155"/>
                    <a:gd name="connsiteX15" fmla="*/ 17005 w 216311"/>
                    <a:gd name="connsiteY15" fmla="*/ 57499 h 284155"/>
                    <a:gd name="connsiteX16" fmla="*/ 99654 w 216311"/>
                    <a:gd name="connsiteY16" fmla="*/ 22079 h 284155"/>
                    <a:gd name="connsiteX17" fmla="*/ 99654 w 216311"/>
                    <a:gd name="connsiteY17" fmla="*/ 97978 h 284155"/>
                    <a:gd name="connsiteX18" fmla="*/ 116915 w 216311"/>
                    <a:gd name="connsiteY18" fmla="*/ 97978 h 284155"/>
                    <a:gd name="connsiteX19" fmla="*/ 116915 w 216311"/>
                    <a:gd name="connsiteY19" fmla="*/ 22079 h 284155"/>
                    <a:gd name="connsiteX20" fmla="*/ 199499 w 216311"/>
                    <a:gd name="connsiteY20" fmla="*/ 57499 h 284155"/>
                    <a:gd name="connsiteX21" fmla="*/ 199243 w 216311"/>
                    <a:gd name="connsiteY21" fmla="*/ 146507 h 28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311" h="284155">
                      <a:moveTo>
                        <a:pt x="108188" y="0"/>
                      </a:moveTo>
                      <a:lnTo>
                        <a:pt x="0" y="45999"/>
                      </a:lnTo>
                      <a:lnTo>
                        <a:pt x="0" y="147079"/>
                      </a:lnTo>
                      <a:cubicBezTo>
                        <a:pt x="3080" y="201359"/>
                        <a:pt x="41132" y="250576"/>
                        <a:pt x="104402" y="282204"/>
                      </a:cubicBezTo>
                      <a:lnTo>
                        <a:pt x="108188" y="284155"/>
                      </a:lnTo>
                      <a:lnTo>
                        <a:pt x="111974" y="282204"/>
                      </a:lnTo>
                      <a:cubicBezTo>
                        <a:pt x="175244" y="250576"/>
                        <a:pt x="213167" y="201705"/>
                        <a:pt x="216312" y="147079"/>
                      </a:cubicBezTo>
                      <a:lnTo>
                        <a:pt x="216312" y="46344"/>
                      </a:lnTo>
                      <a:lnTo>
                        <a:pt x="108188" y="0"/>
                      </a:lnTo>
                      <a:close/>
                      <a:moveTo>
                        <a:pt x="199243" y="146507"/>
                      </a:moveTo>
                      <a:cubicBezTo>
                        <a:pt x="196741" y="190893"/>
                        <a:pt x="166838" y="231832"/>
                        <a:pt x="116722" y="260586"/>
                      </a:cubicBezTo>
                      <a:lnTo>
                        <a:pt x="116722" y="116149"/>
                      </a:lnTo>
                      <a:lnTo>
                        <a:pt x="99654" y="116149"/>
                      </a:lnTo>
                      <a:lnTo>
                        <a:pt x="99654" y="260811"/>
                      </a:lnTo>
                      <a:cubicBezTo>
                        <a:pt x="49538" y="232063"/>
                        <a:pt x="19186" y="191124"/>
                        <a:pt x="17005" y="146738"/>
                      </a:cubicBezTo>
                      <a:lnTo>
                        <a:pt x="17005" y="57499"/>
                      </a:lnTo>
                      <a:lnTo>
                        <a:pt x="99654" y="22079"/>
                      </a:lnTo>
                      <a:lnTo>
                        <a:pt x="99654" y="97978"/>
                      </a:lnTo>
                      <a:lnTo>
                        <a:pt x="116915" y="97978"/>
                      </a:lnTo>
                      <a:lnTo>
                        <a:pt x="116915" y="22079"/>
                      </a:lnTo>
                      <a:lnTo>
                        <a:pt x="199499" y="57499"/>
                      </a:lnTo>
                      <a:lnTo>
                        <a:pt x="199243" y="146507"/>
                      </a:lnTo>
                      <a:close/>
                    </a:path>
                  </a:pathLst>
                </a:custGeom>
                <a:solidFill>
                  <a:srgbClr val="2D5967"/>
                </a:solidFill>
                <a:ln w="6417"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9521848-7234-1CA5-F126-D75775432754}"/>
                    </a:ext>
                  </a:extLst>
                </p:cNvPr>
                <p:cNvSpPr/>
                <p:nvPr/>
              </p:nvSpPr>
              <p:spPr>
                <a:xfrm>
                  <a:off x="7253213" y="3097323"/>
                  <a:ext cx="92723" cy="73023"/>
                </a:xfrm>
                <a:custGeom>
                  <a:avLst/>
                  <a:gdLst>
                    <a:gd name="connsiteX0" fmla="*/ 12064 w 92723"/>
                    <a:gd name="connsiteY0" fmla="*/ 29324 h 73023"/>
                    <a:gd name="connsiteX1" fmla="*/ 0 w 92723"/>
                    <a:gd name="connsiteY1" fmla="*/ 41284 h 73023"/>
                    <a:gd name="connsiteX2" fmla="*/ 31764 w 92723"/>
                    <a:gd name="connsiteY2" fmla="*/ 73023 h 73023"/>
                    <a:gd name="connsiteX3" fmla="*/ 92724 w 92723"/>
                    <a:gd name="connsiteY3" fmla="*/ 12075 h 73023"/>
                    <a:gd name="connsiteX4" fmla="*/ 80724 w 92723"/>
                    <a:gd name="connsiteY4" fmla="*/ 0 h 73023"/>
                    <a:gd name="connsiteX5" fmla="*/ 31764 w 92723"/>
                    <a:gd name="connsiteY5" fmla="*/ 48989 h 73023"/>
                    <a:gd name="connsiteX6" fmla="*/ 12064 w 92723"/>
                    <a:gd name="connsiteY6" fmla="*/ 29324 h 7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723" h="73023">
                      <a:moveTo>
                        <a:pt x="12064" y="29324"/>
                      </a:moveTo>
                      <a:lnTo>
                        <a:pt x="0" y="41284"/>
                      </a:lnTo>
                      <a:lnTo>
                        <a:pt x="31764" y="73023"/>
                      </a:lnTo>
                      <a:lnTo>
                        <a:pt x="92724" y="12075"/>
                      </a:lnTo>
                      <a:lnTo>
                        <a:pt x="80724" y="0"/>
                      </a:lnTo>
                      <a:lnTo>
                        <a:pt x="31764" y="48989"/>
                      </a:lnTo>
                      <a:lnTo>
                        <a:pt x="12064" y="29324"/>
                      </a:lnTo>
                      <a:close/>
                    </a:path>
                  </a:pathLst>
                </a:custGeom>
                <a:solidFill>
                  <a:srgbClr val="2D5967"/>
                </a:solidFill>
                <a:ln w="641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705919B-ED9B-DE09-7DA3-416F05F3B091}"/>
                    </a:ext>
                  </a:extLst>
                </p:cNvPr>
                <p:cNvSpPr/>
                <p:nvPr/>
              </p:nvSpPr>
              <p:spPr>
                <a:xfrm>
                  <a:off x="7261875" y="3186098"/>
                  <a:ext cx="68660" cy="68653"/>
                </a:xfrm>
                <a:custGeom>
                  <a:avLst/>
                  <a:gdLst>
                    <a:gd name="connsiteX0" fmla="*/ 68661 w 68660"/>
                    <a:gd name="connsiteY0" fmla="*/ 56579 h 68653"/>
                    <a:gd name="connsiteX1" fmla="*/ 46330 w 68660"/>
                    <a:gd name="connsiteY1" fmla="*/ 34384 h 68653"/>
                    <a:gd name="connsiteX2" fmla="*/ 68661 w 68660"/>
                    <a:gd name="connsiteY2" fmla="*/ 12075 h 68653"/>
                    <a:gd name="connsiteX3" fmla="*/ 56661 w 68660"/>
                    <a:gd name="connsiteY3" fmla="*/ 0 h 68653"/>
                    <a:gd name="connsiteX4" fmla="*/ 34395 w 68660"/>
                    <a:gd name="connsiteY4" fmla="*/ 22309 h 68653"/>
                    <a:gd name="connsiteX5" fmla="*/ 12064 w 68660"/>
                    <a:gd name="connsiteY5" fmla="*/ 0 h 68653"/>
                    <a:gd name="connsiteX6" fmla="*/ 0 w 68660"/>
                    <a:gd name="connsiteY6" fmla="*/ 12075 h 68653"/>
                    <a:gd name="connsiteX7" fmla="*/ 22267 w 68660"/>
                    <a:gd name="connsiteY7" fmla="*/ 34384 h 68653"/>
                    <a:gd name="connsiteX8" fmla="*/ 0 w 68660"/>
                    <a:gd name="connsiteY8" fmla="*/ 56579 h 68653"/>
                    <a:gd name="connsiteX9" fmla="*/ 12064 w 68660"/>
                    <a:gd name="connsiteY9" fmla="*/ 68653 h 68653"/>
                    <a:gd name="connsiteX10" fmla="*/ 34395 w 68660"/>
                    <a:gd name="connsiteY10" fmla="*/ 46344 h 68653"/>
                    <a:gd name="connsiteX11" fmla="*/ 56661 w 68660"/>
                    <a:gd name="connsiteY11" fmla="*/ 68653 h 68653"/>
                    <a:gd name="connsiteX12" fmla="*/ 68661 w 68660"/>
                    <a:gd name="connsiteY12" fmla="*/ 56579 h 6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660" h="68653">
                      <a:moveTo>
                        <a:pt x="68661" y="56579"/>
                      </a:moveTo>
                      <a:lnTo>
                        <a:pt x="46330" y="34384"/>
                      </a:lnTo>
                      <a:lnTo>
                        <a:pt x="68661" y="12075"/>
                      </a:lnTo>
                      <a:lnTo>
                        <a:pt x="56661" y="0"/>
                      </a:lnTo>
                      <a:lnTo>
                        <a:pt x="34395" y="22309"/>
                      </a:lnTo>
                      <a:lnTo>
                        <a:pt x="12064" y="0"/>
                      </a:lnTo>
                      <a:lnTo>
                        <a:pt x="0" y="12075"/>
                      </a:lnTo>
                      <a:lnTo>
                        <a:pt x="22267" y="34384"/>
                      </a:lnTo>
                      <a:lnTo>
                        <a:pt x="0" y="56579"/>
                      </a:lnTo>
                      <a:lnTo>
                        <a:pt x="12064" y="68653"/>
                      </a:lnTo>
                      <a:lnTo>
                        <a:pt x="34395" y="46344"/>
                      </a:lnTo>
                      <a:lnTo>
                        <a:pt x="56661" y="68653"/>
                      </a:lnTo>
                      <a:lnTo>
                        <a:pt x="68661" y="56579"/>
                      </a:lnTo>
                      <a:close/>
                    </a:path>
                  </a:pathLst>
                </a:custGeom>
                <a:solidFill>
                  <a:srgbClr val="2D5967"/>
                </a:solidFill>
                <a:ln w="641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FD10C84-F8E1-A421-A04E-0961FF5849EE}"/>
                    </a:ext>
                  </a:extLst>
                </p:cNvPr>
                <p:cNvSpPr/>
                <p:nvPr/>
              </p:nvSpPr>
              <p:spPr>
                <a:xfrm>
                  <a:off x="7091316" y="3199675"/>
                  <a:ext cx="115888" cy="66468"/>
                </a:xfrm>
                <a:custGeom>
                  <a:avLst/>
                  <a:gdLst>
                    <a:gd name="connsiteX0" fmla="*/ 115889 w 115888"/>
                    <a:gd name="connsiteY0" fmla="*/ 66469 h 66468"/>
                    <a:gd name="connsiteX1" fmla="*/ 115889 w 115888"/>
                    <a:gd name="connsiteY1" fmla="*/ 29209 h 66468"/>
                    <a:gd name="connsiteX2" fmla="*/ 107354 w 115888"/>
                    <a:gd name="connsiteY2" fmla="*/ 8556 h 66468"/>
                    <a:gd name="connsiteX3" fmla="*/ 86692 w 115888"/>
                    <a:gd name="connsiteY3" fmla="*/ 0 h 66468"/>
                    <a:gd name="connsiteX4" fmla="*/ 29197 w 115888"/>
                    <a:gd name="connsiteY4" fmla="*/ 0 h 66468"/>
                    <a:gd name="connsiteX5" fmla="*/ 8534 w 115888"/>
                    <a:gd name="connsiteY5" fmla="*/ 8556 h 66468"/>
                    <a:gd name="connsiteX6" fmla="*/ 0 w 115888"/>
                    <a:gd name="connsiteY6" fmla="*/ 29209 h 66468"/>
                    <a:gd name="connsiteX7" fmla="*/ 0 w 115888"/>
                    <a:gd name="connsiteY7" fmla="*/ 66469 h 66468"/>
                    <a:gd name="connsiteX8" fmla="*/ 16427 w 115888"/>
                    <a:gd name="connsiteY8" fmla="*/ 66469 h 66468"/>
                    <a:gd name="connsiteX9" fmla="*/ 16427 w 115888"/>
                    <a:gd name="connsiteY9" fmla="*/ 29209 h 66468"/>
                    <a:gd name="connsiteX10" fmla="*/ 17389 w 115888"/>
                    <a:gd name="connsiteY10" fmla="*/ 24501 h 66468"/>
                    <a:gd name="connsiteX11" fmla="*/ 20021 w 115888"/>
                    <a:gd name="connsiteY11" fmla="*/ 20509 h 66468"/>
                    <a:gd name="connsiteX12" fmla="*/ 23999 w 115888"/>
                    <a:gd name="connsiteY12" fmla="*/ 17841 h 66468"/>
                    <a:gd name="connsiteX13" fmla="*/ 28747 w 115888"/>
                    <a:gd name="connsiteY13" fmla="*/ 16905 h 66468"/>
                    <a:gd name="connsiteX14" fmla="*/ 86243 w 115888"/>
                    <a:gd name="connsiteY14" fmla="*/ 16905 h 66468"/>
                    <a:gd name="connsiteX15" fmla="*/ 90927 w 115888"/>
                    <a:gd name="connsiteY15" fmla="*/ 17844 h 66468"/>
                    <a:gd name="connsiteX16" fmla="*/ 94905 w 115888"/>
                    <a:gd name="connsiteY16" fmla="*/ 20516 h 66468"/>
                    <a:gd name="connsiteX17" fmla="*/ 97536 w 115888"/>
                    <a:gd name="connsiteY17" fmla="*/ 24510 h 66468"/>
                    <a:gd name="connsiteX18" fmla="*/ 98434 w 115888"/>
                    <a:gd name="connsiteY18" fmla="*/ 29209 h 66468"/>
                    <a:gd name="connsiteX19" fmla="*/ 98434 w 115888"/>
                    <a:gd name="connsiteY19" fmla="*/ 66469 h 66468"/>
                    <a:gd name="connsiteX20" fmla="*/ 115889 w 115888"/>
                    <a:gd name="connsiteY20" fmla="*/ 66469 h 6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5888" h="66468">
                      <a:moveTo>
                        <a:pt x="115889" y="66469"/>
                      </a:moveTo>
                      <a:lnTo>
                        <a:pt x="115889" y="29209"/>
                      </a:lnTo>
                      <a:cubicBezTo>
                        <a:pt x="115889" y="21463"/>
                        <a:pt x="112808" y="14034"/>
                        <a:pt x="107354" y="8556"/>
                      </a:cubicBezTo>
                      <a:cubicBezTo>
                        <a:pt x="101899" y="3078"/>
                        <a:pt x="94456" y="0"/>
                        <a:pt x="86692" y="0"/>
                      </a:cubicBezTo>
                      <a:lnTo>
                        <a:pt x="29197" y="0"/>
                      </a:lnTo>
                      <a:cubicBezTo>
                        <a:pt x="21432" y="0"/>
                        <a:pt x="13989" y="3078"/>
                        <a:pt x="8534" y="8556"/>
                      </a:cubicBezTo>
                      <a:cubicBezTo>
                        <a:pt x="3080" y="14034"/>
                        <a:pt x="0" y="21463"/>
                        <a:pt x="0" y="29209"/>
                      </a:cubicBezTo>
                      <a:lnTo>
                        <a:pt x="0" y="66469"/>
                      </a:lnTo>
                      <a:lnTo>
                        <a:pt x="16427" y="66469"/>
                      </a:lnTo>
                      <a:lnTo>
                        <a:pt x="16427" y="29209"/>
                      </a:lnTo>
                      <a:cubicBezTo>
                        <a:pt x="16427" y="27594"/>
                        <a:pt x="16748" y="25994"/>
                        <a:pt x="17389" y="24501"/>
                      </a:cubicBezTo>
                      <a:cubicBezTo>
                        <a:pt x="17967" y="23008"/>
                        <a:pt x="18866" y="21652"/>
                        <a:pt x="20021" y="20509"/>
                      </a:cubicBezTo>
                      <a:cubicBezTo>
                        <a:pt x="21176" y="19366"/>
                        <a:pt x="22523" y="18460"/>
                        <a:pt x="23999" y="17841"/>
                      </a:cubicBezTo>
                      <a:cubicBezTo>
                        <a:pt x="25539" y="17223"/>
                        <a:pt x="27143" y="16905"/>
                        <a:pt x="28747" y="16905"/>
                      </a:cubicBezTo>
                      <a:lnTo>
                        <a:pt x="86243" y="16905"/>
                      </a:lnTo>
                      <a:cubicBezTo>
                        <a:pt x="87847" y="16905"/>
                        <a:pt x="89451" y="17224"/>
                        <a:pt x="90927" y="17844"/>
                      </a:cubicBezTo>
                      <a:cubicBezTo>
                        <a:pt x="92403" y="18463"/>
                        <a:pt x="93750" y="19372"/>
                        <a:pt x="94905" y="20516"/>
                      </a:cubicBezTo>
                      <a:cubicBezTo>
                        <a:pt x="95996" y="21660"/>
                        <a:pt x="96894" y="23017"/>
                        <a:pt x="97536" y="24510"/>
                      </a:cubicBezTo>
                      <a:cubicBezTo>
                        <a:pt x="98114" y="26002"/>
                        <a:pt x="98434" y="27599"/>
                        <a:pt x="98434" y="29209"/>
                      </a:cubicBezTo>
                      <a:lnTo>
                        <a:pt x="98434" y="66469"/>
                      </a:lnTo>
                      <a:lnTo>
                        <a:pt x="115889" y="66469"/>
                      </a:lnTo>
                      <a:close/>
                    </a:path>
                  </a:pathLst>
                </a:custGeom>
                <a:solidFill>
                  <a:srgbClr val="2D5967"/>
                </a:solidFill>
                <a:ln w="6417"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CDACD03-1981-9FA1-0F76-A8BD69EC9DF7}"/>
                    </a:ext>
                  </a:extLst>
                </p:cNvPr>
                <p:cNvSpPr/>
                <p:nvPr/>
              </p:nvSpPr>
              <p:spPr>
                <a:xfrm>
                  <a:off x="7109475" y="3106750"/>
                  <a:ext cx="79122" cy="79118"/>
                </a:xfrm>
                <a:custGeom>
                  <a:avLst/>
                  <a:gdLst>
                    <a:gd name="connsiteX0" fmla="*/ 39592 w 79122"/>
                    <a:gd name="connsiteY0" fmla="*/ 79118 h 79118"/>
                    <a:gd name="connsiteX1" fmla="*/ 61538 w 79122"/>
                    <a:gd name="connsiteY1" fmla="*/ 72451 h 79118"/>
                    <a:gd name="connsiteX2" fmla="*/ 76104 w 79122"/>
                    <a:gd name="connsiteY2" fmla="*/ 54698 h 79118"/>
                    <a:gd name="connsiteX3" fmla="*/ 78350 w 79122"/>
                    <a:gd name="connsiteY3" fmla="*/ 31841 h 79118"/>
                    <a:gd name="connsiteX4" fmla="*/ 67570 w 79122"/>
                    <a:gd name="connsiteY4" fmla="*/ 11587 h 79118"/>
                    <a:gd name="connsiteX5" fmla="*/ 47293 w 79122"/>
                    <a:gd name="connsiteY5" fmla="*/ 760 h 79118"/>
                    <a:gd name="connsiteX6" fmla="*/ 24449 w 79122"/>
                    <a:gd name="connsiteY6" fmla="*/ 3011 h 79118"/>
                    <a:gd name="connsiteX7" fmla="*/ 6674 w 79122"/>
                    <a:gd name="connsiteY7" fmla="*/ 17581 h 79118"/>
                    <a:gd name="connsiteX8" fmla="*/ 0 w 79122"/>
                    <a:gd name="connsiteY8" fmla="*/ 39559 h 79118"/>
                    <a:gd name="connsiteX9" fmla="*/ 11615 w 79122"/>
                    <a:gd name="connsiteY9" fmla="*/ 67531 h 79118"/>
                    <a:gd name="connsiteX10" fmla="*/ 39592 w 79122"/>
                    <a:gd name="connsiteY10" fmla="*/ 79118 h 79118"/>
                    <a:gd name="connsiteX11" fmla="*/ 39592 w 79122"/>
                    <a:gd name="connsiteY11" fmla="*/ 79118 h 79118"/>
                    <a:gd name="connsiteX12" fmla="*/ 39592 w 79122"/>
                    <a:gd name="connsiteY12" fmla="*/ 17020 h 79118"/>
                    <a:gd name="connsiteX13" fmla="*/ 52362 w 79122"/>
                    <a:gd name="connsiteY13" fmla="*/ 20896 h 79118"/>
                    <a:gd name="connsiteX14" fmla="*/ 60832 w 79122"/>
                    <a:gd name="connsiteY14" fmla="*/ 31218 h 79118"/>
                    <a:gd name="connsiteX15" fmla="*/ 62115 w 79122"/>
                    <a:gd name="connsiteY15" fmla="*/ 44506 h 79118"/>
                    <a:gd name="connsiteX16" fmla="*/ 55827 w 79122"/>
                    <a:gd name="connsiteY16" fmla="*/ 56282 h 79118"/>
                    <a:gd name="connsiteX17" fmla="*/ 44084 w 79122"/>
                    <a:gd name="connsiteY17" fmla="*/ 62576 h 79118"/>
                    <a:gd name="connsiteX18" fmla="*/ 30801 w 79122"/>
                    <a:gd name="connsiteY18" fmla="*/ 61268 h 79118"/>
                    <a:gd name="connsiteX19" fmla="*/ 20470 w 79122"/>
                    <a:gd name="connsiteY19" fmla="*/ 52797 h 79118"/>
                    <a:gd name="connsiteX20" fmla="*/ 16556 w 79122"/>
                    <a:gd name="connsiteY20" fmla="*/ 40019 h 79118"/>
                    <a:gd name="connsiteX21" fmla="*/ 23293 w 79122"/>
                    <a:gd name="connsiteY21" fmla="*/ 23756 h 79118"/>
                    <a:gd name="connsiteX22" fmla="*/ 39592 w 79122"/>
                    <a:gd name="connsiteY22" fmla="*/ 17020 h 79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122" h="79118">
                      <a:moveTo>
                        <a:pt x="39592" y="79118"/>
                      </a:moveTo>
                      <a:cubicBezTo>
                        <a:pt x="47421" y="79118"/>
                        <a:pt x="55057" y="76798"/>
                        <a:pt x="61538" y="72451"/>
                      </a:cubicBezTo>
                      <a:cubicBezTo>
                        <a:pt x="68083" y="68104"/>
                        <a:pt x="73152" y="61926"/>
                        <a:pt x="76104" y="54698"/>
                      </a:cubicBezTo>
                      <a:cubicBezTo>
                        <a:pt x="79120" y="47469"/>
                        <a:pt x="79890" y="39515"/>
                        <a:pt x="78350" y="31841"/>
                      </a:cubicBezTo>
                      <a:cubicBezTo>
                        <a:pt x="76874" y="24168"/>
                        <a:pt x="73088" y="17119"/>
                        <a:pt x="67570" y="11587"/>
                      </a:cubicBezTo>
                      <a:cubicBezTo>
                        <a:pt x="61987" y="6054"/>
                        <a:pt x="54993" y="2287"/>
                        <a:pt x="47293" y="760"/>
                      </a:cubicBezTo>
                      <a:cubicBezTo>
                        <a:pt x="39592" y="-766"/>
                        <a:pt x="31635" y="17"/>
                        <a:pt x="24449" y="3011"/>
                      </a:cubicBezTo>
                      <a:cubicBezTo>
                        <a:pt x="17197" y="6005"/>
                        <a:pt x="11038" y="11076"/>
                        <a:pt x="6674" y="17581"/>
                      </a:cubicBezTo>
                      <a:cubicBezTo>
                        <a:pt x="2311" y="24087"/>
                        <a:pt x="0" y="31735"/>
                        <a:pt x="0" y="39559"/>
                      </a:cubicBezTo>
                      <a:cubicBezTo>
                        <a:pt x="0" y="50051"/>
                        <a:pt x="4171" y="60113"/>
                        <a:pt x="11615" y="67531"/>
                      </a:cubicBezTo>
                      <a:cubicBezTo>
                        <a:pt x="18994" y="74950"/>
                        <a:pt x="29068" y="79118"/>
                        <a:pt x="39592" y="79118"/>
                      </a:cubicBezTo>
                      <a:lnTo>
                        <a:pt x="39592" y="79118"/>
                      </a:lnTo>
                      <a:close/>
                      <a:moveTo>
                        <a:pt x="39592" y="17020"/>
                      </a:moveTo>
                      <a:cubicBezTo>
                        <a:pt x="44148" y="17020"/>
                        <a:pt x="48576" y="18369"/>
                        <a:pt x="52362" y="20896"/>
                      </a:cubicBezTo>
                      <a:cubicBezTo>
                        <a:pt x="56147" y="23423"/>
                        <a:pt x="59100" y="27015"/>
                        <a:pt x="60832" y="31218"/>
                      </a:cubicBezTo>
                      <a:cubicBezTo>
                        <a:pt x="62564" y="35420"/>
                        <a:pt x="63014" y="40045"/>
                        <a:pt x="62115" y="44506"/>
                      </a:cubicBezTo>
                      <a:cubicBezTo>
                        <a:pt x="61217" y="48967"/>
                        <a:pt x="59035" y="53066"/>
                        <a:pt x="55827" y="56282"/>
                      </a:cubicBezTo>
                      <a:cubicBezTo>
                        <a:pt x="52619" y="59499"/>
                        <a:pt x="48512" y="61689"/>
                        <a:pt x="44084" y="62576"/>
                      </a:cubicBezTo>
                      <a:cubicBezTo>
                        <a:pt x="39592" y="63464"/>
                        <a:pt x="34972" y="63009"/>
                        <a:pt x="30801" y="61268"/>
                      </a:cubicBezTo>
                      <a:cubicBezTo>
                        <a:pt x="26566" y="59527"/>
                        <a:pt x="22973" y="56579"/>
                        <a:pt x="20470" y="52797"/>
                      </a:cubicBezTo>
                      <a:cubicBezTo>
                        <a:pt x="17903" y="49015"/>
                        <a:pt x="16556" y="44568"/>
                        <a:pt x="16556" y="40019"/>
                      </a:cubicBezTo>
                      <a:cubicBezTo>
                        <a:pt x="16556" y="33919"/>
                        <a:pt x="18994" y="28069"/>
                        <a:pt x="23293" y="23756"/>
                      </a:cubicBezTo>
                      <a:cubicBezTo>
                        <a:pt x="27593" y="19443"/>
                        <a:pt x="33497" y="17020"/>
                        <a:pt x="39592" y="17020"/>
                      </a:cubicBezTo>
                      <a:close/>
                    </a:path>
                  </a:pathLst>
                </a:custGeom>
                <a:solidFill>
                  <a:srgbClr val="2D5967"/>
                </a:solidFill>
                <a:ln w="6417" cap="flat">
                  <a:noFill/>
                  <a:prstDash val="solid"/>
                  <a:miter/>
                </a:ln>
              </p:spPr>
              <p:txBody>
                <a:bodyPr rtlCol="0" anchor="ctr"/>
                <a:lstStyle/>
                <a:p>
                  <a:endParaRPr lang="en-US"/>
                </a:p>
              </p:txBody>
            </p:sp>
          </p:grpSp>
          <p:sp>
            <p:nvSpPr>
              <p:cNvPr id="25" name="TextBox 24">
                <a:extLst>
                  <a:ext uri="{FF2B5EF4-FFF2-40B4-BE49-F238E27FC236}">
                    <a16:creationId xmlns:a16="http://schemas.microsoft.com/office/drawing/2014/main" id="{CDEB8A9E-9BAB-E6F4-BB1F-DCF480CA288A}"/>
                  </a:ext>
                </a:extLst>
              </p:cNvPr>
              <p:cNvSpPr txBox="1"/>
              <p:nvPr/>
            </p:nvSpPr>
            <p:spPr>
              <a:xfrm>
                <a:off x="6410849" y="2124661"/>
                <a:ext cx="531268" cy="229869"/>
              </a:xfrm>
              <a:prstGeom prst="rect">
                <a:avLst/>
              </a:prstGeom>
              <a:noFill/>
            </p:spPr>
            <p:txBody>
              <a:bodyPr wrap="square">
                <a:spAutoFit/>
              </a:bodyPr>
              <a:lstStyle/>
              <a:p>
                <a:pPr algn="just"/>
                <a:r>
                  <a:rPr lang="en-IN" sz="850" b="1" i="0">
                    <a:solidFill>
                      <a:srgbClr val="000000"/>
                    </a:solidFill>
                    <a:effectLst/>
                    <a:latin typeface="Helvetica" panose="020B0604020202020204" pitchFamily="34" charset="0"/>
                  </a:rPr>
                  <a:t>IAM</a:t>
                </a:r>
              </a:p>
            </p:txBody>
          </p:sp>
          <p:sp>
            <p:nvSpPr>
              <p:cNvPr id="26" name="TextBox 25">
                <a:extLst>
                  <a:ext uri="{FF2B5EF4-FFF2-40B4-BE49-F238E27FC236}">
                    <a16:creationId xmlns:a16="http://schemas.microsoft.com/office/drawing/2014/main" id="{A2C504FB-9E40-91E8-55E7-E2DAEDC2D6AA}"/>
                  </a:ext>
                </a:extLst>
              </p:cNvPr>
              <p:cNvSpPr txBox="1"/>
              <p:nvPr/>
            </p:nvSpPr>
            <p:spPr>
              <a:xfrm>
                <a:off x="7224021" y="1833609"/>
                <a:ext cx="1413164" cy="505713"/>
              </a:xfrm>
              <a:prstGeom prst="rect">
                <a:avLst/>
              </a:prstGeom>
              <a:noFill/>
            </p:spPr>
            <p:txBody>
              <a:bodyPr wrap="square">
                <a:spAutoFit/>
              </a:bodyPr>
              <a:lstStyle/>
              <a:p>
                <a:pPr marL="93663" indent="-77788" algn="just">
                  <a:buFont typeface="Arial" panose="020B0604020202020204" pitchFamily="34" charset="0"/>
                  <a:buChar char="•"/>
                </a:pPr>
                <a:r>
                  <a:rPr lang="en-IN" sz="900" b="1" i="0">
                    <a:solidFill>
                      <a:srgbClr val="000000"/>
                    </a:solidFill>
                    <a:effectLst/>
                    <a:latin typeface="Helvetica" panose="020B0604020202020204" pitchFamily="34" charset="0"/>
                  </a:rPr>
                  <a:t>User</a:t>
                </a:r>
              </a:p>
              <a:p>
                <a:pPr marL="93663" indent="-77788" algn="just">
                  <a:buFont typeface="Arial" panose="020B0604020202020204" pitchFamily="34" charset="0"/>
                  <a:buChar char="•"/>
                </a:pPr>
                <a:r>
                  <a:rPr lang="en-IN" sz="900" b="1">
                    <a:solidFill>
                      <a:srgbClr val="000000"/>
                    </a:solidFill>
                    <a:latin typeface="Helvetica" panose="020B0604020202020204" pitchFamily="34" charset="0"/>
                  </a:rPr>
                  <a:t>Group</a:t>
                </a:r>
              </a:p>
              <a:p>
                <a:pPr marL="93663" indent="-77788" algn="just">
                  <a:buFont typeface="Arial" panose="020B0604020202020204" pitchFamily="34" charset="0"/>
                  <a:buChar char="•"/>
                </a:pPr>
                <a:r>
                  <a:rPr lang="en-IN" sz="900" b="1" i="0">
                    <a:solidFill>
                      <a:srgbClr val="000000"/>
                    </a:solidFill>
                    <a:effectLst/>
                    <a:latin typeface="Helvetica" panose="020B0604020202020204" pitchFamily="34" charset="0"/>
                  </a:rPr>
                  <a:t>Policy (tenancy)</a:t>
                </a:r>
              </a:p>
            </p:txBody>
          </p:sp>
          <p:grpSp>
            <p:nvGrpSpPr>
              <p:cNvPr id="27" name="Graphic 496">
                <a:extLst>
                  <a:ext uri="{FF2B5EF4-FFF2-40B4-BE49-F238E27FC236}">
                    <a16:creationId xmlns:a16="http://schemas.microsoft.com/office/drawing/2014/main" id="{7A887280-2884-DEF4-C591-4406C8942F68}"/>
                  </a:ext>
                </a:extLst>
              </p:cNvPr>
              <p:cNvGrpSpPr/>
              <p:nvPr/>
            </p:nvGrpSpPr>
            <p:grpSpPr>
              <a:xfrm>
                <a:off x="6444049" y="2770091"/>
                <a:ext cx="531267" cy="505527"/>
                <a:chOff x="7023233" y="3040744"/>
                <a:chExt cx="513347" cy="483793"/>
              </a:xfrm>
            </p:grpSpPr>
            <p:sp>
              <p:nvSpPr>
                <p:cNvPr id="28" name="Freeform: Shape 27">
                  <a:extLst>
                    <a:ext uri="{FF2B5EF4-FFF2-40B4-BE49-F238E27FC236}">
                      <a16:creationId xmlns:a16="http://schemas.microsoft.com/office/drawing/2014/main" id="{824755EB-84DF-9BA1-F474-42F9AEB4CDBC}"/>
                    </a:ext>
                  </a:extLst>
                </p:cNvPr>
                <p:cNvSpPr/>
                <p:nvPr/>
              </p:nvSpPr>
              <p:spPr>
                <a:xfrm>
                  <a:off x="7028944" y="3046495"/>
                  <a:ext cx="501860" cy="472639"/>
                </a:xfrm>
                <a:custGeom>
                  <a:avLst/>
                  <a:gdLst>
                    <a:gd name="connsiteX0" fmla="*/ 381609 w 501860"/>
                    <a:gd name="connsiteY0" fmla="*/ 468956 h 472639"/>
                    <a:gd name="connsiteX1" fmla="*/ 274063 w 501860"/>
                    <a:gd name="connsiteY1" fmla="*/ 329005 h 472639"/>
                    <a:gd name="connsiteX2" fmla="*/ 274063 w 501860"/>
                    <a:gd name="connsiteY2" fmla="*/ 279903 h 472639"/>
                    <a:gd name="connsiteX3" fmla="*/ 0 w 501860"/>
                    <a:gd name="connsiteY3" fmla="*/ 279903 h 472639"/>
                    <a:gd name="connsiteX4" fmla="*/ 0 w 501860"/>
                    <a:gd name="connsiteY4" fmla="*/ 0 h 472639"/>
                    <a:gd name="connsiteX5" fmla="*/ 402528 w 501860"/>
                    <a:gd name="connsiteY5" fmla="*/ 0 h 472639"/>
                    <a:gd name="connsiteX6" fmla="*/ 402528 w 501860"/>
                    <a:gd name="connsiteY6" fmla="*/ 181120 h 472639"/>
                    <a:gd name="connsiteX7" fmla="*/ 501861 w 501860"/>
                    <a:gd name="connsiteY7" fmla="*/ 224245 h 472639"/>
                    <a:gd name="connsiteX8" fmla="*/ 501861 w 501860"/>
                    <a:gd name="connsiteY8" fmla="*/ 329120 h 472639"/>
                    <a:gd name="connsiteX9" fmla="*/ 394379 w 501860"/>
                    <a:gd name="connsiteY9" fmla="*/ 469418 h 472639"/>
                    <a:gd name="connsiteX10" fmla="*/ 388026 w 501860"/>
                    <a:gd name="connsiteY10" fmla="*/ 472640 h 472639"/>
                    <a:gd name="connsiteX11" fmla="*/ 381609 w 501860"/>
                    <a:gd name="connsiteY11" fmla="*/ 468956 h 47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1860" h="472639">
                      <a:moveTo>
                        <a:pt x="381609" y="468956"/>
                      </a:moveTo>
                      <a:cubicBezTo>
                        <a:pt x="316286" y="436417"/>
                        <a:pt x="277272" y="385242"/>
                        <a:pt x="274063" y="329005"/>
                      </a:cubicBezTo>
                      <a:lnTo>
                        <a:pt x="274063" y="279903"/>
                      </a:lnTo>
                      <a:lnTo>
                        <a:pt x="0" y="279903"/>
                      </a:lnTo>
                      <a:lnTo>
                        <a:pt x="0" y="0"/>
                      </a:lnTo>
                      <a:lnTo>
                        <a:pt x="402528" y="0"/>
                      </a:lnTo>
                      <a:lnTo>
                        <a:pt x="402528" y="181120"/>
                      </a:lnTo>
                      <a:lnTo>
                        <a:pt x="501861" y="224245"/>
                      </a:lnTo>
                      <a:lnTo>
                        <a:pt x="501861" y="329120"/>
                      </a:lnTo>
                      <a:cubicBezTo>
                        <a:pt x="498653" y="385813"/>
                        <a:pt x="459446" y="436872"/>
                        <a:pt x="394379" y="469418"/>
                      </a:cubicBezTo>
                      <a:lnTo>
                        <a:pt x="388026" y="472640"/>
                      </a:lnTo>
                      <a:lnTo>
                        <a:pt x="381609" y="468956"/>
                      </a:lnTo>
                      <a:close/>
                    </a:path>
                  </a:pathLst>
                </a:custGeom>
                <a:solidFill>
                  <a:srgbClr val="FFFFFF"/>
                </a:solidFill>
                <a:ln w="6417"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6E2CC2C7-CE39-A9E0-821B-05D115620565}"/>
                    </a:ext>
                  </a:extLst>
                </p:cNvPr>
                <p:cNvSpPr/>
                <p:nvPr/>
              </p:nvSpPr>
              <p:spPr>
                <a:xfrm>
                  <a:off x="7023233" y="3040744"/>
                  <a:ext cx="513347" cy="483793"/>
                </a:xfrm>
                <a:custGeom>
                  <a:avLst/>
                  <a:gdLst>
                    <a:gd name="connsiteX0" fmla="*/ 402464 w 513347"/>
                    <a:gd name="connsiteY0" fmla="*/ 11500 h 483793"/>
                    <a:gd name="connsiteX1" fmla="*/ 402464 w 513347"/>
                    <a:gd name="connsiteY1" fmla="*/ 190665 h 483793"/>
                    <a:gd name="connsiteX2" fmla="*/ 502054 w 513347"/>
                    <a:gd name="connsiteY2" fmla="*/ 233329 h 483793"/>
                    <a:gd name="connsiteX3" fmla="*/ 502054 w 513347"/>
                    <a:gd name="connsiteY3" fmla="*/ 334409 h 483793"/>
                    <a:gd name="connsiteX4" fmla="*/ 397780 w 513347"/>
                    <a:gd name="connsiteY4" fmla="*/ 469535 h 483793"/>
                    <a:gd name="connsiteX5" fmla="*/ 393994 w 513347"/>
                    <a:gd name="connsiteY5" fmla="*/ 471486 h 483793"/>
                    <a:gd name="connsiteX6" fmla="*/ 390209 w 513347"/>
                    <a:gd name="connsiteY6" fmla="*/ 469535 h 483793"/>
                    <a:gd name="connsiteX7" fmla="*/ 285742 w 513347"/>
                    <a:gd name="connsiteY7" fmla="*/ 334409 h 483793"/>
                    <a:gd name="connsiteX8" fmla="*/ 285742 w 513347"/>
                    <a:gd name="connsiteY8" fmla="*/ 279903 h 483793"/>
                    <a:gd name="connsiteX9" fmla="*/ 11486 w 513347"/>
                    <a:gd name="connsiteY9" fmla="*/ 279903 h 483793"/>
                    <a:gd name="connsiteX10" fmla="*/ 11486 w 513347"/>
                    <a:gd name="connsiteY10" fmla="*/ 11500 h 483793"/>
                    <a:gd name="connsiteX11" fmla="*/ 402464 w 513347"/>
                    <a:gd name="connsiteY11" fmla="*/ 11500 h 483793"/>
                    <a:gd name="connsiteX12" fmla="*/ 414015 w 513347"/>
                    <a:gd name="connsiteY12" fmla="*/ 0 h 483793"/>
                    <a:gd name="connsiteX13" fmla="*/ 0 w 513347"/>
                    <a:gd name="connsiteY13" fmla="*/ 0 h 483793"/>
                    <a:gd name="connsiteX14" fmla="*/ 0 w 513347"/>
                    <a:gd name="connsiteY14" fmla="*/ 291404 h 483793"/>
                    <a:gd name="connsiteX15" fmla="*/ 274063 w 513347"/>
                    <a:gd name="connsiteY15" fmla="*/ 291404 h 483793"/>
                    <a:gd name="connsiteX16" fmla="*/ 274063 w 513347"/>
                    <a:gd name="connsiteY16" fmla="*/ 333492 h 483793"/>
                    <a:gd name="connsiteX17" fmla="*/ 274063 w 513347"/>
                    <a:gd name="connsiteY17" fmla="*/ 334185 h 483793"/>
                    <a:gd name="connsiteX18" fmla="*/ 384754 w 513347"/>
                    <a:gd name="connsiteY18" fmla="*/ 479308 h 483793"/>
                    <a:gd name="connsiteX19" fmla="*/ 388604 w 513347"/>
                    <a:gd name="connsiteY19" fmla="*/ 481150 h 483793"/>
                    <a:gd name="connsiteX20" fmla="*/ 393737 w 513347"/>
                    <a:gd name="connsiteY20" fmla="*/ 483793 h 483793"/>
                    <a:gd name="connsiteX21" fmla="*/ 398807 w 513347"/>
                    <a:gd name="connsiteY21" fmla="*/ 481150 h 483793"/>
                    <a:gd name="connsiteX22" fmla="*/ 402593 w 513347"/>
                    <a:gd name="connsiteY22" fmla="*/ 479308 h 483793"/>
                    <a:gd name="connsiteX23" fmla="*/ 513347 w 513347"/>
                    <a:gd name="connsiteY23" fmla="*/ 334525 h 483793"/>
                    <a:gd name="connsiteX24" fmla="*/ 513347 w 513347"/>
                    <a:gd name="connsiteY24" fmla="*/ 225739 h 483793"/>
                    <a:gd name="connsiteX25" fmla="*/ 506417 w 513347"/>
                    <a:gd name="connsiteY25" fmla="*/ 222749 h 483793"/>
                    <a:gd name="connsiteX26" fmla="*/ 414015 w 513347"/>
                    <a:gd name="connsiteY26" fmla="*/ 183075 h 483793"/>
                    <a:gd name="connsiteX27" fmla="*/ 414015 w 513347"/>
                    <a:gd name="connsiteY27" fmla="*/ 0 h 4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3347" h="483793">
                      <a:moveTo>
                        <a:pt x="402464" y="11500"/>
                      </a:moveTo>
                      <a:lnTo>
                        <a:pt x="402464" y="190665"/>
                      </a:lnTo>
                      <a:lnTo>
                        <a:pt x="502054" y="233329"/>
                      </a:lnTo>
                      <a:lnTo>
                        <a:pt x="502054" y="334409"/>
                      </a:lnTo>
                      <a:cubicBezTo>
                        <a:pt x="498974" y="388689"/>
                        <a:pt x="461050" y="437907"/>
                        <a:pt x="397780" y="469535"/>
                      </a:cubicBezTo>
                      <a:lnTo>
                        <a:pt x="393994" y="471486"/>
                      </a:lnTo>
                      <a:lnTo>
                        <a:pt x="390209" y="469535"/>
                      </a:lnTo>
                      <a:cubicBezTo>
                        <a:pt x="326938" y="437907"/>
                        <a:pt x="288886" y="389036"/>
                        <a:pt x="285742" y="334409"/>
                      </a:cubicBezTo>
                      <a:lnTo>
                        <a:pt x="285742" y="279903"/>
                      </a:lnTo>
                      <a:lnTo>
                        <a:pt x="11486" y="279903"/>
                      </a:lnTo>
                      <a:lnTo>
                        <a:pt x="11486" y="11500"/>
                      </a:lnTo>
                      <a:lnTo>
                        <a:pt x="402464" y="11500"/>
                      </a:lnTo>
                      <a:close/>
                      <a:moveTo>
                        <a:pt x="414015" y="0"/>
                      </a:moveTo>
                      <a:lnTo>
                        <a:pt x="0" y="0"/>
                      </a:lnTo>
                      <a:lnTo>
                        <a:pt x="0" y="291404"/>
                      </a:lnTo>
                      <a:lnTo>
                        <a:pt x="274063" y="291404"/>
                      </a:lnTo>
                      <a:lnTo>
                        <a:pt x="274063" y="333492"/>
                      </a:lnTo>
                      <a:lnTo>
                        <a:pt x="274063" y="334185"/>
                      </a:lnTo>
                      <a:cubicBezTo>
                        <a:pt x="277464" y="392944"/>
                        <a:pt x="317762" y="445729"/>
                        <a:pt x="384754" y="479308"/>
                      </a:cubicBezTo>
                      <a:lnTo>
                        <a:pt x="388604" y="481150"/>
                      </a:lnTo>
                      <a:lnTo>
                        <a:pt x="393737" y="483793"/>
                      </a:lnTo>
                      <a:lnTo>
                        <a:pt x="398807" y="481150"/>
                      </a:lnTo>
                      <a:lnTo>
                        <a:pt x="402593" y="479308"/>
                      </a:lnTo>
                      <a:cubicBezTo>
                        <a:pt x="469648" y="445729"/>
                        <a:pt x="510011" y="392944"/>
                        <a:pt x="513347" y="334525"/>
                      </a:cubicBezTo>
                      <a:lnTo>
                        <a:pt x="513347" y="225739"/>
                      </a:lnTo>
                      <a:lnTo>
                        <a:pt x="506417" y="222749"/>
                      </a:lnTo>
                      <a:lnTo>
                        <a:pt x="414015" y="183075"/>
                      </a:lnTo>
                      <a:lnTo>
                        <a:pt x="414015" y="0"/>
                      </a:lnTo>
                      <a:close/>
                    </a:path>
                  </a:pathLst>
                </a:custGeom>
                <a:solidFill>
                  <a:srgbClr val="FFFFFF"/>
                </a:solidFill>
                <a:ln w="6417"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EF6C6D8-FE73-BDEC-5B04-AF829CECFE0B}"/>
                    </a:ext>
                  </a:extLst>
                </p:cNvPr>
                <p:cNvSpPr/>
                <p:nvPr/>
              </p:nvSpPr>
              <p:spPr>
                <a:xfrm>
                  <a:off x="7034720" y="3052246"/>
                  <a:ext cx="390785" cy="268403"/>
                </a:xfrm>
                <a:custGeom>
                  <a:avLst/>
                  <a:gdLst>
                    <a:gd name="connsiteX0" fmla="*/ 17004 w 390785"/>
                    <a:gd name="connsiteY0" fmla="*/ 17019 h 268403"/>
                    <a:gd name="connsiteX1" fmla="*/ 373781 w 390785"/>
                    <a:gd name="connsiteY1" fmla="*/ 17019 h 268403"/>
                    <a:gd name="connsiteX2" fmla="*/ 373781 w 390785"/>
                    <a:gd name="connsiteY2" fmla="*/ 165251 h 268403"/>
                    <a:gd name="connsiteX3" fmla="*/ 382251 w 390785"/>
                    <a:gd name="connsiteY3" fmla="*/ 161571 h 268403"/>
                    <a:gd name="connsiteX4" fmla="*/ 390785 w 390785"/>
                    <a:gd name="connsiteY4" fmla="*/ 165251 h 268403"/>
                    <a:gd name="connsiteX5" fmla="*/ 390785 w 390785"/>
                    <a:gd name="connsiteY5" fmla="*/ 0 h 268403"/>
                    <a:gd name="connsiteX6" fmla="*/ 0 w 390785"/>
                    <a:gd name="connsiteY6" fmla="*/ 0 h 268403"/>
                    <a:gd name="connsiteX7" fmla="*/ 0 w 390785"/>
                    <a:gd name="connsiteY7" fmla="*/ 268404 h 268403"/>
                    <a:gd name="connsiteX8" fmla="*/ 261294 w 390785"/>
                    <a:gd name="connsiteY8" fmla="*/ 268404 h 268403"/>
                    <a:gd name="connsiteX9" fmla="*/ 261294 w 390785"/>
                    <a:gd name="connsiteY9" fmla="*/ 251384 h 268403"/>
                    <a:gd name="connsiteX10" fmla="*/ 17004 w 390785"/>
                    <a:gd name="connsiteY10" fmla="*/ 251384 h 268403"/>
                    <a:gd name="connsiteX11" fmla="*/ 17004 w 390785"/>
                    <a:gd name="connsiteY11" fmla="*/ 17019 h 26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0785" h="268403">
                      <a:moveTo>
                        <a:pt x="17004" y="17019"/>
                      </a:moveTo>
                      <a:lnTo>
                        <a:pt x="373781" y="17019"/>
                      </a:lnTo>
                      <a:lnTo>
                        <a:pt x="373781" y="165251"/>
                      </a:lnTo>
                      <a:lnTo>
                        <a:pt x="382251" y="161571"/>
                      </a:lnTo>
                      <a:lnTo>
                        <a:pt x="390785" y="165251"/>
                      </a:lnTo>
                      <a:lnTo>
                        <a:pt x="390785" y="0"/>
                      </a:lnTo>
                      <a:lnTo>
                        <a:pt x="0" y="0"/>
                      </a:lnTo>
                      <a:lnTo>
                        <a:pt x="0" y="268404"/>
                      </a:lnTo>
                      <a:lnTo>
                        <a:pt x="261294" y="268404"/>
                      </a:lnTo>
                      <a:lnTo>
                        <a:pt x="261294" y="251384"/>
                      </a:lnTo>
                      <a:lnTo>
                        <a:pt x="17004" y="251384"/>
                      </a:lnTo>
                      <a:lnTo>
                        <a:pt x="17004" y="17019"/>
                      </a:lnTo>
                      <a:close/>
                    </a:path>
                  </a:pathLst>
                </a:custGeom>
                <a:solidFill>
                  <a:srgbClr val="2D5967"/>
                </a:solidFill>
                <a:ln w="6417"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AC75171-E6FA-D9A3-0DE1-B538E9A1BC58}"/>
                    </a:ext>
                  </a:extLst>
                </p:cNvPr>
                <p:cNvSpPr/>
                <p:nvPr/>
              </p:nvSpPr>
              <p:spPr>
                <a:xfrm>
                  <a:off x="7308783" y="3227735"/>
                  <a:ext cx="216311" cy="284155"/>
                </a:xfrm>
                <a:custGeom>
                  <a:avLst/>
                  <a:gdLst>
                    <a:gd name="connsiteX0" fmla="*/ 108188 w 216311"/>
                    <a:gd name="connsiteY0" fmla="*/ 0 h 284155"/>
                    <a:gd name="connsiteX1" fmla="*/ 0 w 216311"/>
                    <a:gd name="connsiteY1" fmla="*/ 45999 h 284155"/>
                    <a:gd name="connsiteX2" fmla="*/ 0 w 216311"/>
                    <a:gd name="connsiteY2" fmla="*/ 147079 h 284155"/>
                    <a:gd name="connsiteX3" fmla="*/ 104402 w 216311"/>
                    <a:gd name="connsiteY3" fmla="*/ 282204 h 284155"/>
                    <a:gd name="connsiteX4" fmla="*/ 108188 w 216311"/>
                    <a:gd name="connsiteY4" fmla="*/ 284155 h 284155"/>
                    <a:gd name="connsiteX5" fmla="*/ 111974 w 216311"/>
                    <a:gd name="connsiteY5" fmla="*/ 282204 h 284155"/>
                    <a:gd name="connsiteX6" fmla="*/ 216312 w 216311"/>
                    <a:gd name="connsiteY6" fmla="*/ 147079 h 284155"/>
                    <a:gd name="connsiteX7" fmla="*/ 216312 w 216311"/>
                    <a:gd name="connsiteY7" fmla="*/ 46344 h 284155"/>
                    <a:gd name="connsiteX8" fmla="*/ 108188 w 216311"/>
                    <a:gd name="connsiteY8" fmla="*/ 0 h 284155"/>
                    <a:gd name="connsiteX9" fmla="*/ 199243 w 216311"/>
                    <a:gd name="connsiteY9" fmla="*/ 146507 h 284155"/>
                    <a:gd name="connsiteX10" fmla="*/ 116722 w 216311"/>
                    <a:gd name="connsiteY10" fmla="*/ 260586 h 284155"/>
                    <a:gd name="connsiteX11" fmla="*/ 116722 w 216311"/>
                    <a:gd name="connsiteY11" fmla="*/ 116149 h 284155"/>
                    <a:gd name="connsiteX12" fmla="*/ 99654 w 216311"/>
                    <a:gd name="connsiteY12" fmla="*/ 116149 h 284155"/>
                    <a:gd name="connsiteX13" fmla="*/ 99654 w 216311"/>
                    <a:gd name="connsiteY13" fmla="*/ 260811 h 284155"/>
                    <a:gd name="connsiteX14" fmla="*/ 17005 w 216311"/>
                    <a:gd name="connsiteY14" fmla="*/ 146738 h 284155"/>
                    <a:gd name="connsiteX15" fmla="*/ 17005 w 216311"/>
                    <a:gd name="connsiteY15" fmla="*/ 57499 h 284155"/>
                    <a:gd name="connsiteX16" fmla="*/ 99654 w 216311"/>
                    <a:gd name="connsiteY16" fmla="*/ 22079 h 284155"/>
                    <a:gd name="connsiteX17" fmla="*/ 99654 w 216311"/>
                    <a:gd name="connsiteY17" fmla="*/ 97978 h 284155"/>
                    <a:gd name="connsiteX18" fmla="*/ 116915 w 216311"/>
                    <a:gd name="connsiteY18" fmla="*/ 97978 h 284155"/>
                    <a:gd name="connsiteX19" fmla="*/ 116915 w 216311"/>
                    <a:gd name="connsiteY19" fmla="*/ 22079 h 284155"/>
                    <a:gd name="connsiteX20" fmla="*/ 199499 w 216311"/>
                    <a:gd name="connsiteY20" fmla="*/ 57499 h 284155"/>
                    <a:gd name="connsiteX21" fmla="*/ 199243 w 216311"/>
                    <a:gd name="connsiteY21" fmla="*/ 146507 h 28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311" h="284155">
                      <a:moveTo>
                        <a:pt x="108188" y="0"/>
                      </a:moveTo>
                      <a:lnTo>
                        <a:pt x="0" y="45999"/>
                      </a:lnTo>
                      <a:lnTo>
                        <a:pt x="0" y="147079"/>
                      </a:lnTo>
                      <a:cubicBezTo>
                        <a:pt x="3080" y="201359"/>
                        <a:pt x="41132" y="250576"/>
                        <a:pt x="104402" y="282204"/>
                      </a:cubicBezTo>
                      <a:lnTo>
                        <a:pt x="108188" y="284155"/>
                      </a:lnTo>
                      <a:lnTo>
                        <a:pt x="111974" y="282204"/>
                      </a:lnTo>
                      <a:cubicBezTo>
                        <a:pt x="175244" y="250576"/>
                        <a:pt x="213167" y="201705"/>
                        <a:pt x="216312" y="147079"/>
                      </a:cubicBezTo>
                      <a:lnTo>
                        <a:pt x="216312" y="46344"/>
                      </a:lnTo>
                      <a:lnTo>
                        <a:pt x="108188" y="0"/>
                      </a:lnTo>
                      <a:close/>
                      <a:moveTo>
                        <a:pt x="199243" y="146507"/>
                      </a:moveTo>
                      <a:cubicBezTo>
                        <a:pt x="196741" y="190893"/>
                        <a:pt x="166838" y="231832"/>
                        <a:pt x="116722" y="260586"/>
                      </a:cubicBezTo>
                      <a:lnTo>
                        <a:pt x="116722" y="116149"/>
                      </a:lnTo>
                      <a:lnTo>
                        <a:pt x="99654" y="116149"/>
                      </a:lnTo>
                      <a:lnTo>
                        <a:pt x="99654" y="260811"/>
                      </a:lnTo>
                      <a:cubicBezTo>
                        <a:pt x="49538" y="232063"/>
                        <a:pt x="19186" y="191124"/>
                        <a:pt x="17005" y="146738"/>
                      </a:cubicBezTo>
                      <a:lnTo>
                        <a:pt x="17005" y="57499"/>
                      </a:lnTo>
                      <a:lnTo>
                        <a:pt x="99654" y="22079"/>
                      </a:lnTo>
                      <a:lnTo>
                        <a:pt x="99654" y="97978"/>
                      </a:lnTo>
                      <a:lnTo>
                        <a:pt x="116915" y="97978"/>
                      </a:lnTo>
                      <a:lnTo>
                        <a:pt x="116915" y="22079"/>
                      </a:lnTo>
                      <a:lnTo>
                        <a:pt x="199499" y="57499"/>
                      </a:lnTo>
                      <a:lnTo>
                        <a:pt x="199243" y="146507"/>
                      </a:lnTo>
                      <a:close/>
                    </a:path>
                  </a:pathLst>
                </a:custGeom>
                <a:solidFill>
                  <a:srgbClr val="2D5967"/>
                </a:solidFill>
                <a:ln w="6417"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6E8FAC0-0B72-9113-912D-39F18D8DCFAB}"/>
                    </a:ext>
                  </a:extLst>
                </p:cNvPr>
                <p:cNvSpPr/>
                <p:nvPr/>
              </p:nvSpPr>
              <p:spPr>
                <a:xfrm>
                  <a:off x="7253213" y="3097323"/>
                  <a:ext cx="92723" cy="73023"/>
                </a:xfrm>
                <a:custGeom>
                  <a:avLst/>
                  <a:gdLst>
                    <a:gd name="connsiteX0" fmla="*/ 12064 w 92723"/>
                    <a:gd name="connsiteY0" fmla="*/ 29324 h 73023"/>
                    <a:gd name="connsiteX1" fmla="*/ 0 w 92723"/>
                    <a:gd name="connsiteY1" fmla="*/ 41284 h 73023"/>
                    <a:gd name="connsiteX2" fmla="*/ 31764 w 92723"/>
                    <a:gd name="connsiteY2" fmla="*/ 73023 h 73023"/>
                    <a:gd name="connsiteX3" fmla="*/ 92724 w 92723"/>
                    <a:gd name="connsiteY3" fmla="*/ 12075 h 73023"/>
                    <a:gd name="connsiteX4" fmla="*/ 80724 w 92723"/>
                    <a:gd name="connsiteY4" fmla="*/ 0 h 73023"/>
                    <a:gd name="connsiteX5" fmla="*/ 31764 w 92723"/>
                    <a:gd name="connsiteY5" fmla="*/ 48989 h 73023"/>
                    <a:gd name="connsiteX6" fmla="*/ 12064 w 92723"/>
                    <a:gd name="connsiteY6" fmla="*/ 29324 h 7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723" h="73023">
                      <a:moveTo>
                        <a:pt x="12064" y="29324"/>
                      </a:moveTo>
                      <a:lnTo>
                        <a:pt x="0" y="41284"/>
                      </a:lnTo>
                      <a:lnTo>
                        <a:pt x="31764" y="73023"/>
                      </a:lnTo>
                      <a:lnTo>
                        <a:pt x="92724" y="12075"/>
                      </a:lnTo>
                      <a:lnTo>
                        <a:pt x="80724" y="0"/>
                      </a:lnTo>
                      <a:lnTo>
                        <a:pt x="31764" y="48989"/>
                      </a:lnTo>
                      <a:lnTo>
                        <a:pt x="12064" y="29324"/>
                      </a:lnTo>
                      <a:close/>
                    </a:path>
                  </a:pathLst>
                </a:custGeom>
                <a:solidFill>
                  <a:srgbClr val="2D5967"/>
                </a:solidFill>
                <a:ln w="641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80639F3-2B30-9FCB-B5C1-07C7FB6CA4AE}"/>
                    </a:ext>
                  </a:extLst>
                </p:cNvPr>
                <p:cNvSpPr/>
                <p:nvPr/>
              </p:nvSpPr>
              <p:spPr>
                <a:xfrm>
                  <a:off x="7261875" y="3186098"/>
                  <a:ext cx="68660" cy="68653"/>
                </a:xfrm>
                <a:custGeom>
                  <a:avLst/>
                  <a:gdLst>
                    <a:gd name="connsiteX0" fmla="*/ 68661 w 68660"/>
                    <a:gd name="connsiteY0" fmla="*/ 56579 h 68653"/>
                    <a:gd name="connsiteX1" fmla="*/ 46330 w 68660"/>
                    <a:gd name="connsiteY1" fmla="*/ 34384 h 68653"/>
                    <a:gd name="connsiteX2" fmla="*/ 68661 w 68660"/>
                    <a:gd name="connsiteY2" fmla="*/ 12075 h 68653"/>
                    <a:gd name="connsiteX3" fmla="*/ 56661 w 68660"/>
                    <a:gd name="connsiteY3" fmla="*/ 0 h 68653"/>
                    <a:gd name="connsiteX4" fmla="*/ 34395 w 68660"/>
                    <a:gd name="connsiteY4" fmla="*/ 22309 h 68653"/>
                    <a:gd name="connsiteX5" fmla="*/ 12064 w 68660"/>
                    <a:gd name="connsiteY5" fmla="*/ 0 h 68653"/>
                    <a:gd name="connsiteX6" fmla="*/ 0 w 68660"/>
                    <a:gd name="connsiteY6" fmla="*/ 12075 h 68653"/>
                    <a:gd name="connsiteX7" fmla="*/ 22267 w 68660"/>
                    <a:gd name="connsiteY7" fmla="*/ 34384 h 68653"/>
                    <a:gd name="connsiteX8" fmla="*/ 0 w 68660"/>
                    <a:gd name="connsiteY8" fmla="*/ 56579 h 68653"/>
                    <a:gd name="connsiteX9" fmla="*/ 12064 w 68660"/>
                    <a:gd name="connsiteY9" fmla="*/ 68653 h 68653"/>
                    <a:gd name="connsiteX10" fmla="*/ 34395 w 68660"/>
                    <a:gd name="connsiteY10" fmla="*/ 46344 h 68653"/>
                    <a:gd name="connsiteX11" fmla="*/ 56661 w 68660"/>
                    <a:gd name="connsiteY11" fmla="*/ 68653 h 68653"/>
                    <a:gd name="connsiteX12" fmla="*/ 68661 w 68660"/>
                    <a:gd name="connsiteY12" fmla="*/ 56579 h 68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660" h="68653">
                      <a:moveTo>
                        <a:pt x="68661" y="56579"/>
                      </a:moveTo>
                      <a:lnTo>
                        <a:pt x="46330" y="34384"/>
                      </a:lnTo>
                      <a:lnTo>
                        <a:pt x="68661" y="12075"/>
                      </a:lnTo>
                      <a:lnTo>
                        <a:pt x="56661" y="0"/>
                      </a:lnTo>
                      <a:lnTo>
                        <a:pt x="34395" y="22309"/>
                      </a:lnTo>
                      <a:lnTo>
                        <a:pt x="12064" y="0"/>
                      </a:lnTo>
                      <a:lnTo>
                        <a:pt x="0" y="12075"/>
                      </a:lnTo>
                      <a:lnTo>
                        <a:pt x="22267" y="34384"/>
                      </a:lnTo>
                      <a:lnTo>
                        <a:pt x="0" y="56579"/>
                      </a:lnTo>
                      <a:lnTo>
                        <a:pt x="12064" y="68653"/>
                      </a:lnTo>
                      <a:lnTo>
                        <a:pt x="34395" y="46344"/>
                      </a:lnTo>
                      <a:lnTo>
                        <a:pt x="56661" y="68653"/>
                      </a:lnTo>
                      <a:lnTo>
                        <a:pt x="68661" y="56579"/>
                      </a:lnTo>
                      <a:close/>
                    </a:path>
                  </a:pathLst>
                </a:custGeom>
                <a:solidFill>
                  <a:srgbClr val="2D5967"/>
                </a:solidFill>
                <a:ln w="6417"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EBC0C2A-4092-3981-BF2D-5B6BCBBF24FC}"/>
                    </a:ext>
                  </a:extLst>
                </p:cNvPr>
                <p:cNvSpPr/>
                <p:nvPr/>
              </p:nvSpPr>
              <p:spPr>
                <a:xfrm>
                  <a:off x="7091316" y="3199675"/>
                  <a:ext cx="115888" cy="66468"/>
                </a:xfrm>
                <a:custGeom>
                  <a:avLst/>
                  <a:gdLst>
                    <a:gd name="connsiteX0" fmla="*/ 115889 w 115888"/>
                    <a:gd name="connsiteY0" fmla="*/ 66469 h 66468"/>
                    <a:gd name="connsiteX1" fmla="*/ 115889 w 115888"/>
                    <a:gd name="connsiteY1" fmla="*/ 29209 h 66468"/>
                    <a:gd name="connsiteX2" fmla="*/ 107354 w 115888"/>
                    <a:gd name="connsiteY2" fmla="*/ 8556 h 66468"/>
                    <a:gd name="connsiteX3" fmla="*/ 86692 w 115888"/>
                    <a:gd name="connsiteY3" fmla="*/ 0 h 66468"/>
                    <a:gd name="connsiteX4" fmla="*/ 29197 w 115888"/>
                    <a:gd name="connsiteY4" fmla="*/ 0 h 66468"/>
                    <a:gd name="connsiteX5" fmla="*/ 8534 w 115888"/>
                    <a:gd name="connsiteY5" fmla="*/ 8556 h 66468"/>
                    <a:gd name="connsiteX6" fmla="*/ 0 w 115888"/>
                    <a:gd name="connsiteY6" fmla="*/ 29209 h 66468"/>
                    <a:gd name="connsiteX7" fmla="*/ 0 w 115888"/>
                    <a:gd name="connsiteY7" fmla="*/ 66469 h 66468"/>
                    <a:gd name="connsiteX8" fmla="*/ 16427 w 115888"/>
                    <a:gd name="connsiteY8" fmla="*/ 66469 h 66468"/>
                    <a:gd name="connsiteX9" fmla="*/ 16427 w 115888"/>
                    <a:gd name="connsiteY9" fmla="*/ 29209 h 66468"/>
                    <a:gd name="connsiteX10" fmla="*/ 17389 w 115888"/>
                    <a:gd name="connsiteY10" fmla="*/ 24501 h 66468"/>
                    <a:gd name="connsiteX11" fmla="*/ 20021 w 115888"/>
                    <a:gd name="connsiteY11" fmla="*/ 20509 h 66468"/>
                    <a:gd name="connsiteX12" fmla="*/ 23999 w 115888"/>
                    <a:gd name="connsiteY12" fmla="*/ 17841 h 66468"/>
                    <a:gd name="connsiteX13" fmla="*/ 28747 w 115888"/>
                    <a:gd name="connsiteY13" fmla="*/ 16905 h 66468"/>
                    <a:gd name="connsiteX14" fmla="*/ 86243 w 115888"/>
                    <a:gd name="connsiteY14" fmla="*/ 16905 h 66468"/>
                    <a:gd name="connsiteX15" fmla="*/ 90927 w 115888"/>
                    <a:gd name="connsiteY15" fmla="*/ 17844 h 66468"/>
                    <a:gd name="connsiteX16" fmla="*/ 94905 w 115888"/>
                    <a:gd name="connsiteY16" fmla="*/ 20516 h 66468"/>
                    <a:gd name="connsiteX17" fmla="*/ 97536 w 115888"/>
                    <a:gd name="connsiteY17" fmla="*/ 24510 h 66468"/>
                    <a:gd name="connsiteX18" fmla="*/ 98434 w 115888"/>
                    <a:gd name="connsiteY18" fmla="*/ 29209 h 66468"/>
                    <a:gd name="connsiteX19" fmla="*/ 98434 w 115888"/>
                    <a:gd name="connsiteY19" fmla="*/ 66469 h 66468"/>
                    <a:gd name="connsiteX20" fmla="*/ 115889 w 115888"/>
                    <a:gd name="connsiteY20" fmla="*/ 66469 h 6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5888" h="66468">
                      <a:moveTo>
                        <a:pt x="115889" y="66469"/>
                      </a:moveTo>
                      <a:lnTo>
                        <a:pt x="115889" y="29209"/>
                      </a:lnTo>
                      <a:cubicBezTo>
                        <a:pt x="115889" y="21463"/>
                        <a:pt x="112808" y="14034"/>
                        <a:pt x="107354" y="8556"/>
                      </a:cubicBezTo>
                      <a:cubicBezTo>
                        <a:pt x="101899" y="3078"/>
                        <a:pt x="94456" y="0"/>
                        <a:pt x="86692" y="0"/>
                      </a:cubicBezTo>
                      <a:lnTo>
                        <a:pt x="29197" y="0"/>
                      </a:lnTo>
                      <a:cubicBezTo>
                        <a:pt x="21432" y="0"/>
                        <a:pt x="13989" y="3078"/>
                        <a:pt x="8534" y="8556"/>
                      </a:cubicBezTo>
                      <a:cubicBezTo>
                        <a:pt x="3080" y="14034"/>
                        <a:pt x="0" y="21463"/>
                        <a:pt x="0" y="29209"/>
                      </a:cubicBezTo>
                      <a:lnTo>
                        <a:pt x="0" y="66469"/>
                      </a:lnTo>
                      <a:lnTo>
                        <a:pt x="16427" y="66469"/>
                      </a:lnTo>
                      <a:lnTo>
                        <a:pt x="16427" y="29209"/>
                      </a:lnTo>
                      <a:cubicBezTo>
                        <a:pt x="16427" y="27594"/>
                        <a:pt x="16748" y="25994"/>
                        <a:pt x="17389" y="24501"/>
                      </a:cubicBezTo>
                      <a:cubicBezTo>
                        <a:pt x="17967" y="23008"/>
                        <a:pt x="18866" y="21652"/>
                        <a:pt x="20021" y="20509"/>
                      </a:cubicBezTo>
                      <a:cubicBezTo>
                        <a:pt x="21176" y="19366"/>
                        <a:pt x="22523" y="18460"/>
                        <a:pt x="23999" y="17841"/>
                      </a:cubicBezTo>
                      <a:cubicBezTo>
                        <a:pt x="25539" y="17223"/>
                        <a:pt x="27143" y="16905"/>
                        <a:pt x="28747" y="16905"/>
                      </a:cubicBezTo>
                      <a:lnTo>
                        <a:pt x="86243" y="16905"/>
                      </a:lnTo>
                      <a:cubicBezTo>
                        <a:pt x="87847" y="16905"/>
                        <a:pt x="89451" y="17224"/>
                        <a:pt x="90927" y="17844"/>
                      </a:cubicBezTo>
                      <a:cubicBezTo>
                        <a:pt x="92403" y="18463"/>
                        <a:pt x="93750" y="19372"/>
                        <a:pt x="94905" y="20516"/>
                      </a:cubicBezTo>
                      <a:cubicBezTo>
                        <a:pt x="95996" y="21660"/>
                        <a:pt x="96894" y="23017"/>
                        <a:pt x="97536" y="24510"/>
                      </a:cubicBezTo>
                      <a:cubicBezTo>
                        <a:pt x="98114" y="26002"/>
                        <a:pt x="98434" y="27599"/>
                        <a:pt x="98434" y="29209"/>
                      </a:cubicBezTo>
                      <a:lnTo>
                        <a:pt x="98434" y="66469"/>
                      </a:lnTo>
                      <a:lnTo>
                        <a:pt x="115889" y="66469"/>
                      </a:lnTo>
                      <a:close/>
                    </a:path>
                  </a:pathLst>
                </a:custGeom>
                <a:solidFill>
                  <a:srgbClr val="2D5967"/>
                </a:solidFill>
                <a:ln w="6417"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0BFB58E-CDFD-B535-5534-13F7CA87A788}"/>
                    </a:ext>
                  </a:extLst>
                </p:cNvPr>
                <p:cNvSpPr/>
                <p:nvPr/>
              </p:nvSpPr>
              <p:spPr>
                <a:xfrm>
                  <a:off x="7109475" y="3106750"/>
                  <a:ext cx="79122" cy="79118"/>
                </a:xfrm>
                <a:custGeom>
                  <a:avLst/>
                  <a:gdLst>
                    <a:gd name="connsiteX0" fmla="*/ 39592 w 79122"/>
                    <a:gd name="connsiteY0" fmla="*/ 79118 h 79118"/>
                    <a:gd name="connsiteX1" fmla="*/ 61538 w 79122"/>
                    <a:gd name="connsiteY1" fmla="*/ 72451 h 79118"/>
                    <a:gd name="connsiteX2" fmla="*/ 76104 w 79122"/>
                    <a:gd name="connsiteY2" fmla="*/ 54698 h 79118"/>
                    <a:gd name="connsiteX3" fmla="*/ 78350 w 79122"/>
                    <a:gd name="connsiteY3" fmla="*/ 31841 h 79118"/>
                    <a:gd name="connsiteX4" fmla="*/ 67570 w 79122"/>
                    <a:gd name="connsiteY4" fmla="*/ 11587 h 79118"/>
                    <a:gd name="connsiteX5" fmla="*/ 47293 w 79122"/>
                    <a:gd name="connsiteY5" fmla="*/ 760 h 79118"/>
                    <a:gd name="connsiteX6" fmla="*/ 24449 w 79122"/>
                    <a:gd name="connsiteY6" fmla="*/ 3011 h 79118"/>
                    <a:gd name="connsiteX7" fmla="*/ 6674 w 79122"/>
                    <a:gd name="connsiteY7" fmla="*/ 17581 h 79118"/>
                    <a:gd name="connsiteX8" fmla="*/ 0 w 79122"/>
                    <a:gd name="connsiteY8" fmla="*/ 39559 h 79118"/>
                    <a:gd name="connsiteX9" fmla="*/ 11615 w 79122"/>
                    <a:gd name="connsiteY9" fmla="*/ 67531 h 79118"/>
                    <a:gd name="connsiteX10" fmla="*/ 39592 w 79122"/>
                    <a:gd name="connsiteY10" fmla="*/ 79118 h 79118"/>
                    <a:gd name="connsiteX11" fmla="*/ 39592 w 79122"/>
                    <a:gd name="connsiteY11" fmla="*/ 79118 h 79118"/>
                    <a:gd name="connsiteX12" fmla="*/ 39592 w 79122"/>
                    <a:gd name="connsiteY12" fmla="*/ 17020 h 79118"/>
                    <a:gd name="connsiteX13" fmla="*/ 52362 w 79122"/>
                    <a:gd name="connsiteY13" fmla="*/ 20896 h 79118"/>
                    <a:gd name="connsiteX14" fmla="*/ 60832 w 79122"/>
                    <a:gd name="connsiteY14" fmla="*/ 31218 h 79118"/>
                    <a:gd name="connsiteX15" fmla="*/ 62115 w 79122"/>
                    <a:gd name="connsiteY15" fmla="*/ 44506 h 79118"/>
                    <a:gd name="connsiteX16" fmla="*/ 55827 w 79122"/>
                    <a:gd name="connsiteY16" fmla="*/ 56282 h 79118"/>
                    <a:gd name="connsiteX17" fmla="*/ 44084 w 79122"/>
                    <a:gd name="connsiteY17" fmla="*/ 62576 h 79118"/>
                    <a:gd name="connsiteX18" fmla="*/ 30801 w 79122"/>
                    <a:gd name="connsiteY18" fmla="*/ 61268 h 79118"/>
                    <a:gd name="connsiteX19" fmla="*/ 20470 w 79122"/>
                    <a:gd name="connsiteY19" fmla="*/ 52797 h 79118"/>
                    <a:gd name="connsiteX20" fmla="*/ 16556 w 79122"/>
                    <a:gd name="connsiteY20" fmla="*/ 40019 h 79118"/>
                    <a:gd name="connsiteX21" fmla="*/ 23293 w 79122"/>
                    <a:gd name="connsiteY21" fmla="*/ 23756 h 79118"/>
                    <a:gd name="connsiteX22" fmla="*/ 39592 w 79122"/>
                    <a:gd name="connsiteY22" fmla="*/ 17020 h 79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122" h="79118">
                      <a:moveTo>
                        <a:pt x="39592" y="79118"/>
                      </a:moveTo>
                      <a:cubicBezTo>
                        <a:pt x="47421" y="79118"/>
                        <a:pt x="55057" y="76798"/>
                        <a:pt x="61538" y="72451"/>
                      </a:cubicBezTo>
                      <a:cubicBezTo>
                        <a:pt x="68083" y="68104"/>
                        <a:pt x="73152" y="61926"/>
                        <a:pt x="76104" y="54698"/>
                      </a:cubicBezTo>
                      <a:cubicBezTo>
                        <a:pt x="79120" y="47469"/>
                        <a:pt x="79890" y="39515"/>
                        <a:pt x="78350" y="31841"/>
                      </a:cubicBezTo>
                      <a:cubicBezTo>
                        <a:pt x="76874" y="24168"/>
                        <a:pt x="73088" y="17119"/>
                        <a:pt x="67570" y="11587"/>
                      </a:cubicBezTo>
                      <a:cubicBezTo>
                        <a:pt x="61987" y="6054"/>
                        <a:pt x="54993" y="2287"/>
                        <a:pt x="47293" y="760"/>
                      </a:cubicBezTo>
                      <a:cubicBezTo>
                        <a:pt x="39592" y="-766"/>
                        <a:pt x="31635" y="17"/>
                        <a:pt x="24449" y="3011"/>
                      </a:cubicBezTo>
                      <a:cubicBezTo>
                        <a:pt x="17197" y="6005"/>
                        <a:pt x="11038" y="11076"/>
                        <a:pt x="6674" y="17581"/>
                      </a:cubicBezTo>
                      <a:cubicBezTo>
                        <a:pt x="2311" y="24087"/>
                        <a:pt x="0" y="31735"/>
                        <a:pt x="0" y="39559"/>
                      </a:cubicBezTo>
                      <a:cubicBezTo>
                        <a:pt x="0" y="50051"/>
                        <a:pt x="4171" y="60113"/>
                        <a:pt x="11615" y="67531"/>
                      </a:cubicBezTo>
                      <a:cubicBezTo>
                        <a:pt x="18994" y="74950"/>
                        <a:pt x="29068" y="79118"/>
                        <a:pt x="39592" y="79118"/>
                      </a:cubicBezTo>
                      <a:lnTo>
                        <a:pt x="39592" y="79118"/>
                      </a:lnTo>
                      <a:close/>
                      <a:moveTo>
                        <a:pt x="39592" y="17020"/>
                      </a:moveTo>
                      <a:cubicBezTo>
                        <a:pt x="44148" y="17020"/>
                        <a:pt x="48576" y="18369"/>
                        <a:pt x="52362" y="20896"/>
                      </a:cubicBezTo>
                      <a:cubicBezTo>
                        <a:pt x="56147" y="23423"/>
                        <a:pt x="59100" y="27015"/>
                        <a:pt x="60832" y="31218"/>
                      </a:cubicBezTo>
                      <a:cubicBezTo>
                        <a:pt x="62564" y="35420"/>
                        <a:pt x="63014" y="40045"/>
                        <a:pt x="62115" y="44506"/>
                      </a:cubicBezTo>
                      <a:cubicBezTo>
                        <a:pt x="61217" y="48967"/>
                        <a:pt x="59035" y="53066"/>
                        <a:pt x="55827" y="56282"/>
                      </a:cubicBezTo>
                      <a:cubicBezTo>
                        <a:pt x="52619" y="59499"/>
                        <a:pt x="48512" y="61689"/>
                        <a:pt x="44084" y="62576"/>
                      </a:cubicBezTo>
                      <a:cubicBezTo>
                        <a:pt x="39592" y="63464"/>
                        <a:pt x="34972" y="63009"/>
                        <a:pt x="30801" y="61268"/>
                      </a:cubicBezTo>
                      <a:cubicBezTo>
                        <a:pt x="26566" y="59527"/>
                        <a:pt x="22973" y="56579"/>
                        <a:pt x="20470" y="52797"/>
                      </a:cubicBezTo>
                      <a:cubicBezTo>
                        <a:pt x="17903" y="49015"/>
                        <a:pt x="16556" y="44568"/>
                        <a:pt x="16556" y="40019"/>
                      </a:cubicBezTo>
                      <a:cubicBezTo>
                        <a:pt x="16556" y="33919"/>
                        <a:pt x="18994" y="28069"/>
                        <a:pt x="23293" y="23756"/>
                      </a:cubicBezTo>
                      <a:cubicBezTo>
                        <a:pt x="27593" y="19443"/>
                        <a:pt x="33497" y="17020"/>
                        <a:pt x="39592" y="17020"/>
                      </a:cubicBezTo>
                      <a:close/>
                    </a:path>
                  </a:pathLst>
                </a:custGeom>
                <a:solidFill>
                  <a:srgbClr val="2D5967"/>
                </a:solidFill>
                <a:ln w="6417" cap="flat">
                  <a:noFill/>
                  <a:prstDash val="solid"/>
                  <a:miter/>
                </a:ln>
              </p:spPr>
              <p:txBody>
                <a:bodyPr rtlCol="0" anchor="ctr"/>
                <a:lstStyle/>
                <a:p>
                  <a:endParaRPr lang="en-US"/>
                </a:p>
              </p:txBody>
            </p:sp>
          </p:grpSp>
          <p:sp>
            <p:nvSpPr>
              <p:cNvPr id="36" name="TextBox 35">
                <a:extLst>
                  <a:ext uri="{FF2B5EF4-FFF2-40B4-BE49-F238E27FC236}">
                    <a16:creationId xmlns:a16="http://schemas.microsoft.com/office/drawing/2014/main" id="{EEBE2CDF-3778-6CBC-3FBD-D84B0E757F80}"/>
                  </a:ext>
                </a:extLst>
              </p:cNvPr>
              <p:cNvSpPr txBox="1"/>
              <p:nvPr/>
            </p:nvSpPr>
            <p:spPr>
              <a:xfrm>
                <a:off x="6416482" y="3038061"/>
                <a:ext cx="531268" cy="229869"/>
              </a:xfrm>
              <a:prstGeom prst="rect">
                <a:avLst/>
              </a:prstGeom>
              <a:noFill/>
            </p:spPr>
            <p:txBody>
              <a:bodyPr wrap="square">
                <a:spAutoFit/>
              </a:bodyPr>
              <a:lstStyle/>
              <a:p>
                <a:pPr algn="just"/>
                <a:r>
                  <a:rPr lang="en-IN" sz="850" b="1" i="0">
                    <a:solidFill>
                      <a:srgbClr val="000000"/>
                    </a:solidFill>
                    <a:effectLst/>
                    <a:latin typeface="Helvetica" panose="020B0604020202020204" pitchFamily="34" charset="0"/>
                  </a:rPr>
                  <a:t>IAM</a:t>
                </a:r>
              </a:p>
            </p:txBody>
          </p:sp>
          <p:sp>
            <p:nvSpPr>
              <p:cNvPr id="39" name="TextBox 38">
                <a:extLst>
                  <a:ext uri="{FF2B5EF4-FFF2-40B4-BE49-F238E27FC236}">
                    <a16:creationId xmlns:a16="http://schemas.microsoft.com/office/drawing/2014/main" id="{D6203A38-D2A1-FB89-BD6D-B282143F3C8B}"/>
                  </a:ext>
                </a:extLst>
              </p:cNvPr>
              <p:cNvSpPr txBox="1"/>
              <p:nvPr/>
            </p:nvSpPr>
            <p:spPr>
              <a:xfrm>
                <a:off x="7224020" y="2765464"/>
                <a:ext cx="1706214" cy="229869"/>
              </a:xfrm>
              <a:prstGeom prst="rect">
                <a:avLst/>
              </a:prstGeom>
              <a:noFill/>
            </p:spPr>
            <p:txBody>
              <a:bodyPr wrap="square">
                <a:spAutoFit/>
              </a:bodyPr>
              <a:lstStyle/>
              <a:p>
                <a:pPr marL="93663" indent="-77788" algn="just">
                  <a:buFont typeface="Arial" panose="020B0604020202020204" pitchFamily="34" charset="0"/>
                  <a:buChar char="•"/>
                </a:pPr>
                <a:r>
                  <a:rPr lang="en-IN" sz="900" b="1" i="0">
                    <a:solidFill>
                      <a:srgbClr val="000000"/>
                    </a:solidFill>
                    <a:effectLst/>
                    <a:latin typeface="Helvetica" panose="020B0604020202020204" pitchFamily="34" charset="0"/>
                  </a:rPr>
                  <a:t>Policy (Landing Zone)</a:t>
                </a:r>
              </a:p>
            </p:txBody>
          </p:sp>
          <p:sp>
            <p:nvSpPr>
              <p:cNvPr id="40" name="Rectangle 39">
                <a:extLst>
                  <a:ext uri="{FF2B5EF4-FFF2-40B4-BE49-F238E27FC236}">
                    <a16:creationId xmlns:a16="http://schemas.microsoft.com/office/drawing/2014/main" id="{9962514D-351C-E784-DDC4-BF6483CA0F65}"/>
                  </a:ext>
                </a:extLst>
              </p:cNvPr>
              <p:cNvSpPr/>
              <p:nvPr/>
            </p:nvSpPr>
            <p:spPr>
              <a:xfrm>
                <a:off x="6438416" y="3698647"/>
                <a:ext cx="2690015" cy="1720602"/>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72250058-AE01-0542-8F91-7DDBDC4A50F0}"/>
                  </a:ext>
                </a:extLst>
              </p:cNvPr>
              <p:cNvSpPr txBox="1"/>
              <p:nvPr/>
            </p:nvSpPr>
            <p:spPr>
              <a:xfrm>
                <a:off x="6449948" y="3694861"/>
                <a:ext cx="2481928" cy="229869"/>
              </a:xfrm>
              <a:prstGeom prst="rect">
                <a:avLst/>
              </a:prstGeom>
              <a:noFill/>
            </p:spPr>
            <p:txBody>
              <a:bodyPr wrap="square">
                <a:spAutoFit/>
              </a:bodyPr>
              <a:lstStyle/>
              <a:p>
                <a:pPr algn="just"/>
                <a:r>
                  <a:rPr lang="en-IN" sz="900" b="1" i="0" dirty="0">
                    <a:solidFill>
                      <a:srgbClr val="000000"/>
                    </a:solidFill>
                    <a:effectLst/>
                    <a:latin typeface="Helvetica" panose="020B0604020202020204" pitchFamily="34" charset="0"/>
                  </a:rPr>
                  <a:t>Oracle (Identity Cloud Service)</a:t>
                </a:r>
              </a:p>
            </p:txBody>
          </p:sp>
          <p:sp>
            <p:nvSpPr>
              <p:cNvPr id="42" name="Rectangle 41">
                <a:extLst>
                  <a:ext uri="{FF2B5EF4-FFF2-40B4-BE49-F238E27FC236}">
                    <a16:creationId xmlns:a16="http://schemas.microsoft.com/office/drawing/2014/main" id="{714F7163-E398-9417-A945-7E4665C95E35}"/>
                  </a:ext>
                </a:extLst>
              </p:cNvPr>
              <p:cNvSpPr/>
              <p:nvPr/>
            </p:nvSpPr>
            <p:spPr>
              <a:xfrm>
                <a:off x="6527481" y="3924161"/>
                <a:ext cx="2503501" cy="12992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DB8CB2E3-3E2D-5718-6C15-BA43F7981F46}"/>
                  </a:ext>
                </a:extLst>
              </p:cNvPr>
              <p:cNvSpPr/>
              <p:nvPr/>
            </p:nvSpPr>
            <p:spPr>
              <a:xfrm>
                <a:off x="6699053" y="4124212"/>
                <a:ext cx="2210982" cy="892863"/>
              </a:xfrm>
              <a:prstGeom prst="round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9DE83016-9F99-EAB1-5A53-0121F5874342}"/>
                  </a:ext>
                </a:extLst>
              </p:cNvPr>
              <p:cNvSpPr txBox="1"/>
              <p:nvPr/>
            </p:nvSpPr>
            <p:spPr>
              <a:xfrm>
                <a:off x="6582050" y="3910332"/>
                <a:ext cx="622991" cy="229869"/>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Queue</a:t>
                </a:r>
              </a:p>
            </p:txBody>
          </p:sp>
          <p:sp>
            <p:nvSpPr>
              <p:cNvPr id="45" name="TextBox 44">
                <a:extLst>
                  <a:ext uri="{FF2B5EF4-FFF2-40B4-BE49-F238E27FC236}">
                    <a16:creationId xmlns:a16="http://schemas.microsoft.com/office/drawing/2014/main" id="{5BFFAD78-D7A4-C07C-5979-1372E43D5F5F}"/>
                  </a:ext>
                </a:extLst>
              </p:cNvPr>
              <p:cNvSpPr txBox="1"/>
              <p:nvPr/>
            </p:nvSpPr>
            <p:spPr>
              <a:xfrm>
                <a:off x="7092040" y="4339991"/>
                <a:ext cx="1385856" cy="451796"/>
              </a:xfrm>
              <a:prstGeom prst="rect">
                <a:avLst/>
              </a:prstGeom>
              <a:noFill/>
            </p:spPr>
            <p:txBody>
              <a:bodyPr wrap="square">
                <a:spAutoFit/>
              </a:bodyPr>
              <a:lstStyle/>
              <a:p>
                <a:pPr algn="just"/>
                <a:r>
                  <a:rPr lang="en-IN" sz="1050" b="1" i="0" dirty="0">
                    <a:solidFill>
                      <a:srgbClr val="000000"/>
                    </a:solidFill>
                    <a:effectLst/>
                    <a:latin typeface="Helvetica" panose="020B0604020202020204" pitchFamily="34" charset="0"/>
                  </a:rPr>
                  <a:t>Authentication</a:t>
                </a:r>
              </a:p>
              <a:p>
                <a:pPr algn="just"/>
                <a:r>
                  <a:rPr lang="en-IN" sz="1050" b="1" i="0" dirty="0">
                    <a:solidFill>
                      <a:srgbClr val="000000"/>
                    </a:solidFill>
                    <a:effectLst/>
                    <a:latin typeface="Helvetica" panose="020B0604020202020204" pitchFamily="34" charset="0"/>
                  </a:rPr>
                  <a:t>/Synchronization</a:t>
                </a:r>
              </a:p>
              <a:p>
                <a:pPr algn="just"/>
                <a:r>
                  <a:rPr lang="en-IN" sz="1050" b="1" i="0" dirty="0">
                    <a:solidFill>
                      <a:srgbClr val="000000"/>
                    </a:solidFill>
                    <a:effectLst/>
                    <a:latin typeface="Helvetica" panose="020B0604020202020204" pitchFamily="34" charset="0"/>
                  </a:rPr>
                  <a:t>/Write back</a:t>
                </a:r>
              </a:p>
            </p:txBody>
          </p:sp>
          <p:grpSp>
            <p:nvGrpSpPr>
              <p:cNvPr id="51" name="Group 50">
                <a:extLst>
                  <a:ext uri="{FF2B5EF4-FFF2-40B4-BE49-F238E27FC236}">
                    <a16:creationId xmlns:a16="http://schemas.microsoft.com/office/drawing/2014/main" id="{198FDBD3-9A2E-E2CA-6159-DAD0355B5AED}"/>
                  </a:ext>
                </a:extLst>
              </p:cNvPr>
              <p:cNvGrpSpPr/>
              <p:nvPr/>
            </p:nvGrpSpPr>
            <p:grpSpPr>
              <a:xfrm>
                <a:off x="9101476" y="3404700"/>
                <a:ext cx="316419" cy="311976"/>
                <a:chOff x="9503934" y="2586539"/>
                <a:chExt cx="2286000" cy="2047875"/>
              </a:xfrm>
            </p:grpSpPr>
            <p:pic>
              <p:nvPicPr>
                <p:cNvPr id="49" name="Picture 48">
                  <a:extLst>
                    <a:ext uri="{FF2B5EF4-FFF2-40B4-BE49-F238E27FC236}">
                      <a16:creationId xmlns:a16="http://schemas.microsoft.com/office/drawing/2014/main" id="{0088C5ED-7F57-D992-4A66-1E8A640CF7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03934" y="2586539"/>
                  <a:ext cx="2286000" cy="2047875"/>
                </a:xfrm>
                <a:prstGeom prst="rect">
                  <a:avLst/>
                </a:prstGeom>
              </p:spPr>
            </p:pic>
            <p:pic>
              <p:nvPicPr>
                <p:cNvPr id="50" name="Picture 49">
                  <a:extLst>
                    <a:ext uri="{FF2B5EF4-FFF2-40B4-BE49-F238E27FC236}">
                      <a16:creationId xmlns:a16="http://schemas.microsoft.com/office/drawing/2014/main" id="{EB5D4C87-DF44-0347-CC11-7F2CB1BA3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61467" y="3296136"/>
                  <a:ext cx="756429" cy="1121602"/>
                </a:xfrm>
                <a:prstGeom prst="rect">
                  <a:avLst/>
                </a:prstGeom>
              </p:spPr>
            </p:pic>
          </p:grpSp>
        </p:grpSp>
        <p:grpSp>
          <p:nvGrpSpPr>
            <p:cNvPr id="68" name="Group 67">
              <a:extLst>
                <a:ext uri="{FF2B5EF4-FFF2-40B4-BE49-F238E27FC236}">
                  <a16:creationId xmlns:a16="http://schemas.microsoft.com/office/drawing/2014/main" id="{B22CD6FB-7118-3A1E-3AEE-C4BDBFC76917}"/>
                </a:ext>
              </a:extLst>
            </p:cNvPr>
            <p:cNvGrpSpPr/>
            <p:nvPr/>
          </p:nvGrpSpPr>
          <p:grpSpPr>
            <a:xfrm>
              <a:off x="10662839" y="2821170"/>
              <a:ext cx="1383128" cy="2080431"/>
              <a:chOff x="10361899" y="2839351"/>
              <a:chExt cx="1383128" cy="2080431"/>
            </a:xfrm>
          </p:grpSpPr>
          <p:grpSp>
            <p:nvGrpSpPr>
              <p:cNvPr id="52" name="Group 51">
                <a:extLst>
                  <a:ext uri="{FF2B5EF4-FFF2-40B4-BE49-F238E27FC236}">
                    <a16:creationId xmlns:a16="http://schemas.microsoft.com/office/drawing/2014/main" id="{DEE4B01B-444E-3E24-FBC0-C0A2840298C0}"/>
                  </a:ext>
                </a:extLst>
              </p:cNvPr>
              <p:cNvGrpSpPr/>
              <p:nvPr/>
            </p:nvGrpSpPr>
            <p:grpSpPr>
              <a:xfrm>
                <a:off x="10361899" y="2839351"/>
                <a:ext cx="1383128" cy="2080431"/>
                <a:chOff x="5718239" y="2965030"/>
                <a:chExt cx="1383128" cy="2080431"/>
              </a:xfrm>
            </p:grpSpPr>
            <p:pic>
              <p:nvPicPr>
                <p:cNvPr id="53" name="Picture 6">
                  <a:extLst>
                    <a:ext uri="{FF2B5EF4-FFF2-40B4-BE49-F238E27FC236}">
                      <a16:creationId xmlns:a16="http://schemas.microsoft.com/office/drawing/2014/main" id="{4F6EDA2D-EAD8-9251-C270-0D6708EDE0FC}"/>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9787" r="14210"/>
                <a:stretch/>
              </p:blipFill>
              <p:spPr bwMode="auto">
                <a:xfrm>
                  <a:off x="6323450" y="3277892"/>
                  <a:ext cx="655568" cy="855478"/>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8">
                  <a:extLst>
                    <a:ext uri="{FF2B5EF4-FFF2-40B4-BE49-F238E27FC236}">
                      <a16:creationId xmlns:a16="http://schemas.microsoft.com/office/drawing/2014/main" id="{5725DE1E-B960-4062-93FF-E0C95CA6DE05}"/>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4528" t="51373" r="23982"/>
                <a:stretch/>
              </p:blipFill>
              <p:spPr bwMode="auto">
                <a:xfrm>
                  <a:off x="5818735" y="4156413"/>
                  <a:ext cx="508098" cy="889048"/>
                </a:xfrm>
                <a:prstGeom prst="rect">
                  <a:avLst/>
                </a:prstGeom>
                <a:noFill/>
                <a:extLst>
                  <a:ext uri="{909E8E84-426E-40DD-AFC4-6F175D3DCCD1}">
                    <a14:hiddenFill xmlns:a14="http://schemas.microsoft.com/office/drawing/2010/main">
                      <a:solidFill>
                        <a:srgbClr val="FFFFFF"/>
                      </a:solidFill>
                    </a14:hiddenFill>
                  </a:ext>
                </a:extLst>
              </p:spPr>
            </p:pic>
            <p:sp>
              <p:nvSpPr>
                <p:cNvPr id="57" name="Rectangle 56">
                  <a:extLst>
                    <a:ext uri="{FF2B5EF4-FFF2-40B4-BE49-F238E27FC236}">
                      <a16:creationId xmlns:a16="http://schemas.microsoft.com/office/drawing/2014/main" id="{CB94F659-01A4-035D-E150-7162680E0693}"/>
                    </a:ext>
                  </a:extLst>
                </p:cNvPr>
                <p:cNvSpPr/>
                <p:nvPr/>
              </p:nvSpPr>
              <p:spPr>
                <a:xfrm>
                  <a:off x="5718239" y="2965030"/>
                  <a:ext cx="1383128" cy="2080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5" name="TextBox 64">
                <a:extLst>
                  <a:ext uri="{FF2B5EF4-FFF2-40B4-BE49-F238E27FC236}">
                    <a16:creationId xmlns:a16="http://schemas.microsoft.com/office/drawing/2014/main" id="{1E86BE9E-30D5-0880-54EE-379816E89271}"/>
                  </a:ext>
                </a:extLst>
              </p:cNvPr>
              <p:cNvSpPr txBox="1"/>
              <p:nvPr/>
            </p:nvSpPr>
            <p:spPr>
              <a:xfrm>
                <a:off x="10499749" y="3678546"/>
                <a:ext cx="431472"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AD</a:t>
                </a:r>
              </a:p>
            </p:txBody>
          </p:sp>
          <p:pic>
            <p:nvPicPr>
              <p:cNvPr id="67" name="Picture 66">
                <a:extLst>
                  <a:ext uri="{FF2B5EF4-FFF2-40B4-BE49-F238E27FC236}">
                    <a16:creationId xmlns:a16="http://schemas.microsoft.com/office/drawing/2014/main" id="{A3B7E257-1E2E-0A76-137D-2197F91A83F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499954" y="3270047"/>
                <a:ext cx="459585" cy="443917"/>
              </a:xfrm>
              <a:prstGeom prst="rect">
                <a:avLst/>
              </a:prstGeom>
            </p:spPr>
          </p:pic>
        </p:grpSp>
        <p:cxnSp>
          <p:nvCxnSpPr>
            <p:cNvPr id="73" name="Connector: Elbow 72">
              <a:extLst>
                <a:ext uri="{FF2B5EF4-FFF2-40B4-BE49-F238E27FC236}">
                  <a16:creationId xmlns:a16="http://schemas.microsoft.com/office/drawing/2014/main" id="{0BEF18C9-D713-EE8B-DF61-74B24367C526}"/>
                </a:ext>
              </a:extLst>
            </p:cNvPr>
            <p:cNvCxnSpPr/>
            <p:nvPr/>
          </p:nvCxnSpPr>
          <p:spPr>
            <a:xfrm flipV="1">
              <a:off x="8653783" y="3342529"/>
              <a:ext cx="2278377" cy="1087231"/>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08C450F-3869-1A31-5E96-F33AC76D8666}"/>
                </a:ext>
              </a:extLst>
            </p:cNvPr>
            <p:cNvSpPr txBox="1"/>
            <p:nvPr/>
          </p:nvSpPr>
          <p:spPr>
            <a:xfrm>
              <a:off x="9024667" y="4239356"/>
              <a:ext cx="813409" cy="338554"/>
            </a:xfrm>
            <a:prstGeom prst="rect">
              <a:avLst/>
            </a:prstGeom>
            <a:noFill/>
          </p:spPr>
          <p:txBody>
            <a:bodyPr wrap="square" rtlCol="0">
              <a:spAutoFit/>
            </a:bodyPr>
            <a:lstStyle/>
            <a:p>
              <a:pPr algn="ctr"/>
              <a:r>
                <a:rPr lang="en-IN" sz="800" b="1">
                  <a:highlight>
                    <a:srgbClr val="FFFFFF"/>
                  </a:highlight>
                </a:rPr>
                <a:t>HTTP Connection</a:t>
              </a:r>
            </a:p>
          </p:txBody>
        </p:sp>
        <p:cxnSp>
          <p:nvCxnSpPr>
            <p:cNvPr id="76" name="Connector: Elbow 75">
              <a:extLst>
                <a:ext uri="{FF2B5EF4-FFF2-40B4-BE49-F238E27FC236}">
                  <a16:creationId xmlns:a16="http://schemas.microsoft.com/office/drawing/2014/main" id="{AE93A34A-C212-B7F0-AA1D-26F3E99839E1}"/>
                </a:ext>
              </a:extLst>
            </p:cNvPr>
            <p:cNvCxnSpPr>
              <a:cxnSpLocks/>
            </p:cNvCxnSpPr>
            <p:nvPr/>
          </p:nvCxnSpPr>
          <p:spPr>
            <a:xfrm flipV="1">
              <a:off x="8660236" y="3660365"/>
              <a:ext cx="2169382" cy="1199425"/>
            </a:xfrm>
            <a:prstGeom prst="bentConnector3">
              <a:avLst>
                <a:gd name="adj1" fmla="val 66174"/>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3B2658BC-EC11-8DA2-3F83-D5688BC0C959}"/>
                </a:ext>
              </a:extLst>
            </p:cNvPr>
            <p:cNvSpPr txBox="1"/>
            <p:nvPr/>
          </p:nvSpPr>
          <p:spPr>
            <a:xfrm>
              <a:off x="9001727" y="4669133"/>
              <a:ext cx="813409" cy="338554"/>
            </a:xfrm>
            <a:prstGeom prst="rect">
              <a:avLst/>
            </a:prstGeom>
            <a:noFill/>
          </p:spPr>
          <p:txBody>
            <a:bodyPr wrap="square" rtlCol="0">
              <a:spAutoFit/>
            </a:bodyPr>
            <a:lstStyle/>
            <a:p>
              <a:pPr algn="ctr"/>
              <a:r>
                <a:rPr lang="en-IN" sz="800" b="1">
                  <a:highlight>
                    <a:srgbClr val="FFFFFF"/>
                  </a:highlight>
                </a:rPr>
                <a:t>HTTP Connection</a:t>
              </a:r>
            </a:p>
          </p:txBody>
        </p:sp>
        <p:sp>
          <p:nvSpPr>
            <p:cNvPr id="85" name="TextBox 84">
              <a:extLst>
                <a:ext uri="{FF2B5EF4-FFF2-40B4-BE49-F238E27FC236}">
                  <a16:creationId xmlns:a16="http://schemas.microsoft.com/office/drawing/2014/main" id="{94B8DBFB-5814-A97A-CD01-1A909A5BBAD4}"/>
                </a:ext>
              </a:extLst>
            </p:cNvPr>
            <p:cNvSpPr txBox="1"/>
            <p:nvPr/>
          </p:nvSpPr>
          <p:spPr>
            <a:xfrm>
              <a:off x="9918457" y="3125843"/>
              <a:ext cx="813409" cy="338554"/>
            </a:xfrm>
            <a:prstGeom prst="rect">
              <a:avLst/>
            </a:prstGeom>
            <a:noFill/>
          </p:spPr>
          <p:txBody>
            <a:bodyPr wrap="square" rtlCol="0">
              <a:spAutoFit/>
            </a:bodyPr>
            <a:lstStyle/>
            <a:p>
              <a:pPr algn="ctr"/>
              <a:r>
                <a:rPr lang="en-IN" sz="800" b="1">
                  <a:highlight>
                    <a:srgbClr val="FFFFFF"/>
                  </a:highlight>
                </a:rPr>
                <a:t>LDAP Connection</a:t>
              </a:r>
            </a:p>
          </p:txBody>
        </p:sp>
        <p:sp>
          <p:nvSpPr>
            <p:cNvPr id="86" name="TextBox 85">
              <a:extLst>
                <a:ext uri="{FF2B5EF4-FFF2-40B4-BE49-F238E27FC236}">
                  <a16:creationId xmlns:a16="http://schemas.microsoft.com/office/drawing/2014/main" id="{EA548A29-6A01-C0FF-FF36-9ABC770182DD}"/>
                </a:ext>
              </a:extLst>
            </p:cNvPr>
            <p:cNvSpPr txBox="1"/>
            <p:nvPr/>
          </p:nvSpPr>
          <p:spPr>
            <a:xfrm>
              <a:off x="9987280" y="3503053"/>
              <a:ext cx="813409" cy="338554"/>
            </a:xfrm>
            <a:prstGeom prst="rect">
              <a:avLst/>
            </a:prstGeom>
            <a:noFill/>
          </p:spPr>
          <p:txBody>
            <a:bodyPr wrap="square" rtlCol="0">
              <a:spAutoFit/>
            </a:bodyPr>
            <a:lstStyle/>
            <a:p>
              <a:pPr algn="ctr"/>
              <a:r>
                <a:rPr lang="en-IN" sz="800" b="1">
                  <a:highlight>
                    <a:srgbClr val="FFFFFF"/>
                  </a:highlight>
                </a:rPr>
                <a:t>LDAP Connection</a:t>
              </a:r>
            </a:p>
          </p:txBody>
        </p:sp>
        <p:grpSp>
          <p:nvGrpSpPr>
            <p:cNvPr id="87" name="Group 86">
              <a:extLst>
                <a:ext uri="{FF2B5EF4-FFF2-40B4-BE49-F238E27FC236}">
                  <a16:creationId xmlns:a16="http://schemas.microsoft.com/office/drawing/2014/main" id="{2032C8A5-B467-0192-80BD-9640BCC5C8CE}"/>
                </a:ext>
              </a:extLst>
            </p:cNvPr>
            <p:cNvGrpSpPr/>
            <p:nvPr/>
          </p:nvGrpSpPr>
          <p:grpSpPr>
            <a:xfrm>
              <a:off x="9448687" y="3087590"/>
              <a:ext cx="644503" cy="453058"/>
              <a:chOff x="9477692" y="1896500"/>
              <a:chExt cx="1019175" cy="675747"/>
            </a:xfrm>
          </p:grpSpPr>
          <p:pic>
            <p:nvPicPr>
              <p:cNvPr id="1028" name="Picture 4">
                <a:extLst>
                  <a:ext uri="{FF2B5EF4-FFF2-40B4-BE49-F238E27FC236}">
                    <a16:creationId xmlns:a16="http://schemas.microsoft.com/office/drawing/2014/main" id="{F1898EEE-2C9F-5A60-ABA8-99BFB096A61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477692" y="1896500"/>
                <a:ext cx="1019175" cy="6381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2CE657D-C19C-7CF8-BF47-4917F9A20C7D}"/>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659890" y="2089662"/>
                <a:ext cx="723879" cy="482585"/>
              </a:xfrm>
              <a:prstGeom prst="rect">
                <a:avLst/>
              </a:prstGeom>
              <a:noFill/>
              <a:extLst>
                <a:ext uri="{909E8E84-426E-40DD-AFC4-6F175D3DCCD1}">
                  <a14:hiddenFill xmlns:a14="http://schemas.microsoft.com/office/drawing/2010/main">
                    <a:solidFill>
                      <a:srgbClr val="FFFFFF"/>
                    </a:solidFill>
                  </a14:hiddenFill>
                </a:ext>
              </a:extLst>
            </p:spPr>
          </p:pic>
        </p:grpSp>
        <p:sp>
          <p:nvSpPr>
            <p:cNvPr id="88" name="TextBox 87">
              <a:extLst>
                <a:ext uri="{FF2B5EF4-FFF2-40B4-BE49-F238E27FC236}">
                  <a16:creationId xmlns:a16="http://schemas.microsoft.com/office/drawing/2014/main" id="{84B47B34-0533-9842-86A3-E58AFE025247}"/>
                </a:ext>
              </a:extLst>
            </p:cNvPr>
            <p:cNvSpPr txBox="1"/>
            <p:nvPr/>
          </p:nvSpPr>
          <p:spPr>
            <a:xfrm>
              <a:off x="9407311" y="3453402"/>
              <a:ext cx="813409" cy="215444"/>
            </a:xfrm>
            <a:prstGeom prst="rect">
              <a:avLst/>
            </a:prstGeom>
            <a:noFill/>
          </p:spPr>
          <p:txBody>
            <a:bodyPr wrap="square" rtlCol="0">
              <a:spAutoFit/>
            </a:bodyPr>
            <a:lstStyle/>
            <a:p>
              <a:pPr algn="ctr"/>
              <a:r>
                <a:rPr lang="en-IN" sz="800" b="1">
                  <a:highlight>
                    <a:srgbClr val="FFFFFF"/>
                  </a:highlight>
                </a:rPr>
                <a:t>AD Bridge</a:t>
              </a:r>
            </a:p>
          </p:txBody>
        </p:sp>
        <p:grpSp>
          <p:nvGrpSpPr>
            <p:cNvPr id="89" name="Group 88">
              <a:extLst>
                <a:ext uri="{FF2B5EF4-FFF2-40B4-BE49-F238E27FC236}">
                  <a16:creationId xmlns:a16="http://schemas.microsoft.com/office/drawing/2014/main" id="{7C93720A-7550-1FF9-E285-FD4422FDD12F}"/>
                </a:ext>
              </a:extLst>
            </p:cNvPr>
            <p:cNvGrpSpPr/>
            <p:nvPr/>
          </p:nvGrpSpPr>
          <p:grpSpPr>
            <a:xfrm>
              <a:off x="9788465" y="4535789"/>
              <a:ext cx="644503" cy="453058"/>
              <a:chOff x="9477692" y="1896500"/>
              <a:chExt cx="1019175" cy="675747"/>
            </a:xfrm>
          </p:grpSpPr>
          <p:pic>
            <p:nvPicPr>
              <p:cNvPr id="90" name="Picture 4">
                <a:extLst>
                  <a:ext uri="{FF2B5EF4-FFF2-40B4-BE49-F238E27FC236}">
                    <a16:creationId xmlns:a16="http://schemas.microsoft.com/office/drawing/2014/main" id="{4514EEF7-F744-BA28-C965-BC38A1E8100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477692" y="1896500"/>
                <a:ext cx="1019175" cy="638175"/>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a:extLst>
                  <a:ext uri="{FF2B5EF4-FFF2-40B4-BE49-F238E27FC236}">
                    <a16:creationId xmlns:a16="http://schemas.microsoft.com/office/drawing/2014/main" id="{55135171-88B0-D358-60DB-BCDF6E09863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659890" y="2089662"/>
                <a:ext cx="723879" cy="482585"/>
              </a:xfrm>
              <a:prstGeom prst="rect">
                <a:avLst/>
              </a:prstGeom>
              <a:noFill/>
              <a:extLst>
                <a:ext uri="{909E8E84-426E-40DD-AFC4-6F175D3DCCD1}">
                  <a14:hiddenFill xmlns:a14="http://schemas.microsoft.com/office/drawing/2010/main">
                    <a:solidFill>
                      <a:srgbClr val="FFFFFF"/>
                    </a:solidFill>
                  </a14:hiddenFill>
                </a:ext>
              </a:extLst>
            </p:spPr>
          </p:pic>
        </p:grpSp>
        <p:sp>
          <p:nvSpPr>
            <p:cNvPr id="92" name="TextBox 91">
              <a:extLst>
                <a:ext uri="{FF2B5EF4-FFF2-40B4-BE49-F238E27FC236}">
                  <a16:creationId xmlns:a16="http://schemas.microsoft.com/office/drawing/2014/main" id="{6E8583B1-665E-D66A-49DB-708F38C9F0D1}"/>
                </a:ext>
              </a:extLst>
            </p:cNvPr>
            <p:cNvSpPr txBox="1"/>
            <p:nvPr/>
          </p:nvSpPr>
          <p:spPr>
            <a:xfrm>
              <a:off x="9747089" y="4901601"/>
              <a:ext cx="813409" cy="215444"/>
            </a:xfrm>
            <a:prstGeom prst="rect">
              <a:avLst/>
            </a:prstGeom>
            <a:noFill/>
          </p:spPr>
          <p:txBody>
            <a:bodyPr wrap="square" rtlCol="0">
              <a:spAutoFit/>
            </a:bodyPr>
            <a:lstStyle/>
            <a:p>
              <a:pPr algn="ctr"/>
              <a:r>
                <a:rPr lang="en-IN" sz="800" b="1">
                  <a:highlight>
                    <a:srgbClr val="FFFFFF"/>
                  </a:highlight>
                </a:rPr>
                <a:t>AD Bridge</a:t>
              </a:r>
            </a:p>
          </p:txBody>
        </p:sp>
      </p:grpSp>
      <p:sp>
        <p:nvSpPr>
          <p:cNvPr id="94" name="TextBox 93">
            <a:extLst>
              <a:ext uri="{FF2B5EF4-FFF2-40B4-BE49-F238E27FC236}">
                <a16:creationId xmlns:a16="http://schemas.microsoft.com/office/drawing/2014/main" id="{1CFC719D-69CD-7576-EB3A-20FCAD5B752D}"/>
              </a:ext>
            </a:extLst>
          </p:cNvPr>
          <p:cNvSpPr txBox="1"/>
          <p:nvPr/>
        </p:nvSpPr>
        <p:spPr>
          <a:xfrm>
            <a:off x="10409283" y="2303731"/>
            <a:ext cx="1120609" cy="246221"/>
          </a:xfrm>
          <a:prstGeom prst="rect">
            <a:avLst/>
          </a:prstGeom>
          <a:noFill/>
        </p:spPr>
        <p:txBody>
          <a:bodyPr wrap="square">
            <a:spAutoFit/>
          </a:bodyPr>
          <a:lstStyle/>
          <a:p>
            <a:pPr algn="just"/>
            <a:r>
              <a:rPr lang="en-IN" sz="1000" b="1" i="0" dirty="0">
                <a:solidFill>
                  <a:srgbClr val="000000"/>
                </a:solidFill>
                <a:effectLst/>
                <a:latin typeface="Helvetica" panose="020B0604020202020204" pitchFamily="34" charset="0"/>
              </a:rPr>
              <a:t> On-Premises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1"/>
        <p:cNvGrpSpPr/>
        <p:nvPr/>
      </p:nvGrpSpPr>
      <p:grpSpPr>
        <a:xfrm>
          <a:off x="0" y="0"/>
          <a:ext cx="0" cy="0"/>
          <a:chOff x="0" y="0"/>
          <a:chExt cx="0" cy="0"/>
        </a:xfrm>
      </p:grpSpPr>
      <p:sp>
        <p:nvSpPr>
          <p:cNvPr id="83" name="Google Shape;83;p17"/>
          <p:cNvSpPr txBox="1">
            <a:spLocks noGrp="1"/>
          </p:cNvSpPr>
          <p:nvPr>
            <p:ph type="body" idx="4294967295"/>
          </p:nvPr>
        </p:nvSpPr>
        <p:spPr>
          <a:xfrm>
            <a:off x="411984" y="1422500"/>
            <a:ext cx="4749349" cy="3843115"/>
          </a:xfrm>
          <a:prstGeom prst="rect">
            <a:avLst/>
          </a:prstGeom>
        </p:spPr>
        <p:txBody>
          <a:bodyPr spcFirstLastPara="1" vert="horz" wrap="square" lIns="121900" tIns="121900" rIns="121900" bIns="121900" rtlCol="0" anchor="t" anchorCtr="0">
            <a:noAutofit/>
          </a:bodyPr>
          <a:lstStyle/>
          <a:p>
            <a:pPr marL="0" indent="0" algn="just">
              <a:lnSpc>
                <a:spcPct val="150000"/>
              </a:lnSpc>
              <a:spcBef>
                <a:spcPts val="0"/>
              </a:spcBef>
              <a:buNone/>
            </a:pPr>
            <a:r>
              <a:rPr lang="en" sz="1200" dirty="0">
                <a:solidFill>
                  <a:schemeClr val="dk1"/>
                </a:solidFill>
                <a:latin typeface="Rockwell" panose="02060603020205020403" pitchFamily="18" charset="0"/>
                <a:ea typeface="Karla Medium"/>
                <a:cs typeface="Karla Medium"/>
                <a:sym typeface="Karla Medium"/>
              </a:rPr>
              <a:t>Upon detection, Cloud Guard suggests corrective actions that can be configured automatically  to take certain actions.</a:t>
            </a:r>
            <a:endParaRPr sz="1200" dirty="0">
              <a:solidFill>
                <a:schemeClr val="dk1"/>
              </a:solidFill>
              <a:latin typeface="Rockwell" panose="02060603020205020403" pitchFamily="18" charset="0"/>
              <a:ea typeface="Karla Medium"/>
              <a:cs typeface="Karla Medium"/>
              <a:sym typeface="Karla Medium"/>
            </a:endParaRPr>
          </a:p>
          <a:p>
            <a:pPr algn="just">
              <a:lnSpc>
                <a:spcPct val="150000"/>
              </a:lnSpc>
              <a:spcBef>
                <a:spcPts val="0"/>
              </a:spcBef>
              <a:buSzPct val="127000"/>
            </a:pPr>
            <a:r>
              <a:rPr lang="en" sz="1200" b="1" dirty="0">
                <a:solidFill>
                  <a:schemeClr val="dk1"/>
                </a:solidFill>
                <a:latin typeface="Rockwell" panose="02060603020205020403" pitchFamily="18" charset="0"/>
                <a:ea typeface="Karla"/>
                <a:cs typeface="Karla"/>
                <a:sym typeface="Karla"/>
              </a:rPr>
              <a:t>Target</a:t>
            </a:r>
            <a:r>
              <a:rPr lang="en" sz="1200" dirty="0">
                <a:solidFill>
                  <a:schemeClr val="dk1"/>
                </a:solidFill>
                <a:latin typeface="Rockwell" panose="02060603020205020403" pitchFamily="18" charset="0"/>
                <a:ea typeface="Karla Medium"/>
                <a:cs typeface="Karla Medium"/>
                <a:sym typeface="Karla Medium"/>
              </a:rPr>
              <a:t>: Target is associated with detector recipes, which defines specific user actions or resource configurations that cause Cloud Guard to report a problem. </a:t>
            </a:r>
            <a:endParaRPr sz="1200" dirty="0">
              <a:solidFill>
                <a:schemeClr val="dk1"/>
              </a:solidFill>
              <a:latin typeface="Rockwell" panose="02060603020205020403" pitchFamily="18" charset="0"/>
              <a:ea typeface="Karla Medium"/>
              <a:cs typeface="Karla Medium"/>
              <a:sym typeface="Karla Medium"/>
            </a:endParaRPr>
          </a:p>
          <a:p>
            <a:pPr algn="just">
              <a:lnSpc>
                <a:spcPct val="150000"/>
              </a:lnSpc>
              <a:spcBef>
                <a:spcPts val="0"/>
              </a:spcBef>
              <a:buSzPct val="127000"/>
            </a:pPr>
            <a:r>
              <a:rPr lang="en" sz="1200" b="1" dirty="0">
                <a:solidFill>
                  <a:schemeClr val="dk1"/>
                </a:solidFill>
                <a:latin typeface="Rockwell" panose="02060603020205020403" pitchFamily="18" charset="0"/>
                <a:ea typeface="Karla"/>
                <a:cs typeface="Karla"/>
                <a:sym typeface="Karla"/>
              </a:rPr>
              <a:t>Threat Detector</a:t>
            </a:r>
            <a:r>
              <a:rPr lang="en" sz="1200" dirty="0">
                <a:solidFill>
                  <a:schemeClr val="dk1"/>
                </a:solidFill>
                <a:latin typeface="Rockwell" panose="02060603020205020403" pitchFamily="18" charset="0"/>
                <a:ea typeface="Karla Medium"/>
                <a:cs typeface="Karla Medium"/>
                <a:sym typeface="Karla Medium"/>
              </a:rPr>
              <a:t>: Threat Detector recipe in Cloud Guard contains a set of rules designed specifically to detect subtle patterns of activity in the tenancy that could eventually pose a security problem.</a:t>
            </a:r>
          </a:p>
          <a:p>
            <a:pPr algn="just">
              <a:lnSpc>
                <a:spcPct val="150000"/>
              </a:lnSpc>
              <a:spcBef>
                <a:spcPts val="0"/>
              </a:spcBef>
              <a:buSzPct val="108000"/>
            </a:pPr>
            <a:r>
              <a:rPr lang="en-US" sz="1200" b="1" dirty="0">
                <a:solidFill>
                  <a:schemeClr val="dk1"/>
                </a:solidFill>
                <a:latin typeface="Rockwell" panose="02060603020205020403" pitchFamily="18" charset="0"/>
                <a:ea typeface="Karla"/>
                <a:cs typeface="Karla"/>
                <a:sym typeface="Karla"/>
              </a:rPr>
              <a:t>Recipe:</a:t>
            </a:r>
            <a:r>
              <a:rPr lang="en-US" sz="1200" dirty="0">
                <a:solidFill>
                  <a:schemeClr val="dk1"/>
                </a:solidFill>
                <a:latin typeface="Rockwell" panose="02060603020205020403" pitchFamily="18" charset="0"/>
                <a:ea typeface="Karla Medium"/>
                <a:cs typeface="Karla Medium"/>
                <a:sym typeface="Karla Medium"/>
              </a:rPr>
              <a:t> A Cloud Guard responder recipe defines the action or set of actions to take in response to a problem that a detector has identified.   </a:t>
            </a:r>
          </a:p>
          <a:p>
            <a:pPr algn="just">
              <a:lnSpc>
                <a:spcPct val="150000"/>
              </a:lnSpc>
              <a:spcBef>
                <a:spcPts val="0"/>
              </a:spcBef>
              <a:buClr>
                <a:schemeClr val="dk1"/>
              </a:buClr>
              <a:buSzPct val="108000"/>
            </a:pPr>
            <a:r>
              <a:rPr lang="en-US" sz="1200" b="1" dirty="0">
                <a:solidFill>
                  <a:schemeClr val="dk1"/>
                </a:solidFill>
                <a:latin typeface="Rockwell" panose="02060603020205020403" pitchFamily="18" charset="0"/>
                <a:ea typeface="Karla"/>
                <a:cs typeface="Karla"/>
                <a:sym typeface="Karla"/>
              </a:rPr>
              <a:t>Oracle Vulnerability Scanning:</a:t>
            </a:r>
            <a:r>
              <a:rPr lang="en-US" sz="1200" dirty="0">
                <a:solidFill>
                  <a:schemeClr val="dk1"/>
                </a:solidFill>
                <a:latin typeface="Rockwell" panose="02060603020205020403" pitchFamily="18" charset="0"/>
                <a:ea typeface="Karla Medium"/>
                <a:cs typeface="Karla Medium"/>
                <a:sym typeface="Karla Medium"/>
              </a:rPr>
              <a:t> Improves security posture by routinely checking compute instances and container images for potential vulnerabilities and generates reports with metrics and details about these vulnerabilities, and assigns the risk level.</a:t>
            </a:r>
          </a:p>
          <a:p>
            <a:pPr algn="just">
              <a:lnSpc>
                <a:spcPct val="150000"/>
              </a:lnSpc>
              <a:spcBef>
                <a:spcPts val="0"/>
              </a:spcBef>
              <a:buSzPct val="127000"/>
            </a:pPr>
            <a:endParaRPr lang="en-IN" sz="1100" dirty="0">
              <a:solidFill>
                <a:schemeClr val="dk1"/>
              </a:solidFill>
              <a:latin typeface="Rockwell" panose="02060603020205020403" pitchFamily="18" charset="0"/>
              <a:ea typeface="Karla Medium"/>
              <a:cs typeface="Karla Medium"/>
              <a:sym typeface="Karla Medium"/>
            </a:endParaRPr>
          </a:p>
          <a:p>
            <a:pPr marL="0" indent="0" algn="just">
              <a:lnSpc>
                <a:spcPct val="150000"/>
              </a:lnSpc>
              <a:spcBef>
                <a:spcPts val="0"/>
              </a:spcBef>
              <a:spcAft>
                <a:spcPts val="1333"/>
              </a:spcAft>
              <a:buNone/>
            </a:pPr>
            <a:endParaRPr sz="1100" dirty="0">
              <a:solidFill>
                <a:schemeClr val="dk1"/>
              </a:solidFill>
              <a:latin typeface="Rockwell" panose="02060603020205020403" pitchFamily="18" charset="0"/>
              <a:ea typeface="Karla"/>
              <a:cs typeface="Karla"/>
              <a:sym typeface="Karla"/>
            </a:endParaRPr>
          </a:p>
        </p:txBody>
      </p:sp>
      <p:sp>
        <p:nvSpPr>
          <p:cNvPr id="2" name="Google Shape;68;p15">
            <a:extLst>
              <a:ext uri="{FF2B5EF4-FFF2-40B4-BE49-F238E27FC236}">
                <a16:creationId xmlns:a16="http://schemas.microsoft.com/office/drawing/2014/main" id="{3FA03C8E-E53D-194D-F619-117484C8DC57}"/>
              </a:ext>
            </a:extLst>
          </p:cNvPr>
          <p:cNvSpPr txBox="1">
            <a:spLocks/>
          </p:cNvSpPr>
          <p:nvPr/>
        </p:nvSpPr>
        <p:spPr>
          <a:xfrm>
            <a:off x="339451" y="150805"/>
            <a:ext cx="5254525" cy="679451"/>
          </a:xfrm>
          <a:prstGeom prst="rect">
            <a:avLst/>
          </a:prstGeom>
          <a:noFill/>
        </p:spPr>
        <p:txBody>
          <a:bodyPr spcFirstLastPara="1" wrap="square" lIns="121900" tIns="121900" rIns="121900" bIns="121900" anchor="t" anchorCtr="0">
            <a:normAutofit fontScale="900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OCI - Cloud Guard</a:t>
            </a:r>
            <a:endParaRPr lang="en-US" sz="3533" dirty="0">
              <a:highlight>
                <a:srgbClr val="FFFFFF"/>
              </a:highlight>
              <a:latin typeface="Rockwell" pitchFamily="18" charset="0"/>
              <a:ea typeface="Karla"/>
              <a:cs typeface="Karla"/>
              <a:sym typeface="Karla"/>
            </a:endParaRPr>
          </a:p>
          <a:p>
            <a:pPr>
              <a:spcBef>
                <a:spcPts val="0"/>
              </a:spcBef>
            </a:pPr>
            <a:endParaRPr lang="en-US" sz="3200" dirty="0">
              <a:latin typeface="Rockwell" panose="02060603020205020403" pitchFamily="18" charset="0"/>
              <a:ea typeface="Karla"/>
              <a:cs typeface="Karla"/>
              <a:sym typeface="Karla"/>
            </a:endParaRPr>
          </a:p>
        </p:txBody>
      </p:sp>
      <p:sp>
        <p:nvSpPr>
          <p:cNvPr id="5" name="Google Shape;85;p17">
            <a:extLst>
              <a:ext uri="{FF2B5EF4-FFF2-40B4-BE49-F238E27FC236}">
                <a16:creationId xmlns:a16="http://schemas.microsoft.com/office/drawing/2014/main" id="{F1ECB564-78A7-65AB-2C30-297997EE423B}"/>
              </a:ext>
            </a:extLst>
          </p:cNvPr>
          <p:cNvSpPr txBox="1"/>
          <p:nvPr/>
        </p:nvSpPr>
        <p:spPr>
          <a:xfrm>
            <a:off x="439056" y="899320"/>
            <a:ext cx="11587491" cy="523180"/>
          </a:xfrm>
          <a:prstGeom prst="rect">
            <a:avLst/>
          </a:prstGeom>
          <a:noFill/>
          <a:ln>
            <a:noFill/>
          </a:ln>
        </p:spPr>
        <p:txBody>
          <a:bodyPr spcFirstLastPara="1" wrap="square" lIns="121900" tIns="121900" rIns="121900" bIns="121900" anchor="t" anchorCtr="0">
            <a:spAutoFit/>
          </a:bodyPr>
          <a:lstStyle/>
          <a:p>
            <a:pPr>
              <a:lnSpc>
                <a:spcPct val="150000"/>
              </a:lnSpc>
              <a:buClr>
                <a:schemeClr val="dk1"/>
              </a:buClr>
              <a:buSzPts val="1100"/>
            </a:pPr>
            <a:r>
              <a:rPr lang="en" sz="1200" dirty="0">
                <a:solidFill>
                  <a:schemeClr val="dk1"/>
                </a:solidFill>
                <a:latin typeface="Rockwell" panose="02060603020205020403" pitchFamily="18" charset="0"/>
                <a:ea typeface="Karla Medium"/>
                <a:cs typeface="Karla Medium"/>
                <a:sym typeface="Karla Medium"/>
              </a:rPr>
              <a:t>Cloud Guard examines OCI resources for security weakness related to configuration, operators and users for risky activities. </a:t>
            </a:r>
            <a:endParaRPr sz="1200" dirty="0">
              <a:latin typeface="Rockwell" panose="02060603020205020403" pitchFamily="18" charset="0"/>
              <a:ea typeface="Karla Medium"/>
              <a:cs typeface="Karla Medium"/>
              <a:sym typeface="Karla Medium"/>
            </a:endParaRPr>
          </a:p>
        </p:txBody>
      </p:sp>
      <p:grpSp>
        <p:nvGrpSpPr>
          <p:cNvPr id="4" name="Group 3">
            <a:extLst>
              <a:ext uri="{FF2B5EF4-FFF2-40B4-BE49-F238E27FC236}">
                <a16:creationId xmlns:a16="http://schemas.microsoft.com/office/drawing/2014/main" id="{76B0497C-9160-FA28-B332-702015ABEE0B}"/>
              </a:ext>
            </a:extLst>
          </p:cNvPr>
          <p:cNvGrpSpPr/>
          <p:nvPr/>
        </p:nvGrpSpPr>
        <p:grpSpPr>
          <a:xfrm>
            <a:off x="5208688" y="1938594"/>
            <a:ext cx="6397212" cy="4081233"/>
            <a:chOff x="5630029" y="1670818"/>
            <a:chExt cx="5981787" cy="3838545"/>
          </a:xfrm>
        </p:grpSpPr>
        <p:grpSp>
          <p:nvGrpSpPr>
            <p:cNvPr id="60" name="Group 59">
              <a:extLst>
                <a:ext uri="{FF2B5EF4-FFF2-40B4-BE49-F238E27FC236}">
                  <a16:creationId xmlns:a16="http://schemas.microsoft.com/office/drawing/2014/main" id="{2FE9438F-7349-4127-0D07-E8720A7D5121}"/>
                </a:ext>
              </a:extLst>
            </p:cNvPr>
            <p:cNvGrpSpPr/>
            <p:nvPr/>
          </p:nvGrpSpPr>
          <p:grpSpPr>
            <a:xfrm>
              <a:off x="7387625" y="1670818"/>
              <a:ext cx="4224191" cy="3838545"/>
              <a:chOff x="6865863" y="1956066"/>
              <a:chExt cx="4065404" cy="3925319"/>
            </a:xfrm>
          </p:grpSpPr>
          <p:sp>
            <p:nvSpPr>
              <p:cNvPr id="7" name="Rectangle 6">
                <a:extLst>
                  <a:ext uri="{FF2B5EF4-FFF2-40B4-BE49-F238E27FC236}">
                    <a16:creationId xmlns:a16="http://schemas.microsoft.com/office/drawing/2014/main" id="{8959D852-6C5D-1AE8-1392-F03BA019A34F}"/>
                  </a:ext>
                </a:extLst>
              </p:cNvPr>
              <p:cNvSpPr/>
              <p:nvPr/>
            </p:nvSpPr>
            <p:spPr>
              <a:xfrm>
                <a:off x="6865863" y="1984443"/>
                <a:ext cx="4065404" cy="3896942"/>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1327948-7E24-2980-8995-42F668F77E80}"/>
                  </a:ext>
                </a:extLst>
              </p:cNvPr>
              <p:cNvSpPr txBox="1"/>
              <p:nvPr/>
            </p:nvSpPr>
            <p:spPr>
              <a:xfrm>
                <a:off x="6935821" y="1956066"/>
                <a:ext cx="1166625" cy="251787"/>
              </a:xfrm>
              <a:prstGeom prst="rect">
                <a:avLst/>
              </a:prstGeom>
              <a:noFill/>
            </p:spPr>
            <p:txBody>
              <a:bodyPr wrap="none" rtlCol="0">
                <a:spAutoFit/>
              </a:bodyPr>
              <a:lstStyle/>
              <a:p>
                <a:r>
                  <a:rPr lang="en-IN" sz="1000" b="1"/>
                  <a:t>Tenancy (San Jose) </a:t>
                </a:r>
              </a:p>
            </p:txBody>
          </p:sp>
          <p:sp>
            <p:nvSpPr>
              <p:cNvPr id="9" name="Rectangle 8">
                <a:extLst>
                  <a:ext uri="{FF2B5EF4-FFF2-40B4-BE49-F238E27FC236}">
                    <a16:creationId xmlns:a16="http://schemas.microsoft.com/office/drawing/2014/main" id="{5F64372F-7340-8DB0-4B60-3D61C65F4A62}"/>
                  </a:ext>
                </a:extLst>
              </p:cNvPr>
              <p:cNvSpPr/>
              <p:nvPr/>
            </p:nvSpPr>
            <p:spPr>
              <a:xfrm>
                <a:off x="7538939" y="2653555"/>
                <a:ext cx="3127538" cy="313236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94B48AD6-1555-9656-EE73-FE2E97BEF1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6491" y="2230664"/>
                <a:ext cx="431696" cy="392996"/>
              </a:xfrm>
              <a:prstGeom prst="rect">
                <a:avLst/>
              </a:prstGeom>
            </p:spPr>
          </p:pic>
          <p:pic>
            <p:nvPicPr>
              <p:cNvPr id="14" name="Picture 13">
                <a:extLst>
                  <a:ext uri="{FF2B5EF4-FFF2-40B4-BE49-F238E27FC236}">
                    <a16:creationId xmlns:a16="http://schemas.microsoft.com/office/drawing/2014/main" id="{778089E5-E71D-211F-BAEC-3CD6B0BA19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88269" y="2585981"/>
                <a:ext cx="266886" cy="212520"/>
              </a:xfrm>
              <a:prstGeom prst="rect">
                <a:avLst/>
              </a:prstGeom>
            </p:spPr>
          </p:pic>
          <p:sp>
            <p:nvSpPr>
              <p:cNvPr id="16" name="TextBox 15">
                <a:extLst>
                  <a:ext uri="{FF2B5EF4-FFF2-40B4-BE49-F238E27FC236}">
                    <a16:creationId xmlns:a16="http://schemas.microsoft.com/office/drawing/2014/main" id="{A8CE9B99-0520-0C4D-1654-10E0AFB39143}"/>
                  </a:ext>
                </a:extLst>
              </p:cNvPr>
              <p:cNvSpPr txBox="1"/>
              <p:nvPr/>
            </p:nvSpPr>
            <p:spPr>
              <a:xfrm>
                <a:off x="7729710" y="2634260"/>
                <a:ext cx="1656134"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Parent Compartment</a:t>
                </a:r>
              </a:p>
            </p:txBody>
          </p:sp>
          <p:sp>
            <p:nvSpPr>
              <p:cNvPr id="17" name="Rectangle 16">
                <a:extLst>
                  <a:ext uri="{FF2B5EF4-FFF2-40B4-BE49-F238E27FC236}">
                    <a16:creationId xmlns:a16="http://schemas.microsoft.com/office/drawing/2014/main" id="{154B5BD5-ED8B-799F-C50D-DEEF14DECDBA}"/>
                  </a:ext>
                </a:extLst>
              </p:cNvPr>
              <p:cNvSpPr/>
              <p:nvPr/>
            </p:nvSpPr>
            <p:spPr>
              <a:xfrm>
                <a:off x="8278240" y="3321838"/>
                <a:ext cx="2071991" cy="232367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87FA6717-2229-8DF1-360F-6BB87B902D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44797" y="3207368"/>
                <a:ext cx="266886" cy="212520"/>
              </a:xfrm>
              <a:prstGeom prst="rect">
                <a:avLst/>
              </a:prstGeom>
            </p:spPr>
          </p:pic>
          <p:sp>
            <p:nvSpPr>
              <p:cNvPr id="19" name="TextBox 18">
                <a:extLst>
                  <a:ext uri="{FF2B5EF4-FFF2-40B4-BE49-F238E27FC236}">
                    <a16:creationId xmlns:a16="http://schemas.microsoft.com/office/drawing/2014/main" id="{562C139B-4475-A0C3-AD6E-A233EAB4F658}"/>
                  </a:ext>
                </a:extLst>
              </p:cNvPr>
              <p:cNvSpPr txBox="1"/>
              <p:nvPr/>
            </p:nvSpPr>
            <p:spPr>
              <a:xfrm>
                <a:off x="8361830" y="3296777"/>
                <a:ext cx="1656134"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Child Compartment</a:t>
                </a:r>
              </a:p>
            </p:txBody>
          </p:sp>
          <p:pic>
            <p:nvPicPr>
              <p:cNvPr id="20" name="Picture 19">
                <a:extLst>
                  <a:ext uri="{FF2B5EF4-FFF2-40B4-BE49-F238E27FC236}">
                    <a16:creationId xmlns:a16="http://schemas.microsoft.com/office/drawing/2014/main" id="{A8073C30-81B2-187D-40CE-EE32DEDDEA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53035" y="2922570"/>
                <a:ext cx="431696" cy="392996"/>
              </a:xfrm>
              <a:prstGeom prst="rect">
                <a:avLst/>
              </a:prstGeom>
            </p:spPr>
          </p:pic>
          <p:pic>
            <p:nvPicPr>
              <p:cNvPr id="21" name="Picture 20">
                <a:extLst>
                  <a:ext uri="{FF2B5EF4-FFF2-40B4-BE49-F238E27FC236}">
                    <a16:creationId xmlns:a16="http://schemas.microsoft.com/office/drawing/2014/main" id="{5A0FE1A9-B949-79C7-D696-0D8C473DE3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54493" y="3656044"/>
                <a:ext cx="431696" cy="392996"/>
              </a:xfrm>
              <a:prstGeom prst="rect">
                <a:avLst/>
              </a:prstGeom>
            </p:spPr>
          </p:pic>
          <p:pic>
            <p:nvPicPr>
              <p:cNvPr id="23" name="Picture 22">
                <a:extLst>
                  <a:ext uri="{FF2B5EF4-FFF2-40B4-BE49-F238E27FC236}">
                    <a16:creationId xmlns:a16="http://schemas.microsoft.com/office/drawing/2014/main" id="{A400692F-37EC-D67D-46BD-88567797FC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35669" y="4864496"/>
                <a:ext cx="326509" cy="326509"/>
              </a:xfrm>
              <a:prstGeom prst="rect">
                <a:avLst/>
              </a:prstGeom>
            </p:spPr>
          </p:pic>
          <p:sp>
            <p:nvSpPr>
              <p:cNvPr id="24" name="TextBox 23">
                <a:extLst>
                  <a:ext uri="{FF2B5EF4-FFF2-40B4-BE49-F238E27FC236}">
                    <a16:creationId xmlns:a16="http://schemas.microsoft.com/office/drawing/2014/main" id="{5CB27746-AF05-E240-E163-EA6CCD34B702}"/>
                  </a:ext>
                </a:extLst>
              </p:cNvPr>
              <p:cNvSpPr txBox="1"/>
              <p:nvPr/>
            </p:nvSpPr>
            <p:spPr>
              <a:xfrm>
                <a:off x="8467051" y="5155985"/>
                <a:ext cx="475739" cy="283261"/>
              </a:xfrm>
              <a:prstGeom prst="rect">
                <a:avLst/>
              </a:prstGeom>
              <a:noFill/>
            </p:spPr>
            <p:txBody>
              <a:bodyPr wrap="square">
                <a:spAutoFit/>
              </a:bodyPr>
              <a:lstStyle/>
              <a:p>
                <a:pPr algn="just"/>
                <a:r>
                  <a:rPr lang="en-IN" sz="600" b="1" i="0">
                    <a:solidFill>
                      <a:srgbClr val="000000"/>
                    </a:solidFill>
                    <a:effectLst/>
                    <a:latin typeface="Helvetica" panose="020B0604020202020204" pitchFamily="34" charset="0"/>
                  </a:rPr>
                  <a:t>Object</a:t>
                </a:r>
                <a:r>
                  <a:rPr lang="en-IN" sz="500" b="1" i="0">
                    <a:solidFill>
                      <a:srgbClr val="000000"/>
                    </a:solidFill>
                    <a:effectLst/>
                    <a:latin typeface="Helvetica" panose="020B0604020202020204" pitchFamily="34" charset="0"/>
                  </a:rPr>
                  <a:t> </a:t>
                </a:r>
              </a:p>
              <a:p>
                <a:pPr algn="just"/>
                <a:r>
                  <a:rPr lang="en-IN" sz="600" b="1" i="0">
                    <a:solidFill>
                      <a:srgbClr val="000000"/>
                    </a:solidFill>
                    <a:effectLst/>
                    <a:latin typeface="Helvetica" panose="020B0604020202020204" pitchFamily="34" charset="0"/>
                  </a:rPr>
                  <a:t>Storage</a:t>
                </a:r>
              </a:p>
            </p:txBody>
          </p:sp>
          <p:sp>
            <p:nvSpPr>
              <p:cNvPr id="25" name="Rectangle 24">
                <a:extLst>
                  <a:ext uri="{FF2B5EF4-FFF2-40B4-BE49-F238E27FC236}">
                    <a16:creationId xmlns:a16="http://schemas.microsoft.com/office/drawing/2014/main" id="{49C73105-D5A1-5F4A-FFBE-E81EA0875294}"/>
                  </a:ext>
                </a:extLst>
              </p:cNvPr>
              <p:cNvSpPr/>
              <p:nvPr/>
            </p:nvSpPr>
            <p:spPr>
              <a:xfrm>
                <a:off x="8371557" y="4435820"/>
                <a:ext cx="1656133" cy="1089497"/>
              </a:xfrm>
              <a:prstGeom prst="rect">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8335F9C5-551E-2446-B0DF-CDFF32A57E44}"/>
                  </a:ext>
                </a:extLst>
              </p:cNvPr>
              <p:cNvSpPr txBox="1"/>
              <p:nvPr/>
            </p:nvSpPr>
            <p:spPr>
              <a:xfrm>
                <a:off x="8356824" y="4467221"/>
                <a:ext cx="1670866" cy="246221"/>
              </a:xfrm>
              <a:prstGeom prst="rect">
                <a:avLst/>
              </a:prstGeom>
              <a:noFill/>
            </p:spPr>
            <p:txBody>
              <a:bodyPr wrap="square">
                <a:spAutoFit/>
              </a:bodyPr>
              <a:lstStyle/>
              <a:p>
                <a:pPr algn="just"/>
                <a:r>
                  <a:rPr lang="en-IN" sz="1000" b="1">
                    <a:solidFill>
                      <a:srgbClr val="000000"/>
                    </a:solidFill>
                    <a:latin typeface="Helvetica" panose="020B0604020202020204" pitchFamily="34" charset="0"/>
                  </a:rPr>
                  <a:t>Oracle Services Network</a:t>
                </a:r>
                <a:endParaRPr lang="en-IN" sz="1000" b="1" i="0">
                  <a:solidFill>
                    <a:srgbClr val="000000"/>
                  </a:solidFill>
                  <a:effectLst/>
                  <a:latin typeface="Helvetica" panose="020B0604020202020204" pitchFamily="34" charset="0"/>
                </a:endParaRPr>
              </a:p>
            </p:txBody>
          </p:sp>
          <p:cxnSp>
            <p:nvCxnSpPr>
              <p:cNvPr id="30" name="Connector: Elbow 29">
                <a:extLst>
                  <a:ext uri="{FF2B5EF4-FFF2-40B4-BE49-F238E27FC236}">
                    <a16:creationId xmlns:a16="http://schemas.microsoft.com/office/drawing/2014/main" id="{1A3D307C-4DC2-2C90-AA7E-3D114A9E7A5C}"/>
                  </a:ext>
                </a:extLst>
              </p:cNvPr>
              <p:cNvCxnSpPr>
                <a:cxnSpLocks/>
                <a:stCxn id="48" idx="2"/>
                <a:endCxn id="20" idx="1"/>
              </p:cNvCxnSpPr>
              <p:nvPr/>
            </p:nvCxnSpPr>
            <p:spPr>
              <a:xfrm rot="16200000" flipH="1">
                <a:off x="7256481" y="2722513"/>
                <a:ext cx="362765" cy="430343"/>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C86C0C9F-B3D6-B30A-CBED-9692B37F82FD}"/>
                  </a:ext>
                </a:extLst>
              </p:cNvPr>
              <p:cNvCxnSpPr>
                <a:cxnSpLocks/>
              </p:cNvCxnSpPr>
              <p:nvPr/>
            </p:nvCxnSpPr>
            <p:spPr>
              <a:xfrm rot="16200000" flipV="1">
                <a:off x="7999540" y="3527563"/>
                <a:ext cx="467550" cy="356740"/>
              </a:xfrm>
              <a:prstGeom prst="bentConnector3">
                <a:avLst>
                  <a:gd name="adj1" fmla="val -2014"/>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7AD5A564-0FBA-B1DE-5AF2-BBD396FDE7CA}"/>
                  </a:ext>
                </a:extLst>
              </p:cNvPr>
              <p:cNvCxnSpPr>
                <a:cxnSpLocks/>
                <a:stCxn id="23" idx="1"/>
                <a:endCxn id="51" idx="2"/>
              </p:cNvCxnSpPr>
              <p:nvPr/>
            </p:nvCxnSpPr>
            <p:spPr>
              <a:xfrm rot="10800000">
                <a:off x="7857317" y="3443781"/>
                <a:ext cx="678352" cy="1583970"/>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B33A594-1BD0-C004-F53E-B6C26FF80FC4}"/>
                  </a:ext>
                </a:extLst>
              </p:cNvPr>
              <p:cNvSpPr txBox="1"/>
              <p:nvPr/>
            </p:nvSpPr>
            <p:spPr>
              <a:xfrm>
                <a:off x="8771772" y="1998499"/>
                <a:ext cx="2159495" cy="660942"/>
              </a:xfrm>
              <a:prstGeom prst="rect">
                <a:avLst/>
              </a:prstGeom>
              <a:noFill/>
            </p:spPr>
            <p:txBody>
              <a:bodyPr wrap="square" rtlCol="0">
                <a:spAutoFit/>
              </a:bodyPr>
              <a:lstStyle/>
              <a:p>
                <a:r>
                  <a:rPr lang="en-IN" sz="900" b="1"/>
                  <a:t>Cloud Guard Recipes(Oracle Management)</a:t>
                </a:r>
              </a:p>
              <a:p>
                <a:pPr marL="285750" indent="-285750">
                  <a:buFont typeface="Arial" panose="020B0604020202020204" pitchFamily="34" charset="0"/>
                  <a:buChar char="•"/>
                </a:pPr>
                <a:r>
                  <a:rPr lang="en-IN" sz="900"/>
                  <a:t>OCI Configuration Detector Recipe</a:t>
                </a:r>
              </a:p>
              <a:p>
                <a:pPr marL="285750" indent="-285750">
                  <a:buFont typeface="Arial" panose="020B0604020202020204" pitchFamily="34" charset="0"/>
                  <a:buChar char="•"/>
                </a:pPr>
                <a:r>
                  <a:rPr lang="en-IN" sz="900"/>
                  <a:t>OCI Activity Detector Recipe</a:t>
                </a:r>
              </a:p>
              <a:p>
                <a:pPr marL="285750" indent="-285750">
                  <a:buFont typeface="Arial" panose="020B0604020202020204" pitchFamily="34" charset="0"/>
                  <a:buChar char="•"/>
                </a:pPr>
                <a:r>
                  <a:rPr lang="en-IN" sz="900"/>
                  <a:t>OCI Responder Recipe</a:t>
                </a:r>
              </a:p>
            </p:txBody>
          </p:sp>
          <p:sp>
            <p:nvSpPr>
              <p:cNvPr id="47" name="TextBox 46">
                <a:extLst>
                  <a:ext uri="{FF2B5EF4-FFF2-40B4-BE49-F238E27FC236}">
                    <a16:creationId xmlns:a16="http://schemas.microsoft.com/office/drawing/2014/main" id="{2AF19F1B-5067-2FD7-CD79-A769F89794B5}"/>
                  </a:ext>
                </a:extLst>
              </p:cNvPr>
              <p:cNvSpPr txBox="1"/>
              <p:nvPr/>
            </p:nvSpPr>
            <p:spPr>
              <a:xfrm>
                <a:off x="8982862" y="2743084"/>
                <a:ext cx="1656134" cy="332708"/>
              </a:xfrm>
              <a:prstGeom prst="rect">
                <a:avLst/>
              </a:prstGeom>
              <a:noFill/>
            </p:spPr>
            <p:txBody>
              <a:bodyPr wrap="square" rtlCol="0">
                <a:spAutoFit/>
              </a:bodyPr>
              <a:lstStyle/>
              <a:p>
                <a:r>
                  <a:rPr lang="en-IN" sz="900" b="1"/>
                  <a:t>Target of Cloud Guard &amp; Vulnerability Scanning- Detected Problem </a:t>
                </a:r>
              </a:p>
            </p:txBody>
          </p:sp>
          <p:sp>
            <p:nvSpPr>
              <p:cNvPr id="48" name="TextBox 47">
                <a:extLst>
                  <a:ext uri="{FF2B5EF4-FFF2-40B4-BE49-F238E27FC236}">
                    <a16:creationId xmlns:a16="http://schemas.microsoft.com/office/drawing/2014/main" id="{579A8677-DA87-B9E1-4B32-5FE7D64A582D}"/>
                  </a:ext>
                </a:extLst>
              </p:cNvPr>
              <p:cNvSpPr txBox="1"/>
              <p:nvPr/>
            </p:nvSpPr>
            <p:spPr>
              <a:xfrm>
                <a:off x="6865863" y="2540859"/>
                <a:ext cx="713657" cy="215444"/>
              </a:xfrm>
              <a:prstGeom prst="rect">
                <a:avLst/>
              </a:prstGeom>
              <a:noFill/>
            </p:spPr>
            <p:txBody>
              <a:bodyPr wrap="none" rtlCol="0">
                <a:spAutoFit/>
              </a:bodyPr>
              <a:lstStyle/>
              <a:p>
                <a:r>
                  <a:rPr lang="en-IN" sz="800" b="1"/>
                  <a:t>Cloud Guard</a:t>
                </a:r>
              </a:p>
            </p:txBody>
          </p:sp>
          <p:sp>
            <p:nvSpPr>
              <p:cNvPr id="51" name="TextBox 50">
                <a:extLst>
                  <a:ext uri="{FF2B5EF4-FFF2-40B4-BE49-F238E27FC236}">
                    <a16:creationId xmlns:a16="http://schemas.microsoft.com/office/drawing/2014/main" id="{DEDF36CC-7BFA-F871-A656-890F93827FF4}"/>
                  </a:ext>
                </a:extLst>
              </p:cNvPr>
              <p:cNvSpPr txBox="1"/>
              <p:nvPr/>
            </p:nvSpPr>
            <p:spPr>
              <a:xfrm>
                <a:off x="7500488" y="3228337"/>
                <a:ext cx="713657" cy="215444"/>
              </a:xfrm>
              <a:prstGeom prst="rect">
                <a:avLst/>
              </a:prstGeom>
              <a:noFill/>
            </p:spPr>
            <p:txBody>
              <a:bodyPr wrap="none" rtlCol="0">
                <a:spAutoFit/>
              </a:bodyPr>
              <a:lstStyle/>
              <a:p>
                <a:r>
                  <a:rPr lang="en-IN" sz="800" b="1"/>
                  <a:t>Cloud Guard</a:t>
                </a:r>
              </a:p>
            </p:txBody>
          </p:sp>
          <p:sp>
            <p:nvSpPr>
              <p:cNvPr id="53" name="TextBox 52">
                <a:extLst>
                  <a:ext uri="{FF2B5EF4-FFF2-40B4-BE49-F238E27FC236}">
                    <a16:creationId xmlns:a16="http://schemas.microsoft.com/office/drawing/2014/main" id="{27CC7BBD-16B8-6E2F-EA05-19393FF1F1C3}"/>
                  </a:ext>
                </a:extLst>
              </p:cNvPr>
              <p:cNvSpPr txBox="1"/>
              <p:nvPr/>
            </p:nvSpPr>
            <p:spPr>
              <a:xfrm>
                <a:off x="8215577" y="3954952"/>
                <a:ext cx="713657" cy="215444"/>
              </a:xfrm>
              <a:prstGeom prst="rect">
                <a:avLst/>
              </a:prstGeom>
              <a:noFill/>
            </p:spPr>
            <p:txBody>
              <a:bodyPr wrap="none" rtlCol="0">
                <a:spAutoFit/>
              </a:bodyPr>
              <a:lstStyle/>
              <a:p>
                <a:r>
                  <a:rPr lang="en-IN" sz="800" b="1" dirty="0"/>
                  <a:t>Cloud Guard</a:t>
                </a:r>
              </a:p>
            </p:txBody>
          </p:sp>
          <p:sp>
            <p:nvSpPr>
              <p:cNvPr id="56" name="TextBox 55">
                <a:extLst>
                  <a:ext uri="{FF2B5EF4-FFF2-40B4-BE49-F238E27FC236}">
                    <a16:creationId xmlns:a16="http://schemas.microsoft.com/office/drawing/2014/main" id="{F10BBCF3-58B3-3F78-CD61-00896AFA4E00}"/>
                  </a:ext>
                </a:extLst>
              </p:cNvPr>
              <p:cNvSpPr txBox="1"/>
              <p:nvPr/>
            </p:nvSpPr>
            <p:spPr>
              <a:xfrm>
                <a:off x="8870411" y="3677854"/>
                <a:ext cx="1406090" cy="332708"/>
              </a:xfrm>
              <a:prstGeom prst="rect">
                <a:avLst/>
              </a:prstGeom>
              <a:noFill/>
            </p:spPr>
            <p:txBody>
              <a:bodyPr wrap="square" rtlCol="0">
                <a:spAutoFit/>
              </a:bodyPr>
              <a:lstStyle/>
              <a:p>
                <a:r>
                  <a:rPr lang="en-IN" sz="900" b="1"/>
                  <a:t>Cloud Guard Recipes – Cloned Recipe (user managed) definition</a:t>
                </a:r>
              </a:p>
            </p:txBody>
          </p:sp>
          <p:sp>
            <p:nvSpPr>
              <p:cNvPr id="57" name="TextBox 56">
                <a:extLst>
                  <a:ext uri="{FF2B5EF4-FFF2-40B4-BE49-F238E27FC236}">
                    <a16:creationId xmlns:a16="http://schemas.microsoft.com/office/drawing/2014/main" id="{FD3869CD-5947-EB2F-4380-EFA75CBC2F34}"/>
                  </a:ext>
                </a:extLst>
              </p:cNvPr>
              <p:cNvSpPr txBox="1"/>
              <p:nvPr/>
            </p:nvSpPr>
            <p:spPr>
              <a:xfrm>
                <a:off x="9146813" y="4803770"/>
                <a:ext cx="1519664" cy="457473"/>
              </a:xfrm>
              <a:prstGeom prst="rect">
                <a:avLst/>
              </a:prstGeom>
              <a:noFill/>
            </p:spPr>
            <p:txBody>
              <a:bodyPr wrap="square" rtlCol="0">
                <a:spAutoFit/>
              </a:bodyPr>
              <a:lstStyle/>
              <a:p>
                <a:r>
                  <a:rPr lang="en-IN" sz="900" b="1"/>
                  <a:t>Vulnerability Scanning (definition) </a:t>
                </a:r>
              </a:p>
              <a:p>
                <a:r>
                  <a:rPr lang="en-IN" sz="900" b="1"/>
                  <a:t>- Scan recipe</a:t>
                </a:r>
              </a:p>
              <a:p>
                <a:r>
                  <a:rPr lang="en-IN" sz="900" b="1"/>
                  <a:t>- Scan target</a:t>
                </a:r>
              </a:p>
            </p:txBody>
          </p:sp>
        </p:grpSp>
        <p:grpSp>
          <p:nvGrpSpPr>
            <p:cNvPr id="73" name="Group 72">
              <a:extLst>
                <a:ext uri="{FF2B5EF4-FFF2-40B4-BE49-F238E27FC236}">
                  <a16:creationId xmlns:a16="http://schemas.microsoft.com/office/drawing/2014/main" id="{BF3551A7-8334-C9AE-3D30-6DD97538D17F}"/>
                </a:ext>
              </a:extLst>
            </p:cNvPr>
            <p:cNvGrpSpPr/>
            <p:nvPr/>
          </p:nvGrpSpPr>
          <p:grpSpPr>
            <a:xfrm>
              <a:off x="5630029" y="2146765"/>
              <a:ext cx="1437064" cy="2101637"/>
              <a:chOff x="5664303" y="2965030"/>
              <a:chExt cx="1437064" cy="2101637"/>
            </a:xfrm>
          </p:grpSpPr>
          <p:pic>
            <p:nvPicPr>
              <p:cNvPr id="1030" name="Picture 6">
                <a:extLst>
                  <a:ext uri="{FF2B5EF4-FFF2-40B4-BE49-F238E27FC236}">
                    <a16:creationId xmlns:a16="http://schemas.microsoft.com/office/drawing/2014/main" id="{B0FD6168-BCB1-AF1E-6CDE-31FB735B5F79}"/>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9787" r="14210"/>
              <a:stretch/>
            </p:blipFill>
            <p:spPr bwMode="auto">
              <a:xfrm>
                <a:off x="6323450" y="3277892"/>
                <a:ext cx="655568" cy="85547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B0000B9-1AB0-F3CC-9D6A-577040C737A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4528" t="51373" r="23982"/>
              <a:stretch/>
            </p:blipFill>
            <p:spPr bwMode="auto">
              <a:xfrm>
                <a:off x="6367864" y="4177619"/>
                <a:ext cx="508098" cy="88904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B40F0219-20F9-573B-83CD-B15FFDEF59A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664303" y="4133370"/>
                <a:ext cx="733637" cy="796882"/>
              </a:xfrm>
              <a:prstGeom prst="rect">
                <a:avLst/>
              </a:prstGeom>
              <a:noFill/>
              <a:extLst>
                <a:ext uri="{909E8E84-426E-40DD-AFC4-6F175D3DCCD1}">
                  <a14:hiddenFill xmlns:a14="http://schemas.microsoft.com/office/drawing/2010/main">
                    <a:solidFill>
                      <a:srgbClr val="FFFFFF"/>
                    </a:solidFill>
                  </a14:hiddenFill>
                </a:ext>
              </a:extLst>
            </p:spPr>
          </p:pic>
          <p:sp>
            <p:nvSpPr>
              <p:cNvPr id="65" name="Rectangle 64">
                <a:extLst>
                  <a:ext uri="{FF2B5EF4-FFF2-40B4-BE49-F238E27FC236}">
                    <a16:creationId xmlns:a16="http://schemas.microsoft.com/office/drawing/2014/main" id="{6C7E6759-6219-CAAA-A5D1-7A3B575A1A6F}"/>
                  </a:ext>
                </a:extLst>
              </p:cNvPr>
              <p:cNvSpPr/>
              <p:nvPr/>
            </p:nvSpPr>
            <p:spPr>
              <a:xfrm>
                <a:off x="5718239" y="2965030"/>
                <a:ext cx="1383128" cy="2080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69" name="Connector: Elbow 68">
              <a:extLst>
                <a:ext uri="{FF2B5EF4-FFF2-40B4-BE49-F238E27FC236}">
                  <a16:creationId xmlns:a16="http://schemas.microsoft.com/office/drawing/2014/main" id="{43FFC933-24E8-65F7-639C-C12A2E58A09F}"/>
                </a:ext>
              </a:extLst>
            </p:cNvPr>
            <p:cNvCxnSpPr>
              <a:cxnSpLocks/>
              <a:endCxn id="10" idx="1"/>
            </p:cNvCxnSpPr>
            <p:nvPr/>
          </p:nvCxnSpPr>
          <p:spPr>
            <a:xfrm flipV="1">
              <a:off x="7067510" y="2131500"/>
              <a:ext cx="445455" cy="363130"/>
            </a:xfrm>
            <a:prstGeom prst="bentConnector3">
              <a:avLst>
                <a:gd name="adj1" fmla="val 50000"/>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12B463F-B00F-98E9-1EE1-DE8FEE8979BE}"/>
                </a:ext>
              </a:extLst>
            </p:cNvPr>
            <p:cNvSpPr txBox="1"/>
            <p:nvPr/>
          </p:nvSpPr>
          <p:spPr>
            <a:xfrm>
              <a:off x="5700866" y="2146436"/>
              <a:ext cx="1350724" cy="246221"/>
            </a:xfrm>
            <a:prstGeom prst="rect">
              <a:avLst/>
            </a:prstGeom>
            <a:noFill/>
          </p:spPr>
          <p:txBody>
            <a:bodyPr wrap="square">
              <a:spAutoFit/>
            </a:bodyPr>
            <a:lstStyle/>
            <a:p>
              <a:pPr algn="just"/>
              <a:r>
                <a:rPr lang="en-IN" sz="1000" b="1" i="0" dirty="0">
                  <a:solidFill>
                    <a:srgbClr val="000000"/>
                  </a:solidFill>
                  <a:effectLst/>
                  <a:latin typeface="Helvetica" panose="020B0604020202020204" pitchFamily="34" charset="0"/>
                </a:rPr>
                <a:t> On-Premises</a:t>
              </a:r>
            </a:p>
          </p:txBody>
        </p:sp>
      </p:grpSp>
    </p:spTree>
    <p:extLst>
      <p:ext uri="{BB962C8B-B14F-4D97-AF65-F5344CB8AC3E}">
        <p14:creationId xmlns:p14="http://schemas.microsoft.com/office/powerpoint/2010/main" val="2865019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1" name="Google Shape;91;p18"/>
          <p:cNvSpPr txBox="1">
            <a:spLocks noGrp="1"/>
          </p:cNvSpPr>
          <p:nvPr>
            <p:ph type="body" idx="4294967295"/>
          </p:nvPr>
        </p:nvSpPr>
        <p:spPr>
          <a:xfrm>
            <a:off x="-93663" y="614364"/>
            <a:ext cx="12285663" cy="569368"/>
          </a:xfrm>
          <a:prstGeom prst="rect">
            <a:avLst/>
          </a:prstGeom>
        </p:spPr>
        <p:txBody>
          <a:bodyPr spcFirstLastPara="1" vert="horz" wrap="square" lIns="121900" tIns="121900" rIns="121900" bIns="121900" rtlCol="0" anchor="t" anchorCtr="0">
            <a:normAutofit fontScale="25000" lnSpcReduction="20000"/>
          </a:bodyPr>
          <a:lstStyle/>
          <a:p>
            <a:pPr marL="0" indent="0">
              <a:lnSpc>
                <a:spcPct val="150000"/>
              </a:lnSpc>
              <a:spcBef>
                <a:spcPts val="0"/>
              </a:spcBef>
              <a:buClr>
                <a:schemeClr val="dk1"/>
              </a:buClr>
              <a:buSzPct val="30136"/>
              <a:buNone/>
            </a:pPr>
            <a:r>
              <a:rPr lang="en" sz="4867">
                <a:solidFill>
                  <a:schemeClr val="dk1"/>
                </a:solidFill>
                <a:latin typeface="Karla Medium"/>
                <a:ea typeface="Karla Medium"/>
                <a:cs typeface="Karla Medium"/>
                <a:sym typeface="Karla Medium"/>
              </a:rPr>
              <a:t>	</a:t>
            </a:r>
            <a:r>
              <a:rPr lang="en" sz="6400">
                <a:solidFill>
                  <a:schemeClr val="dk1"/>
                </a:solidFill>
                <a:latin typeface="Karla Medium"/>
                <a:ea typeface="Karla Medium"/>
                <a:cs typeface="Karla Medium"/>
                <a:sym typeface="Karla Medium"/>
              </a:rPr>
              <a:t>							</a:t>
            </a:r>
            <a:endParaRPr sz="6400">
              <a:solidFill>
                <a:schemeClr val="dk1"/>
              </a:solidFill>
              <a:latin typeface="Karla Medium"/>
              <a:ea typeface="Karla Medium"/>
              <a:cs typeface="Karla Medium"/>
              <a:sym typeface="Karla Medium"/>
            </a:endParaRPr>
          </a:p>
          <a:p>
            <a:pPr marL="0" indent="0">
              <a:lnSpc>
                <a:spcPct val="150000"/>
              </a:lnSpc>
              <a:spcBef>
                <a:spcPts val="0"/>
              </a:spcBef>
              <a:buNone/>
            </a:pPr>
            <a:endParaRPr sz="6400">
              <a:solidFill>
                <a:schemeClr val="dk1"/>
              </a:solidFill>
              <a:latin typeface="Karla Medium"/>
              <a:ea typeface="Karla Medium"/>
              <a:cs typeface="Karla Medium"/>
              <a:sym typeface="Karla Medium"/>
            </a:endParaRPr>
          </a:p>
          <a:p>
            <a:pPr marL="0" indent="0">
              <a:spcBef>
                <a:spcPts val="1067"/>
              </a:spcBef>
              <a:buClr>
                <a:schemeClr val="dk1"/>
              </a:buClr>
              <a:buSzPts val="770"/>
              <a:buNone/>
            </a:pPr>
            <a:endParaRPr sz="6400">
              <a:solidFill>
                <a:schemeClr val="dk1"/>
              </a:solidFill>
              <a:highlight>
                <a:schemeClr val="lt1"/>
              </a:highlight>
              <a:latin typeface="Karla Medium"/>
              <a:ea typeface="Karla Medium"/>
              <a:cs typeface="Karla Medium"/>
              <a:sym typeface="Karla Medium"/>
            </a:endParaRPr>
          </a:p>
          <a:p>
            <a:pPr marL="0" indent="0">
              <a:spcBef>
                <a:spcPts val="4000"/>
              </a:spcBef>
              <a:buClr>
                <a:schemeClr val="dk1"/>
              </a:buClr>
              <a:buSzPct val="61111"/>
              <a:buNone/>
            </a:pPr>
            <a:endParaRPr/>
          </a:p>
          <a:p>
            <a:pPr marL="0" indent="0">
              <a:spcBef>
                <a:spcPts val="2000"/>
              </a:spcBef>
              <a:buClr>
                <a:schemeClr val="dk1"/>
              </a:buClr>
              <a:buSzPct val="91666"/>
              <a:buNone/>
            </a:pPr>
            <a:endParaRPr sz="1600">
              <a:solidFill>
                <a:schemeClr val="dk1"/>
              </a:solidFill>
              <a:highlight>
                <a:srgbClr val="FFFFFF"/>
              </a:highlight>
              <a:latin typeface="Karla Medium"/>
              <a:ea typeface="Karla Medium"/>
              <a:cs typeface="Karla Medium"/>
              <a:sym typeface="Karla Medium"/>
            </a:endParaRPr>
          </a:p>
          <a:p>
            <a:pPr marL="609585" indent="0">
              <a:spcBef>
                <a:spcPts val="2000"/>
              </a:spcBef>
              <a:buNone/>
            </a:pPr>
            <a:endParaRPr sz="1600">
              <a:solidFill>
                <a:schemeClr val="dk1"/>
              </a:solidFill>
              <a:highlight>
                <a:srgbClr val="FFFFFF"/>
              </a:highlight>
              <a:latin typeface="Karla Medium"/>
              <a:ea typeface="Karla Medium"/>
              <a:cs typeface="Karla Medium"/>
              <a:sym typeface="Karla Medium"/>
            </a:endParaRPr>
          </a:p>
          <a:p>
            <a:pPr marL="0" indent="0">
              <a:spcBef>
                <a:spcPts val="4000"/>
              </a:spcBef>
              <a:buClr>
                <a:schemeClr val="dk1"/>
              </a:buClr>
              <a:buSzPct val="91666"/>
              <a:buNone/>
            </a:pPr>
            <a:endParaRPr sz="1600">
              <a:solidFill>
                <a:schemeClr val="dk1"/>
              </a:solidFill>
              <a:highlight>
                <a:srgbClr val="FFFFFF"/>
              </a:highlight>
              <a:latin typeface="Karla Medium"/>
              <a:ea typeface="Karla Medium"/>
              <a:cs typeface="Karla Medium"/>
              <a:sym typeface="Karla Medium"/>
            </a:endParaRPr>
          </a:p>
          <a:p>
            <a:pPr marL="0" indent="0">
              <a:spcBef>
                <a:spcPts val="2000"/>
              </a:spcBef>
              <a:spcAft>
                <a:spcPts val="1600"/>
              </a:spcAft>
              <a:buNone/>
            </a:pPr>
            <a:endParaRPr/>
          </a:p>
        </p:txBody>
      </p:sp>
      <p:sp>
        <p:nvSpPr>
          <p:cNvPr id="93" name="Google Shape;93;p18"/>
          <p:cNvSpPr txBox="1"/>
          <p:nvPr/>
        </p:nvSpPr>
        <p:spPr>
          <a:xfrm>
            <a:off x="245451" y="1341341"/>
            <a:ext cx="4140037" cy="4124166"/>
          </a:xfrm>
          <a:prstGeom prst="rect">
            <a:avLst/>
          </a:prstGeom>
          <a:noFill/>
          <a:ln>
            <a:noFill/>
          </a:ln>
        </p:spPr>
        <p:txBody>
          <a:bodyPr spcFirstLastPara="1" wrap="square" lIns="121900" tIns="121900" rIns="121900" bIns="121900" anchor="t" anchorCtr="0">
            <a:spAutoFit/>
          </a:bodyPr>
          <a:lstStyle/>
          <a:p>
            <a:pPr algn="just">
              <a:lnSpc>
                <a:spcPct val="150000"/>
              </a:lnSpc>
              <a:buClr>
                <a:schemeClr val="dk1"/>
              </a:buClr>
              <a:buSzPts val="1100"/>
            </a:pPr>
            <a:r>
              <a:rPr lang="en" sz="1200" dirty="0">
                <a:solidFill>
                  <a:schemeClr val="dk1"/>
                </a:solidFill>
                <a:latin typeface="Rockwell" panose="02060603020205020403" pitchFamily="18" charset="0"/>
                <a:ea typeface="Karla Medium"/>
                <a:cs typeface="Karla Medium"/>
                <a:sym typeface="Karla Medium"/>
              </a:rPr>
              <a:t>A security zone is associated with one or more compartments  and a security zone recipe. When creating and updating resources in a security zone, Oracle Cloud Infrastructure validates these operations against security zone policies in the zone's recipe. If any security zone policy is violated, then the operation is denied.</a:t>
            </a:r>
          </a:p>
          <a:p>
            <a:pPr algn="just">
              <a:lnSpc>
                <a:spcPct val="150000"/>
              </a:lnSpc>
              <a:buClr>
                <a:schemeClr val="dk1"/>
              </a:buClr>
              <a:buSzPts val="1100"/>
            </a:pPr>
            <a:endParaRPr lang="en" sz="1200" dirty="0">
              <a:solidFill>
                <a:schemeClr val="dk1"/>
              </a:solidFill>
              <a:latin typeface="Rockwell" panose="02060603020205020403" pitchFamily="18" charset="0"/>
              <a:sym typeface="Karla Medium"/>
            </a:endParaRPr>
          </a:p>
          <a:p>
            <a:pPr marL="285750" indent="-285750" algn="just">
              <a:lnSpc>
                <a:spcPct val="150000"/>
              </a:lnSpc>
              <a:buClr>
                <a:schemeClr val="dk1"/>
              </a:buClr>
              <a:buSzPct val="100000"/>
              <a:buFont typeface="Wingdings" panose="05000000000000000000" pitchFamily="2" charset="2"/>
              <a:buChar char="v"/>
            </a:pPr>
            <a:r>
              <a:rPr lang="en-US" sz="1200" b="1" dirty="0">
                <a:solidFill>
                  <a:schemeClr val="dk1"/>
                </a:solidFill>
                <a:latin typeface="Rockwell" panose="02060603020205020403" pitchFamily="18" charset="0"/>
                <a:ea typeface="Karla"/>
                <a:cs typeface="Karla"/>
                <a:sym typeface="Karla"/>
              </a:rPr>
              <a:t>Security Advisor:</a:t>
            </a:r>
          </a:p>
          <a:p>
            <a:pPr algn="just">
              <a:lnSpc>
                <a:spcPct val="150000"/>
              </a:lnSpc>
              <a:buClr>
                <a:schemeClr val="dk1"/>
              </a:buClr>
              <a:buSzPts val="1100"/>
            </a:pPr>
            <a:r>
              <a:rPr lang="en-US" sz="1200" dirty="0">
                <a:solidFill>
                  <a:schemeClr val="dk1"/>
                </a:solidFill>
                <a:latin typeface="Rockwell" panose="02060603020205020403" pitchFamily="18" charset="0"/>
                <a:ea typeface="Karla Medium"/>
                <a:cs typeface="Karla Medium"/>
                <a:sym typeface="Karla Medium"/>
              </a:rPr>
              <a:t>Security Advisor  creates cloud resources that align with Oracle's security principles and best practices. It also ensures that resources meet the requirements enforced by security zone policies.</a:t>
            </a:r>
          </a:p>
          <a:p>
            <a:pPr algn="just">
              <a:lnSpc>
                <a:spcPct val="150000"/>
              </a:lnSpc>
              <a:buClr>
                <a:schemeClr val="dk1"/>
              </a:buClr>
              <a:buSzPts val="1100"/>
            </a:pPr>
            <a:endParaRPr sz="1200" dirty="0">
              <a:latin typeface="Rockwell" panose="02060603020205020403" pitchFamily="18" charset="0"/>
            </a:endParaRPr>
          </a:p>
        </p:txBody>
      </p:sp>
      <p:sp>
        <p:nvSpPr>
          <p:cNvPr id="2" name="Google Shape;68;p15">
            <a:extLst>
              <a:ext uri="{FF2B5EF4-FFF2-40B4-BE49-F238E27FC236}">
                <a16:creationId xmlns:a16="http://schemas.microsoft.com/office/drawing/2014/main" id="{774306CA-8B4B-7510-62C1-BEC868912953}"/>
              </a:ext>
            </a:extLst>
          </p:cNvPr>
          <p:cNvSpPr txBox="1">
            <a:spLocks/>
          </p:cNvSpPr>
          <p:nvPr/>
        </p:nvSpPr>
        <p:spPr>
          <a:xfrm>
            <a:off x="213277" y="429730"/>
            <a:ext cx="4174745" cy="679451"/>
          </a:xfrm>
          <a:prstGeom prst="rect">
            <a:avLst/>
          </a:prstGeom>
          <a:noFill/>
        </p:spPr>
        <p:txBody>
          <a:bodyPr spcFirstLastPara="1" wrap="square" lIns="121900" tIns="121900" rIns="121900" bIns="121900" anchor="t" anchorCtr="0">
            <a:normAutofit fontScale="825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 OCI - Security Zones</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grpSp>
        <p:nvGrpSpPr>
          <p:cNvPr id="60" name="Group 59">
            <a:extLst>
              <a:ext uri="{FF2B5EF4-FFF2-40B4-BE49-F238E27FC236}">
                <a16:creationId xmlns:a16="http://schemas.microsoft.com/office/drawing/2014/main" id="{2FAA7328-E819-082D-3D41-B21E70EA5054}"/>
              </a:ext>
            </a:extLst>
          </p:cNvPr>
          <p:cNvGrpSpPr/>
          <p:nvPr/>
        </p:nvGrpSpPr>
        <p:grpSpPr>
          <a:xfrm>
            <a:off x="6450005" y="1383979"/>
            <a:ext cx="5625730" cy="4361739"/>
            <a:chOff x="6204801" y="1791426"/>
            <a:chExt cx="5625730" cy="4361739"/>
          </a:xfrm>
        </p:grpSpPr>
        <p:grpSp>
          <p:nvGrpSpPr>
            <p:cNvPr id="59" name="Group 58">
              <a:extLst>
                <a:ext uri="{FF2B5EF4-FFF2-40B4-BE49-F238E27FC236}">
                  <a16:creationId xmlns:a16="http://schemas.microsoft.com/office/drawing/2014/main" id="{21CBE4F0-766B-B680-EBF5-953CC3AE62F9}"/>
                </a:ext>
              </a:extLst>
            </p:cNvPr>
            <p:cNvGrpSpPr/>
            <p:nvPr/>
          </p:nvGrpSpPr>
          <p:grpSpPr>
            <a:xfrm>
              <a:off x="6204801" y="1791426"/>
              <a:ext cx="5625730" cy="4361739"/>
              <a:chOff x="6270687" y="1659725"/>
              <a:chExt cx="5625730" cy="4361739"/>
            </a:xfrm>
          </p:grpSpPr>
          <p:sp>
            <p:nvSpPr>
              <p:cNvPr id="14" name="Rectangle 13">
                <a:extLst>
                  <a:ext uri="{FF2B5EF4-FFF2-40B4-BE49-F238E27FC236}">
                    <a16:creationId xmlns:a16="http://schemas.microsoft.com/office/drawing/2014/main" id="{78E88ECE-D2F3-5BAC-5C29-87A5C5E48621}"/>
                  </a:ext>
                </a:extLst>
              </p:cNvPr>
              <p:cNvSpPr/>
              <p:nvPr/>
            </p:nvSpPr>
            <p:spPr>
              <a:xfrm>
                <a:off x="7303171" y="1965068"/>
                <a:ext cx="4483599" cy="3891024"/>
              </a:xfrm>
              <a:prstGeom prst="rect">
                <a:avLst/>
              </a:prstGeom>
              <a:solidFill>
                <a:srgbClr val="FDFAE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C27DE647-C179-CEDE-8297-2819262A6CF5}"/>
                  </a:ext>
                </a:extLst>
              </p:cNvPr>
              <p:cNvSpPr/>
              <p:nvPr/>
            </p:nvSpPr>
            <p:spPr>
              <a:xfrm>
                <a:off x="6468395" y="3739076"/>
                <a:ext cx="5188527" cy="1884813"/>
              </a:xfrm>
              <a:prstGeom prst="rect">
                <a:avLst/>
              </a:prstGeom>
              <a:noFill/>
              <a:ln w="15875" cmpd="tri">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362AFE5-831F-B027-85BA-55154D8E4AE4}"/>
                  </a:ext>
                </a:extLst>
              </p:cNvPr>
              <p:cNvSpPr/>
              <p:nvPr/>
            </p:nvSpPr>
            <p:spPr>
              <a:xfrm>
                <a:off x="6270687" y="1691280"/>
                <a:ext cx="5625730" cy="4330184"/>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F3461D1C-72CF-C9B7-2DB9-60C3F80EF108}"/>
                  </a:ext>
                </a:extLst>
              </p:cNvPr>
              <p:cNvSpPr/>
              <p:nvPr/>
            </p:nvSpPr>
            <p:spPr>
              <a:xfrm>
                <a:off x="7154895" y="2248420"/>
                <a:ext cx="4157304" cy="135778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B0A4BC0-1E88-3700-5757-9F695C390DEE}"/>
                  </a:ext>
                </a:extLst>
              </p:cNvPr>
              <p:cNvSpPr txBox="1"/>
              <p:nvPr/>
            </p:nvSpPr>
            <p:spPr>
              <a:xfrm>
                <a:off x="6270687" y="1659725"/>
                <a:ext cx="1241045" cy="246221"/>
              </a:xfrm>
              <a:prstGeom prst="rect">
                <a:avLst/>
              </a:prstGeom>
              <a:noFill/>
            </p:spPr>
            <p:txBody>
              <a:bodyPr wrap="none" rtlCol="0">
                <a:spAutoFit/>
              </a:bodyPr>
              <a:lstStyle/>
              <a:p>
                <a:r>
                  <a:rPr lang="en-IN" sz="1000" b="1"/>
                  <a:t> Tenancy (San Jose) </a:t>
                </a:r>
              </a:p>
            </p:txBody>
          </p:sp>
          <p:pic>
            <p:nvPicPr>
              <p:cNvPr id="7" name="Picture 6">
                <a:extLst>
                  <a:ext uri="{FF2B5EF4-FFF2-40B4-BE49-F238E27FC236}">
                    <a16:creationId xmlns:a16="http://schemas.microsoft.com/office/drawing/2014/main" id="{72F769AB-7DC9-64BE-0BF6-FB4FB5FBFF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7261" y="2176028"/>
                <a:ext cx="314786" cy="203080"/>
              </a:xfrm>
              <a:prstGeom prst="rect">
                <a:avLst/>
              </a:prstGeom>
            </p:spPr>
          </p:pic>
          <p:sp>
            <p:nvSpPr>
              <p:cNvPr id="8" name="TextBox 7">
                <a:extLst>
                  <a:ext uri="{FF2B5EF4-FFF2-40B4-BE49-F238E27FC236}">
                    <a16:creationId xmlns:a16="http://schemas.microsoft.com/office/drawing/2014/main" id="{4EBE0F2D-DF13-C86B-E73C-D484EDF6E33D}"/>
                  </a:ext>
                </a:extLst>
              </p:cNvPr>
              <p:cNvSpPr txBox="1"/>
              <p:nvPr/>
            </p:nvSpPr>
            <p:spPr>
              <a:xfrm>
                <a:off x="7284744" y="2207407"/>
                <a:ext cx="2273047"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sp>
            <p:nvSpPr>
              <p:cNvPr id="9" name="Rectangle 8">
                <a:extLst>
                  <a:ext uri="{FF2B5EF4-FFF2-40B4-BE49-F238E27FC236}">
                    <a16:creationId xmlns:a16="http://schemas.microsoft.com/office/drawing/2014/main" id="{DD35421E-6EAF-C627-6AD3-A966CAB25AAA}"/>
                  </a:ext>
                </a:extLst>
              </p:cNvPr>
              <p:cNvSpPr/>
              <p:nvPr/>
            </p:nvSpPr>
            <p:spPr>
              <a:xfrm>
                <a:off x="7054504" y="3990114"/>
                <a:ext cx="4292552" cy="148815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E138E28E-8545-73F2-6F74-6F217171D4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92822" y="3913243"/>
                <a:ext cx="302040" cy="211647"/>
              </a:xfrm>
              <a:prstGeom prst="rect">
                <a:avLst/>
              </a:prstGeom>
            </p:spPr>
          </p:pic>
          <p:sp>
            <p:nvSpPr>
              <p:cNvPr id="13" name="TextBox 12">
                <a:extLst>
                  <a:ext uri="{FF2B5EF4-FFF2-40B4-BE49-F238E27FC236}">
                    <a16:creationId xmlns:a16="http://schemas.microsoft.com/office/drawing/2014/main" id="{A9A01659-903E-1920-3184-AAE384A33396}"/>
                  </a:ext>
                </a:extLst>
              </p:cNvPr>
              <p:cNvSpPr txBox="1"/>
              <p:nvPr/>
            </p:nvSpPr>
            <p:spPr>
              <a:xfrm>
                <a:off x="7257108" y="3990114"/>
                <a:ext cx="1119474"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pic>
            <p:nvPicPr>
              <p:cNvPr id="16" name="Picture 15">
                <a:extLst>
                  <a:ext uri="{FF2B5EF4-FFF2-40B4-BE49-F238E27FC236}">
                    <a16:creationId xmlns:a16="http://schemas.microsoft.com/office/drawing/2014/main" id="{C3753235-729C-E0E9-C6AC-993039802E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49286" y="4537734"/>
                <a:ext cx="448134" cy="363067"/>
              </a:xfrm>
              <a:prstGeom prst="rect">
                <a:avLst/>
              </a:prstGeom>
            </p:spPr>
          </p:pic>
          <p:pic>
            <p:nvPicPr>
              <p:cNvPr id="17" name="Picture 16">
                <a:extLst>
                  <a:ext uri="{FF2B5EF4-FFF2-40B4-BE49-F238E27FC236}">
                    <a16:creationId xmlns:a16="http://schemas.microsoft.com/office/drawing/2014/main" id="{3FEE749B-E460-CDE9-0C2D-01AE6AA635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25839" y="4484915"/>
                <a:ext cx="415895" cy="422636"/>
              </a:xfrm>
              <a:prstGeom prst="rect">
                <a:avLst/>
              </a:prstGeom>
            </p:spPr>
          </p:pic>
          <p:pic>
            <p:nvPicPr>
              <p:cNvPr id="18" name="Picture 17">
                <a:extLst>
                  <a:ext uri="{FF2B5EF4-FFF2-40B4-BE49-F238E27FC236}">
                    <a16:creationId xmlns:a16="http://schemas.microsoft.com/office/drawing/2014/main" id="{B312F5D6-FE2D-4052-BC3C-BAA59B64638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90591" y="4484915"/>
                <a:ext cx="504639" cy="468706"/>
              </a:xfrm>
              <a:prstGeom prst="rect">
                <a:avLst/>
              </a:prstGeom>
            </p:spPr>
          </p:pic>
          <p:sp>
            <p:nvSpPr>
              <p:cNvPr id="19" name="Rectangle 18">
                <a:extLst>
                  <a:ext uri="{FF2B5EF4-FFF2-40B4-BE49-F238E27FC236}">
                    <a16:creationId xmlns:a16="http://schemas.microsoft.com/office/drawing/2014/main" id="{495D6175-2362-7612-6DBA-8B982990EA09}"/>
                  </a:ext>
                </a:extLst>
              </p:cNvPr>
              <p:cNvSpPr/>
              <p:nvPr/>
            </p:nvSpPr>
            <p:spPr>
              <a:xfrm>
                <a:off x="10045733" y="4209401"/>
                <a:ext cx="1153075" cy="1018290"/>
              </a:xfrm>
              <a:prstGeom prst="rect">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0CA31031-7665-9A4F-DE38-F1E70EEF84DA}"/>
                  </a:ext>
                </a:extLst>
              </p:cNvPr>
              <p:cNvSpPr txBox="1"/>
              <p:nvPr/>
            </p:nvSpPr>
            <p:spPr>
              <a:xfrm>
                <a:off x="10012580" y="4191054"/>
                <a:ext cx="1153075" cy="353943"/>
              </a:xfrm>
              <a:prstGeom prst="rect">
                <a:avLst/>
              </a:prstGeom>
              <a:noFill/>
            </p:spPr>
            <p:txBody>
              <a:bodyPr wrap="square">
                <a:spAutoFit/>
              </a:bodyPr>
              <a:lstStyle/>
              <a:p>
                <a:pPr algn="ctr"/>
                <a:r>
                  <a:rPr lang="en-IN" sz="850" b="1">
                    <a:solidFill>
                      <a:srgbClr val="000000"/>
                    </a:solidFill>
                    <a:latin typeface="Helvetica" panose="020B0604020202020204" pitchFamily="34" charset="0"/>
                  </a:rPr>
                  <a:t>Oracle Services </a:t>
                </a:r>
              </a:p>
              <a:p>
                <a:pPr algn="ctr"/>
                <a:r>
                  <a:rPr lang="en-IN" sz="850" b="1">
                    <a:solidFill>
                      <a:srgbClr val="000000"/>
                    </a:solidFill>
                    <a:latin typeface="Helvetica" panose="020B0604020202020204" pitchFamily="34" charset="0"/>
                  </a:rPr>
                  <a:t>Network</a:t>
                </a:r>
                <a:endParaRPr lang="en-IN" sz="850" b="1" i="0">
                  <a:solidFill>
                    <a:srgbClr val="000000"/>
                  </a:solidFill>
                  <a:effectLst/>
                  <a:latin typeface="Helvetica" panose="020B0604020202020204" pitchFamily="34" charset="0"/>
                </a:endParaRPr>
              </a:p>
            </p:txBody>
          </p:sp>
          <p:sp>
            <p:nvSpPr>
              <p:cNvPr id="21" name="TextBox 20">
                <a:extLst>
                  <a:ext uri="{FF2B5EF4-FFF2-40B4-BE49-F238E27FC236}">
                    <a16:creationId xmlns:a16="http://schemas.microsoft.com/office/drawing/2014/main" id="{BF8C19B3-FE76-A79D-F001-950B97A84D49}"/>
                  </a:ext>
                </a:extLst>
              </p:cNvPr>
              <p:cNvSpPr txBox="1"/>
              <p:nvPr/>
            </p:nvSpPr>
            <p:spPr>
              <a:xfrm>
                <a:off x="10416388" y="4851871"/>
                <a:ext cx="652953" cy="338554"/>
              </a:xfrm>
              <a:prstGeom prst="rect">
                <a:avLst/>
              </a:prstGeom>
              <a:noFill/>
            </p:spPr>
            <p:txBody>
              <a:bodyPr wrap="square">
                <a:spAutoFit/>
              </a:bodyPr>
              <a:lstStyle/>
              <a:p>
                <a:pPr algn="just"/>
                <a:r>
                  <a:rPr lang="en-IN" sz="800" b="1" i="0">
                    <a:solidFill>
                      <a:srgbClr val="000000"/>
                    </a:solidFill>
                    <a:effectLst/>
                    <a:latin typeface="Helvetica" panose="020B0604020202020204" pitchFamily="34" charset="0"/>
                  </a:rPr>
                  <a:t>Object </a:t>
                </a:r>
              </a:p>
              <a:p>
                <a:pPr algn="just"/>
                <a:r>
                  <a:rPr lang="en-IN" sz="800" b="1" i="0">
                    <a:solidFill>
                      <a:srgbClr val="000000"/>
                    </a:solidFill>
                    <a:effectLst/>
                    <a:latin typeface="Helvetica" panose="020B0604020202020204" pitchFamily="34" charset="0"/>
                  </a:rPr>
                  <a:t>Storage</a:t>
                </a:r>
              </a:p>
            </p:txBody>
          </p:sp>
          <p:sp>
            <p:nvSpPr>
              <p:cNvPr id="22" name="Rectangle 21">
                <a:extLst>
                  <a:ext uri="{FF2B5EF4-FFF2-40B4-BE49-F238E27FC236}">
                    <a16:creationId xmlns:a16="http://schemas.microsoft.com/office/drawing/2014/main" id="{30620454-BBBC-088A-7FD4-2E2C9DC44F1A}"/>
                  </a:ext>
                </a:extLst>
              </p:cNvPr>
              <p:cNvSpPr/>
              <p:nvPr/>
            </p:nvSpPr>
            <p:spPr>
              <a:xfrm>
                <a:off x="7950739" y="4252500"/>
                <a:ext cx="1932374" cy="962620"/>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0FC03AEB-5A98-4F78-9D65-14C5AE5016A5}"/>
                  </a:ext>
                </a:extLst>
              </p:cNvPr>
              <p:cNvSpPr txBox="1"/>
              <p:nvPr/>
            </p:nvSpPr>
            <p:spPr>
              <a:xfrm>
                <a:off x="7906685" y="4222917"/>
                <a:ext cx="968175" cy="246221"/>
              </a:xfrm>
              <a:prstGeom prst="rect">
                <a:avLst/>
              </a:prstGeom>
              <a:noFill/>
            </p:spPr>
            <p:txBody>
              <a:bodyPr wrap="square" rtlCol="0">
                <a:spAutoFit/>
              </a:bodyPr>
              <a:lstStyle/>
              <a:p>
                <a:r>
                  <a:rPr lang="en-IN" sz="1000"/>
                  <a:t>Private subnet</a:t>
                </a:r>
              </a:p>
            </p:txBody>
          </p:sp>
          <p:sp>
            <p:nvSpPr>
              <p:cNvPr id="24" name="TextBox 23">
                <a:extLst>
                  <a:ext uri="{FF2B5EF4-FFF2-40B4-BE49-F238E27FC236}">
                    <a16:creationId xmlns:a16="http://schemas.microsoft.com/office/drawing/2014/main" id="{B1BE9320-1074-4329-994E-54F3F088576B}"/>
                  </a:ext>
                </a:extLst>
              </p:cNvPr>
              <p:cNvSpPr txBox="1"/>
              <p:nvPr/>
            </p:nvSpPr>
            <p:spPr>
              <a:xfrm>
                <a:off x="8240523" y="4863595"/>
                <a:ext cx="483179" cy="233531"/>
              </a:xfrm>
              <a:prstGeom prst="rect">
                <a:avLst/>
              </a:prstGeom>
              <a:noFill/>
            </p:spPr>
            <p:txBody>
              <a:bodyPr wrap="square" rtlCol="0">
                <a:spAutoFit/>
              </a:bodyPr>
              <a:lstStyle/>
              <a:p>
                <a:r>
                  <a:rPr lang="en-IN" sz="1000" b="1">
                    <a:solidFill>
                      <a:schemeClr val="tx1">
                        <a:lumMod val="95000"/>
                        <a:lumOff val="5000"/>
                      </a:schemeClr>
                    </a:solidFill>
                  </a:rPr>
                  <a:t>VM</a:t>
                </a:r>
              </a:p>
            </p:txBody>
          </p:sp>
          <p:sp>
            <p:nvSpPr>
              <p:cNvPr id="25" name="TextBox 24">
                <a:extLst>
                  <a:ext uri="{FF2B5EF4-FFF2-40B4-BE49-F238E27FC236}">
                    <a16:creationId xmlns:a16="http://schemas.microsoft.com/office/drawing/2014/main" id="{1760F012-56D8-C528-A438-51CD1ADDA546}"/>
                  </a:ext>
                </a:extLst>
              </p:cNvPr>
              <p:cNvSpPr txBox="1"/>
              <p:nvPr/>
            </p:nvSpPr>
            <p:spPr>
              <a:xfrm>
                <a:off x="9251813" y="4898095"/>
                <a:ext cx="483179" cy="233531"/>
              </a:xfrm>
              <a:prstGeom prst="rect">
                <a:avLst/>
              </a:prstGeom>
              <a:noFill/>
            </p:spPr>
            <p:txBody>
              <a:bodyPr wrap="square" rtlCol="0">
                <a:spAutoFit/>
              </a:bodyPr>
              <a:lstStyle/>
              <a:p>
                <a:r>
                  <a:rPr lang="en-IN" sz="1000" b="1">
                    <a:solidFill>
                      <a:schemeClr val="tx1">
                        <a:lumMod val="95000"/>
                        <a:lumOff val="5000"/>
                      </a:schemeClr>
                    </a:solidFill>
                  </a:rPr>
                  <a:t>ATP</a:t>
                </a:r>
              </a:p>
            </p:txBody>
          </p:sp>
          <p:pic>
            <p:nvPicPr>
              <p:cNvPr id="26" name="Picture 25">
                <a:extLst>
                  <a:ext uri="{FF2B5EF4-FFF2-40B4-BE49-F238E27FC236}">
                    <a16:creationId xmlns:a16="http://schemas.microsoft.com/office/drawing/2014/main" id="{58344C05-7440-9C8D-0B36-FEA72FB9E80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66041" y="2615303"/>
                <a:ext cx="415895" cy="422636"/>
              </a:xfrm>
              <a:prstGeom prst="rect">
                <a:avLst/>
              </a:prstGeom>
            </p:spPr>
          </p:pic>
          <p:pic>
            <p:nvPicPr>
              <p:cNvPr id="27" name="Picture 26">
                <a:extLst>
                  <a:ext uri="{FF2B5EF4-FFF2-40B4-BE49-F238E27FC236}">
                    <a16:creationId xmlns:a16="http://schemas.microsoft.com/office/drawing/2014/main" id="{FEF1B18B-2C02-15D9-E650-53A72D14EC1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630793" y="2615303"/>
                <a:ext cx="504639" cy="468706"/>
              </a:xfrm>
              <a:prstGeom prst="rect">
                <a:avLst/>
              </a:prstGeom>
            </p:spPr>
          </p:pic>
          <p:sp>
            <p:nvSpPr>
              <p:cNvPr id="28" name="TextBox 27">
                <a:extLst>
                  <a:ext uri="{FF2B5EF4-FFF2-40B4-BE49-F238E27FC236}">
                    <a16:creationId xmlns:a16="http://schemas.microsoft.com/office/drawing/2014/main" id="{7AA00821-77C1-1EA2-D5C6-70C1839A2833}"/>
                  </a:ext>
                </a:extLst>
              </p:cNvPr>
              <p:cNvSpPr txBox="1"/>
              <p:nvPr/>
            </p:nvSpPr>
            <p:spPr>
              <a:xfrm>
                <a:off x="8680725" y="2993983"/>
                <a:ext cx="483179" cy="233531"/>
              </a:xfrm>
              <a:prstGeom prst="rect">
                <a:avLst/>
              </a:prstGeom>
              <a:noFill/>
            </p:spPr>
            <p:txBody>
              <a:bodyPr wrap="square" rtlCol="0">
                <a:spAutoFit/>
              </a:bodyPr>
              <a:lstStyle/>
              <a:p>
                <a:r>
                  <a:rPr lang="en-IN" sz="1000" b="1">
                    <a:solidFill>
                      <a:schemeClr val="tx1">
                        <a:lumMod val="95000"/>
                        <a:lumOff val="5000"/>
                      </a:schemeClr>
                    </a:solidFill>
                  </a:rPr>
                  <a:t>VM</a:t>
                </a:r>
              </a:p>
            </p:txBody>
          </p:sp>
          <p:sp>
            <p:nvSpPr>
              <p:cNvPr id="29" name="TextBox 28">
                <a:extLst>
                  <a:ext uri="{FF2B5EF4-FFF2-40B4-BE49-F238E27FC236}">
                    <a16:creationId xmlns:a16="http://schemas.microsoft.com/office/drawing/2014/main" id="{A66AA0E6-D5D2-C999-78D1-8513DD8A0333}"/>
                  </a:ext>
                </a:extLst>
              </p:cNvPr>
              <p:cNvSpPr txBox="1"/>
              <p:nvPr/>
            </p:nvSpPr>
            <p:spPr>
              <a:xfrm>
                <a:off x="9692015" y="3028483"/>
                <a:ext cx="483179" cy="233531"/>
              </a:xfrm>
              <a:prstGeom prst="rect">
                <a:avLst/>
              </a:prstGeom>
              <a:noFill/>
            </p:spPr>
            <p:txBody>
              <a:bodyPr wrap="square" rtlCol="0">
                <a:spAutoFit/>
              </a:bodyPr>
              <a:lstStyle/>
              <a:p>
                <a:r>
                  <a:rPr lang="en-IN" sz="1000" b="1">
                    <a:solidFill>
                      <a:schemeClr val="tx1">
                        <a:lumMod val="95000"/>
                        <a:lumOff val="5000"/>
                      </a:schemeClr>
                    </a:solidFill>
                  </a:rPr>
                  <a:t>ATP</a:t>
                </a:r>
              </a:p>
            </p:txBody>
          </p:sp>
          <p:sp>
            <p:nvSpPr>
              <p:cNvPr id="34" name="TextBox 33">
                <a:extLst>
                  <a:ext uri="{FF2B5EF4-FFF2-40B4-BE49-F238E27FC236}">
                    <a16:creationId xmlns:a16="http://schemas.microsoft.com/office/drawing/2014/main" id="{5566469D-3BE0-1E12-1CDA-D434FC9B2CF9}"/>
                  </a:ext>
                </a:extLst>
              </p:cNvPr>
              <p:cNvSpPr txBox="1"/>
              <p:nvPr/>
            </p:nvSpPr>
            <p:spPr>
              <a:xfrm>
                <a:off x="6791459" y="3730770"/>
                <a:ext cx="1119474"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Security Zone</a:t>
                </a:r>
              </a:p>
            </p:txBody>
          </p:sp>
          <p:pic>
            <p:nvPicPr>
              <p:cNvPr id="35" name="Picture 34">
                <a:extLst>
                  <a:ext uri="{FF2B5EF4-FFF2-40B4-BE49-F238E27FC236}">
                    <a16:creationId xmlns:a16="http://schemas.microsoft.com/office/drawing/2014/main" id="{F341778F-BEAF-4634-EBF6-029426E04FE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39494" y="3531209"/>
                <a:ext cx="367197" cy="382034"/>
              </a:xfrm>
              <a:prstGeom prst="rect">
                <a:avLst/>
              </a:prstGeom>
            </p:spPr>
          </p:pic>
          <p:sp>
            <p:nvSpPr>
              <p:cNvPr id="36" name="TextBox 35">
                <a:extLst>
                  <a:ext uri="{FF2B5EF4-FFF2-40B4-BE49-F238E27FC236}">
                    <a16:creationId xmlns:a16="http://schemas.microsoft.com/office/drawing/2014/main" id="{B7A9ABF8-0101-9F1A-9963-5C6D01F0B641}"/>
                  </a:ext>
                </a:extLst>
              </p:cNvPr>
              <p:cNvSpPr txBox="1"/>
              <p:nvPr/>
            </p:nvSpPr>
            <p:spPr>
              <a:xfrm>
                <a:off x="8784359" y="1929807"/>
                <a:ext cx="1228221" cy="246221"/>
              </a:xfrm>
              <a:prstGeom prst="rect">
                <a:avLst/>
              </a:prstGeom>
              <a:noFill/>
            </p:spPr>
            <p:txBody>
              <a:bodyPr wrap="none" rtlCol="0">
                <a:spAutoFit/>
              </a:bodyPr>
              <a:lstStyle/>
              <a:p>
                <a:r>
                  <a:rPr lang="en-IN" sz="1000" b="1"/>
                  <a:t>Availability Domain</a:t>
                </a:r>
              </a:p>
            </p:txBody>
          </p:sp>
        </p:grpSp>
        <p:pic>
          <p:nvPicPr>
            <p:cNvPr id="44" name="Picture 43">
              <a:extLst>
                <a:ext uri="{FF2B5EF4-FFF2-40B4-BE49-F238E27FC236}">
                  <a16:creationId xmlns:a16="http://schemas.microsoft.com/office/drawing/2014/main" id="{C8A23A3A-2DC2-1B46-3AE8-644A30A27AB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62502" y="1982985"/>
              <a:ext cx="448557" cy="384308"/>
            </a:xfrm>
            <a:prstGeom prst="rect">
              <a:avLst/>
            </a:prstGeom>
          </p:spPr>
        </p:pic>
        <p:sp>
          <p:nvSpPr>
            <p:cNvPr id="45" name="TextBox 44">
              <a:extLst>
                <a:ext uri="{FF2B5EF4-FFF2-40B4-BE49-F238E27FC236}">
                  <a16:creationId xmlns:a16="http://schemas.microsoft.com/office/drawing/2014/main" id="{F7C794A4-E3CC-0A60-D7F9-1A2010268210}"/>
                </a:ext>
              </a:extLst>
            </p:cNvPr>
            <p:cNvSpPr txBox="1"/>
            <p:nvPr/>
          </p:nvSpPr>
          <p:spPr>
            <a:xfrm>
              <a:off x="6249855" y="2341803"/>
              <a:ext cx="741531" cy="210681"/>
            </a:xfrm>
            <a:prstGeom prst="rect">
              <a:avLst/>
            </a:prstGeom>
            <a:noFill/>
          </p:spPr>
          <p:txBody>
            <a:bodyPr wrap="none" rtlCol="0">
              <a:spAutoFit/>
            </a:bodyPr>
            <a:lstStyle/>
            <a:p>
              <a:r>
                <a:rPr lang="en-IN" sz="800" b="1"/>
                <a:t>Cloud Guard</a:t>
              </a:r>
            </a:p>
          </p:txBody>
        </p:sp>
      </p:grpSp>
      <p:grpSp>
        <p:nvGrpSpPr>
          <p:cNvPr id="58" name="Group 57">
            <a:extLst>
              <a:ext uri="{FF2B5EF4-FFF2-40B4-BE49-F238E27FC236}">
                <a16:creationId xmlns:a16="http://schemas.microsoft.com/office/drawing/2014/main" id="{53805087-8788-2AE2-865D-99E12BE18DF2}"/>
              </a:ext>
            </a:extLst>
          </p:cNvPr>
          <p:cNvGrpSpPr/>
          <p:nvPr/>
        </p:nvGrpSpPr>
        <p:grpSpPr>
          <a:xfrm>
            <a:off x="4860568" y="3249999"/>
            <a:ext cx="1437064" cy="2101637"/>
            <a:chOff x="4440439" y="3645414"/>
            <a:chExt cx="1437064" cy="2101637"/>
          </a:xfrm>
        </p:grpSpPr>
        <p:pic>
          <p:nvPicPr>
            <p:cNvPr id="47" name="Picture 6">
              <a:extLst>
                <a:ext uri="{FF2B5EF4-FFF2-40B4-BE49-F238E27FC236}">
                  <a16:creationId xmlns:a16="http://schemas.microsoft.com/office/drawing/2014/main" id="{ED0B79A2-BC70-A3D3-3625-770CDDC3A813}"/>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9787" r="14210"/>
            <a:stretch/>
          </p:blipFill>
          <p:spPr bwMode="auto">
            <a:xfrm>
              <a:off x="5099586" y="3958276"/>
              <a:ext cx="655568" cy="8554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8">
              <a:extLst>
                <a:ext uri="{FF2B5EF4-FFF2-40B4-BE49-F238E27FC236}">
                  <a16:creationId xmlns:a16="http://schemas.microsoft.com/office/drawing/2014/main" id="{5B43AAF2-1FDE-6F1A-A025-419BB638F788}"/>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528" t="51373" r="23982"/>
            <a:stretch/>
          </p:blipFill>
          <p:spPr bwMode="auto">
            <a:xfrm>
              <a:off x="5144000" y="4858003"/>
              <a:ext cx="508098" cy="889048"/>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0">
              <a:extLst>
                <a:ext uri="{FF2B5EF4-FFF2-40B4-BE49-F238E27FC236}">
                  <a16:creationId xmlns:a16="http://schemas.microsoft.com/office/drawing/2014/main" id="{55BE650F-1CA4-43C0-36E6-BF9F7C93624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440439" y="4813754"/>
              <a:ext cx="733637" cy="796882"/>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503D0B94-4896-A0AF-6617-5E8F67475489}"/>
                </a:ext>
              </a:extLst>
            </p:cNvPr>
            <p:cNvSpPr/>
            <p:nvPr/>
          </p:nvSpPr>
          <p:spPr>
            <a:xfrm>
              <a:off x="4494375" y="3645414"/>
              <a:ext cx="1383128" cy="2080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57" name="Connector: Elbow 56">
            <a:extLst>
              <a:ext uri="{FF2B5EF4-FFF2-40B4-BE49-F238E27FC236}">
                <a16:creationId xmlns:a16="http://schemas.microsoft.com/office/drawing/2014/main" id="{D7E86D93-ECD5-3252-F897-20DFD4A94980}"/>
              </a:ext>
            </a:extLst>
          </p:cNvPr>
          <p:cNvCxnSpPr>
            <a:endCxn id="44" idx="1"/>
          </p:cNvCxnSpPr>
          <p:nvPr/>
        </p:nvCxnSpPr>
        <p:spPr>
          <a:xfrm rot="5400000" flipH="1" flipV="1">
            <a:off x="5515420" y="2149574"/>
            <a:ext cx="1474168" cy="710404"/>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9803FEE-BF04-83B8-45AF-8B3E8BF2676A}"/>
              </a:ext>
            </a:extLst>
          </p:cNvPr>
          <p:cNvSpPr txBox="1"/>
          <p:nvPr/>
        </p:nvSpPr>
        <p:spPr>
          <a:xfrm>
            <a:off x="4935272" y="3269800"/>
            <a:ext cx="1201917" cy="246221"/>
          </a:xfrm>
          <a:prstGeom prst="rect">
            <a:avLst/>
          </a:prstGeom>
          <a:noFill/>
        </p:spPr>
        <p:txBody>
          <a:bodyPr wrap="square">
            <a:spAutoFit/>
          </a:bodyPr>
          <a:lstStyle/>
          <a:p>
            <a:pPr algn="just"/>
            <a:r>
              <a:rPr lang="en-IN" sz="1000" b="1" i="0">
                <a:solidFill>
                  <a:srgbClr val="000000"/>
                </a:solidFill>
                <a:effectLst/>
                <a:latin typeface="Helvetica" panose="020B0604020202020204" pitchFamily="34" charset="0"/>
              </a:rPr>
              <a:t> On-Premises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1" name="Google Shape;91;p18"/>
          <p:cNvSpPr txBox="1">
            <a:spLocks noGrp="1"/>
          </p:cNvSpPr>
          <p:nvPr>
            <p:ph type="body" idx="4294967295"/>
          </p:nvPr>
        </p:nvSpPr>
        <p:spPr>
          <a:xfrm>
            <a:off x="-93663" y="614364"/>
            <a:ext cx="12285663" cy="600988"/>
          </a:xfrm>
          <a:prstGeom prst="rect">
            <a:avLst/>
          </a:prstGeom>
        </p:spPr>
        <p:txBody>
          <a:bodyPr spcFirstLastPara="1" vert="horz" wrap="square" lIns="121900" tIns="121900" rIns="121900" bIns="121900" rtlCol="0" anchor="t" anchorCtr="0">
            <a:normAutofit fontScale="25000" lnSpcReduction="20000"/>
          </a:bodyPr>
          <a:lstStyle/>
          <a:p>
            <a:pPr marL="0" indent="0">
              <a:lnSpc>
                <a:spcPct val="150000"/>
              </a:lnSpc>
              <a:spcBef>
                <a:spcPts val="0"/>
              </a:spcBef>
              <a:buClr>
                <a:schemeClr val="dk1"/>
              </a:buClr>
              <a:buSzPct val="30136"/>
              <a:buNone/>
            </a:pPr>
            <a:r>
              <a:rPr lang="en" sz="4867">
                <a:solidFill>
                  <a:schemeClr val="dk1"/>
                </a:solidFill>
                <a:latin typeface="Karla Medium"/>
                <a:ea typeface="Karla Medium"/>
                <a:cs typeface="Karla Medium"/>
                <a:sym typeface="Karla Medium"/>
              </a:rPr>
              <a:t>	</a:t>
            </a:r>
            <a:r>
              <a:rPr lang="en" sz="6400">
                <a:solidFill>
                  <a:schemeClr val="dk1"/>
                </a:solidFill>
                <a:latin typeface="Karla Medium"/>
                <a:ea typeface="Karla Medium"/>
                <a:cs typeface="Karla Medium"/>
                <a:sym typeface="Karla Medium"/>
              </a:rPr>
              <a:t>							</a:t>
            </a:r>
            <a:endParaRPr sz="6400">
              <a:solidFill>
                <a:schemeClr val="dk1"/>
              </a:solidFill>
              <a:latin typeface="Karla Medium"/>
              <a:ea typeface="Karla Medium"/>
              <a:cs typeface="Karla Medium"/>
              <a:sym typeface="Karla Medium"/>
            </a:endParaRPr>
          </a:p>
          <a:p>
            <a:pPr marL="0" indent="0">
              <a:lnSpc>
                <a:spcPct val="150000"/>
              </a:lnSpc>
              <a:spcBef>
                <a:spcPts val="0"/>
              </a:spcBef>
              <a:buNone/>
            </a:pPr>
            <a:endParaRPr sz="6400">
              <a:solidFill>
                <a:schemeClr val="dk1"/>
              </a:solidFill>
              <a:latin typeface="Karla Medium"/>
              <a:ea typeface="Karla Medium"/>
              <a:cs typeface="Karla Medium"/>
              <a:sym typeface="Karla Medium"/>
            </a:endParaRPr>
          </a:p>
          <a:p>
            <a:pPr marL="0" indent="0">
              <a:spcBef>
                <a:spcPts val="1067"/>
              </a:spcBef>
              <a:buClr>
                <a:schemeClr val="dk1"/>
              </a:buClr>
              <a:buSzPts val="770"/>
              <a:buNone/>
            </a:pPr>
            <a:endParaRPr sz="6400">
              <a:solidFill>
                <a:schemeClr val="dk1"/>
              </a:solidFill>
              <a:highlight>
                <a:schemeClr val="lt1"/>
              </a:highlight>
              <a:latin typeface="Karla Medium"/>
              <a:ea typeface="Karla Medium"/>
              <a:cs typeface="Karla Medium"/>
              <a:sym typeface="Karla Medium"/>
            </a:endParaRPr>
          </a:p>
          <a:p>
            <a:pPr marL="0" indent="0">
              <a:spcBef>
                <a:spcPts val="4000"/>
              </a:spcBef>
              <a:buClr>
                <a:schemeClr val="dk1"/>
              </a:buClr>
              <a:buSzPct val="61111"/>
              <a:buNone/>
            </a:pPr>
            <a:endParaRPr/>
          </a:p>
          <a:p>
            <a:pPr marL="0" indent="0">
              <a:spcBef>
                <a:spcPts val="4000"/>
              </a:spcBef>
              <a:buClr>
                <a:schemeClr val="dk1"/>
              </a:buClr>
              <a:buSzPct val="91666"/>
              <a:buNone/>
            </a:pPr>
            <a:endParaRPr sz="1600">
              <a:solidFill>
                <a:schemeClr val="dk1"/>
              </a:solidFill>
              <a:highlight>
                <a:srgbClr val="FFFFFF"/>
              </a:highlight>
              <a:latin typeface="Karla Medium"/>
              <a:ea typeface="Karla Medium"/>
              <a:cs typeface="Karla Medium"/>
              <a:sym typeface="Karla Medium"/>
            </a:endParaRPr>
          </a:p>
          <a:p>
            <a:pPr marL="0" indent="0">
              <a:spcBef>
                <a:spcPts val="2000"/>
              </a:spcBef>
              <a:buClr>
                <a:schemeClr val="dk1"/>
              </a:buClr>
              <a:buSzPct val="91666"/>
              <a:buNone/>
            </a:pPr>
            <a:endParaRPr sz="1600">
              <a:solidFill>
                <a:schemeClr val="dk1"/>
              </a:solidFill>
              <a:highlight>
                <a:srgbClr val="FFFFFF"/>
              </a:highlight>
              <a:latin typeface="Karla Medium"/>
              <a:ea typeface="Karla Medium"/>
              <a:cs typeface="Karla Medium"/>
              <a:sym typeface="Karla Medium"/>
            </a:endParaRPr>
          </a:p>
          <a:p>
            <a:pPr marL="609585" indent="0">
              <a:spcBef>
                <a:spcPts val="2000"/>
              </a:spcBef>
              <a:buNone/>
            </a:pPr>
            <a:endParaRPr sz="1600">
              <a:solidFill>
                <a:schemeClr val="dk1"/>
              </a:solidFill>
              <a:highlight>
                <a:srgbClr val="FFFFFF"/>
              </a:highlight>
              <a:latin typeface="Karla Medium"/>
              <a:ea typeface="Karla Medium"/>
              <a:cs typeface="Karla Medium"/>
              <a:sym typeface="Karla Medium"/>
            </a:endParaRPr>
          </a:p>
          <a:p>
            <a:pPr marL="0" indent="0">
              <a:spcBef>
                <a:spcPts val="4000"/>
              </a:spcBef>
              <a:buClr>
                <a:schemeClr val="dk1"/>
              </a:buClr>
              <a:buSzPct val="91666"/>
              <a:buNone/>
            </a:pPr>
            <a:endParaRPr sz="1600">
              <a:solidFill>
                <a:schemeClr val="dk1"/>
              </a:solidFill>
              <a:highlight>
                <a:srgbClr val="FFFFFF"/>
              </a:highlight>
              <a:latin typeface="Karla Medium"/>
              <a:ea typeface="Karla Medium"/>
              <a:cs typeface="Karla Medium"/>
              <a:sym typeface="Karla Medium"/>
            </a:endParaRPr>
          </a:p>
          <a:p>
            <a:pPr marL="0" indent="0">
              <a:spcBef>
                <a:spcPts val="2000"/>
              </a:spcBef>
              <a:spcAft>
                <a:spcPts val="1600"/>
              </a:spcAft>
              <a:buNone/>
            </a:pPr>
            <a:endParaRPr/>
          </a:p>
        </p:txBody>
      </p:sp>
      <p:sp>
        <p:nvSpPr>
          <p:cNvPr id="92" name="Google Shape;92;p18"/>
          <p:cNvSpPr txBox="1"/>
          <p:nvPr/>
        </p:nvSpPr>
        <p:spPr>
          <a:xfrm>
            <a:off x="327343" y="1413000"/>
            <a:ext cx="3775282" cy="4908996"/>
          </a:xfrm>
          <a:prstGeom prst="rect">
            <a:avLst/>
          </a:prstGeom>
          <a:noFill/>
          <a:ln>
            <a:noFill/>
          </a:ln>
        </p:spPr>
        <p:txBody>
          <a:bodyPr spcFirstLastPara="1" wrap="square" lIns="121900" tIns="121900" rIns="121900" bIns="121900" anchor="t" anchorCtr="0">
            <a:spAutoFit/>
          </a:bodyPr>
          <a:lstStyle/>
          <a:p>
            <a:pPr marL="285750" indent="-285750" algn="just">
              <a:lnSpc>
                <a:spcPct val="150000"/>
              </a:lnSpc>
              <a:buClr>
                <a:schemeClr val="dk1"/>
              </a:buClr>
              <a:buSzPct val="100000"/>
              <a:buFont typeface="Wingdings" panose="05000000000000000000" pitchFamily="2" charset="2"/>
              <a:buChar char="v"/>
            </a:pPr>
            <a:r>
              <a:rPr lang="en" sz="1100" b="1" dirty="0">
                <a:solidFill>
                  <a:schemeClr val="dk1"/>
                </a:solidFill>
                <a:latin typeface="Rockwell" panose="02060603020205020403" pitchFamily="18" charset="0"/>
                <a:ea typeface="Karla"/>
                <a:cs typeface="Karla"/>
                <a:sym typeface="Karla"/>
              </a:rPr>
              <a:t>Threat Intelligence</a:t>
            </a:r>
            <a:r>
              <a:rPr lang="en" sz="1100" dirty="0">
                <a:solidFill>
                  <a:schemeClr val="dk1"/>
                </a:solidFill>
                <a:latin typeface="Rockwell" panose="02060603020205020403" pitchFamily="18" charset="0"/>
                <a:ea typeface="Karla Medium"/>
                <a:cs typeface="Karla Medium"/>
                <a:sym typeface="Karla Medium"/>
              </a:rPr>
              <a:t>:</a:t>
            </a:r>
          </a:p>
          <a:p>
            <a:pPr algn="just">
              <a:lnSpc>
                <a:spcPct val="150000"/>
              </a:lnSpc>
              <a:buClr>
                <a:schemeClr val="dk1"/>
              </a:buClr>
              <a:buSzPts val="1100"/>
            </a:pPr>
            <a:r>
              <a:rPr lang="en" sz="1200" dirty="0">
                <a:solidFill>
                  <a:schemeClr val="dk1"/>
                </a:solidFill>
                <a:latin typeface="Rockwell" panose="02060603020205020403" pitchFamily="18" charset="0"/>
                <a:ea typeface="Karla Medium"/>
                <a:cs typeface="Karla Medium"/>
                <a:sym typeface="Karla Medium"/>
              </a:rPr>
              <a:t>Threat Intelligence aggregates  data across many different sources and curates this data to provide actionable guidance for threat detection and prevention in Oracle Cloud Guard and other  services. </a:t>
            </a:r>
          </a:p>
          <a:p>
            <a:pPr algn="just">
              <a:lnSpc>
                <a:spcPct val="150000"/>
              </a:lnSpc>
              <a:buClr>
                <a:schemeClr val="dk1"/>
              </a:buClr>
              <a:buSzPts val="1100"/>
            </a:pPr>
            <a:endParaRPr sz="1200" dirty="0">
              <a:solidFill>
                <a:schemeClr val="dk1"/>
              </a:solidFill>
              <a:latin typeface="Rockwell" panose="02060603020205020403" pitchFamily="18" charset="0"/>
              <a:ea typeface="Karla Medium"/>
              <a:cs typeface="Karla Medium"/>
              <a:sym typeface="Karla Medium"/>
            </a:endParaRPr>
          </a:p>
          <a:p>
            <a:pPr algn="just">
              <a:lnSpc>
                <a:spcPct val="150000"/>
              </a:lnSpc>
              <a:buClr>
                <a:schemeClr val="dk1"/>
              </a:buClr>
              <a:buSzPts val="1100"/>
            </a:pPr>
            <a:r>
              <a:rPr lang="en" sz="1200" dirty="0">
                <a:solidFill>
                  <a:schemeClr val="dk1"/>
                </a:solidFill>
                <a:latin typeface="Rockwell" panose="02060603020205020403" pitchFamily="18" charset="0"/>
                <a:ea typeface="Karla Medium"/>
                <a:cs typeface="Karla Medium"/>
                <a:sym typeface="Karla Medium"/>
              </a:rPr>
              <a:t>Malicious actors often use known techniques to attack target environments. Contextual information about the threat indicators </a:t>
            </a:r>
            <a:r>
              <a:rPr lang="en-US" sz="1200" dirty="0">
                <a:solidFill>
                  <a:schemeClr val="dk1"/>
                </a:solidFill>
                <a:latin typeface="Rockwell" panose="02060603020205020403" pitchFamily="18" charset="0"/>
                <a:ea typeface="Karla Medium"/>
                <a:cs typeface="Karla Medium"/>
                <a:sym typeface="Karla Medium"/>
              </a:rPr>
              <a:t>found  can help prioritize  alerts and understand threat landscape. When the Threat Detector recipe is enabled in Cloud Guard, it compares data from Threat Intelligence to Audit logs and telemetry to detect suspicious activity and report it as a problem.</a:t>
            </a:r>
            <a:endParaRPr lang="en-US" sz="1200" dirty="0">
              <a:latin typeface="Rockwell" panose="02060603020205020403" pitchFamily="18" charset="0"/>
            </a:endParaRPr>
          </a:p>
          <a:p>
            <a:pPr algn="just">
              <a:lnSpc>
                <a:spcPct val="150000"/>
              </a:lnSpc>
              <a:buClr>
                <a:schemeClr val="dk1"/>
              </a:buClr>
              <a:buSzPts val="1100"/>
            </a:pPr>
            <a:endParaRPr sz="1100" dirty="0">
              <a:solidFill>
                <a:schemeClr val="dk1"/>
              </a:solidFill>
              <a:latin typeface="Rockwell" panose="02060603020205020403" pitchFamily="18" charset="0"/>
              <a:ea typeface="Karla Medium"/>
              <a:cs typeface="Karla Medium"/>
              <a:sym typeface="Karla Medium"/>
            </a:endParaRPr>
          </a:p>
        </p:txBody>
      </p:sp>
      <p:sp>
        <p:nvSpPr>
          <p:cNvPr id="3" name="Google Shape;68;p15">
            <a:extLst>
              <a:ext uri="{FF2B5EF4-FFF2-40B4-BE49-F238E27FC236}">
                <a16:creationId xmlns:a16="http://schemas.microsoft.com/office/drawing/2014/main" id="{A8E68154-FCE1-87F4-8DB5-AB07D881BAE3}"/>
              </a:ext>
            </a:extLst>
          </p:cNvPr>
          <p:cNvSpPr txBox="1">
            <a:spLocks/>
          </p:cNvSpPr>
          <p:nvPr/>
        </p:nvSpPr>
        <p:spPr>
          <a:xfrm>
            <a:off x="327343" y="622591"/>
            <a:ext cx="4174745" cy="679451"/>
          </a:xfrm>
          <a:prstGeom prst="rect">
            <a:avLst/>
          </a:prstGeom>
          <a:noFill/>
        </p:spPr>
        <p:txBody>
          <a:bodyPr spcFirstLastPara="1" wrap="square" lIns="121900" tIns="121900" rIns="121900" bIns="121900" anchor="t" anchorCtr="0">
            <a:normAutofit fontScale="900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OCI - Security Zones</a:t>
            </a:r>
            <a:endParaRPr lang="en-US" sz="3533" dirty="0">
              <a:highlight>
                <a:srgbClr val="FFFFFF"/>
              </a:highlight>
              <a:latin typeface="Rockwell" pitchFamily="18" charset="0"/>
              <a:ea typeface="Karla"/>
              <a:cs typeface="Karla"/>
              <a:sym typeface="Karla"/>
            </a:endParaRPr>
          </a:p>
          <a:p>
            <a:pPr>
              <a:spcBef>
                <a:spcPts val="0"/>
              </a:spcBef>
            </a:pPr>
            <a:endParaRPr lang="en-US" sz="3200" dirty="0">
              <a:latin typeface="Rockwell" panose="02060603020205020403" pitchFamily="18" charset="0"/>
              <a:ea typeface="Karla"/>
              <a:cs typeface="Karla"/>
              <a:sym typeface="Karla"/>
            </a:endParaRPr>
          </a:p>
        </p:txBody>
      </p:sp>
      <p:grpSp>
        <p:nvGrpSpPr>
          <p:cNvPr id="43" name="Group 42">
            <a:extLst>
              <a:ext uri="{FF2B5EF4-FFF2-40B4-BE49-F238E27FC236}">
                <a16:creationId xmlns:a16="http://schemas.microsoft.com/office/drawing/2014/main" id="{74BBB9C7-438F-2C56-31F0-68AAA0E66D73}"/>
              </a:ext>
            </a:extLst>
          </p:cNvPr>
          <p:cNvGrpSpPr/>
          <p:nvPr/>
        </p:nvGrpSpPr>
        <p:grpSpPr>
          <a:xfrm>
            <a:off x="6425290" y="889709"/>
            <a:ext cx="5483757" cy="4610381"/>
            <a:chOff x="6204801" y="1791426"/>
            <a:chExt cx="5483757" cy="4610381"/>
          </a:xfrm>
        </p:grpSpPr>
        <p:grpSp>
          <p:nvGrpSpPr>
            <p:cNvPr id="44" name="Group 43">
              <a:extLst>
                <a:ext uri="{FF2B5EF4-FFF2-40B4-BE49-F238E27FC236}">
                  <a16:creationId xmlns:a16="http://schemas.microsoft.com/office/drawing/2014/main" id="{F23C75F1-0DF2-856A-CDA1-50022F9C0561}"/>
                </a:ext>
              </a:extLst>
            </p:cNvPr>
            <p:cNvGrpSpPr/>
            <p:nvPr/>
          </p:nvGrpSpPr>
          <p:grpSpPr>
            <a:xfrm>
              <a:off x="6204801" y="1791426"/>
              <a:ext cx="5483757" cy="4610381"/>
              <a:chOff x="6270687" y="1659725"/>
              <a:chExt cx="5483757" cy="4610381"/>
            </a:xfrm>
          </p:grpSpPr>
          <p:sp>
            <p:nvSpPr>
              <p:cNvPr id="49" name="Rectangle 48">
                <a:extLst>
                  <a:ext uri="{FF2B5EF4-FFF2-40B4-BE49-F238E27FC236}">
                    <a16:creationId xmlns:a16="http://schemas.microsoft.com/office/drawing/2014/main" id="{32BC4007-BE80-F033-D8C2-4810AFA7C853}"/>
                  </a:ext>
                </a:extLst>
              </p:cNvPr>
              <p:cNvSpPr/>
              <p:nvPr/>
            </p:nvSpPr>
            <p:spPr>
              <a:xfrm>
                <a:off x="7303172" y="1965068"/>
                <a:ext cx="4358625" cy="3958712"/>
              </a:xfrm>
              <a:prstGeom prst="rect">
                <a:avLst/>
              </a:prstGeom>
              <a:solidFill>
                <a:srgbClr val="FDFAE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1BB3C487-A6BF-569D-A67A-E2895FFA5B7F}"/>
                  </a:ext>
                </a:extLst>
              </p:cNvPr>
              <p:cNvSpPr/>
              <p:nvPr/>
            </p:nvSpPr>
            <p:spPr>
              <a:xfrm>
                <a:off x="6468395" y="3739076"/>
                <a:ext cx="5188527" cy="1884813"/>
              </a:xfrm>
              <a:prstGeom prst="rect">
                <a:avLst/>
              </a:prstGeom>
              <a:noFill/>
              <a:ln w="15875" cmpd="tri">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50">
                <a:extLst>
                  <a:ext uri="{FF2B5EF4-FFF2-40B4-BE49-F238E27FC236}">
                    <a16:creationId xmlns:a16="http://schemas.microsoft.com/office/drawing/2014/main" id="{01B20F11-124B-9D74-287E-1699DD91D737}"/>
                  </a:ext>
                </a:extLst>
              </p:cNvPr>
              <p:cNvSpPr/>
              <p:nvPr/>
            </p:nvSpPr>
            <p:spPr>
              <a:xfrm>
                <a:off x="6270687" y="1691279"/>
                <a:ext cx="5483757" cy="4578827"/>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a:extLst>
                  <a:ext uri="{FF2B5EF4-FFF2-40B4-BE49-F238E27FC236}">
                    <a16:creationId xmlns:a16="http://schemas.microsoft.com/office/drawing/2014/main" id="{9A3CEA9B-8F9D-3DA2-1229-DF4CFBD457F5}"/>
                  </a:ext>
                </a:extLst>
              </p:cNvPr>
              <p:cNvSpPr/>
              <p:nvPr/>
            </p:nvSpPr>
            <p:spPr>
              <a:xfrm>
                <a:off x="7154895" y="2248420"/>
                <a:ext cx="4157304" cy="135778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a:extLst>
                  <a:ext uri="{FF2B5EF4-FFF2-40B4-BE49-F238E27FC236}">
                    <a16:creationId xmlns:a16="http://schemas.microsoft.com/office/drawing/2014/main" id="{8656BBB3-921C-C39E-A88B-4C09259C2112}"/>
                  </a:ext>
                </a:extLst>
              </p:cNvPr>
              <p:cNvSpPr txBox="1"/>
              <p:nvPr/>
            </p:nvSpPr>
            <p:spPr>
              <a:xfrm>
                <a:off x="6270687" y="1659725"/>
                <a:ext cx="1212191" cy="246221"/>
              </a:xfrm>
              <a:prstGeom prst="rect">
                <a:avLst/>
              </a:prstGeom>
              <a:noFill/>
            </p:spPr>
            <p:txBody>
              <a:bodyPr wrap="none" rtlCol="0">
                <a:spAutoFit/>
              </a:bodyPr>
              <a:lstStyle/>
              <a:p>
                <a:r>
                  <a:rPr lang="en-IN" sz="1000" b="1"/>
                  <a:t>Tenancy (San Jose) </a:t>
                </a:r>
              </a:p>
            </p:txBody>
          </p:sp>
          <p:pic>
            <p:nvPicPr>
              <p:cNvPr id="54" name="Picture 53">
                <a:extLst>
                  <a:ext uri="{FF2B5EF4-FFF2-40B4-BE49-F238E27FC236}">
                    <a16:creationId xmlns:a16="http://schemas.microsoft.com/office/drawing/2014/main" id="{E1A8F0AD-267D-B1A0-830E-706DF2413A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7261" y="2176028"/>
                <a:ext cx="314786" cy="203080"/>
              </a:xfrm>
              <a:prstGeom prst="rect">
                <a:avLst/>
              </a:prstGeom>
            </p:spPr>
          </p:pic>
          <p:sp>
            <p:nvSpPr>
              <p:cNvPr id="55" name="TextBox 54">
                <a:extLst>
                  <a:ext uri="{FF2B5EF4-FFF2-40B4-BE49-F238E27FC236}">
                    <a16:creationId xmlns:a16="http://schemas.microsoft.com/office/drawing/2014/main" id="{28156247-21BB-5F2D-2CFA-F996EA3E7AA4}"/>
                  </a:ext>
                </a:extLst>
              </p:cNvPr>
              <p:cNvSpPr txBox="1"/>
              <p:nvPr/>
            </p:nvSpPr>
            <p:spPr>
              <a:xfrm>
                <a:off x="7284744" y="2207407"/>
                <a:ext cx="2273047"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sp>
            <p:nvSpPr>
              <p:cNvPr id="56" name="Rectangle 55">
                <a:extLst>
                  <a:ext uri="{FF2B5EF4-FFF2-40B4-BE49-F238E27FC236}">
                    <a16:creationId xmlns:a16="http://schemas.microsoft.com/office/drawing/2014/main" id="{01EEF201-A57C-32A7-7345-AC9F2593BAC7}"/>
                  </a:ext>
                </a:extLst>
              </p:cNvPr>
              <p:cNvSpPr/>
              <p:nvPr/>
            </p:nvSpPr>
            <p:spPr>
              <a:xfrm>
                <a:off x="7054504" y="3990114"/>
                <a:ext cx="4292552" cy="148815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7" name="Picture 56">
                <a:extLst>
                  <a:ext uri="{FF2B5EF4-FFF2-40B4-BE49-F238E27FC236}">
                    <a16:creationId xmlns:a16="http://schemas.microsoft.com/office/drawing/2014/main" id="{2BC6FE8F-02B8-0769-6B90-C6E9973796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92822" y="3913243"/>
                <a:ext cx="302040" cy="211647"/>
              </a:xfrm>
              <a:prstGeom prst="rect">
                <a:avLst/>
              </a:prstGeom>
            </p:spPr>
          </p:pic>
          <p:sp>
            <p:nvSpPr>
              <p:cNvPr id="58" name="TextBox 57">
                <a:extLst>
                  <a:ext uri="{FF2B5EF4-FFF2-40B4-BE49-F238E27FC236}">
                    <a16:creationId xmlns:a16="http://schemas.microsoft.com/office/drawing/2014/main" id="{71DE252D-3032-C87E-1745-4F1BCB4C9321}"/>
                  </a:ext>
                </a:extLst>
              </p:cNvPr>
              <p:cNvSpPr txBox="1"/>
              <p:nvPr/>
            </p:nvSpPr>
            <p:spPr>
              <a:xfrm>
                <a:off x="7257108" y="3990114"/>
                <a:ext cx="1119474"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pic>
            <p:nvPicPr>
              <p:cNvPr id="59" name="Picture 58">
                <a:extLst>
                  <a:ext uri="{FF2B5EF4-FFF2-40B4-BE49-F238E27FC236}">
                    <a16:creationId xmlns:a16="http://schemas.microsoft.com/office/drawing/2014/main" id="{500B7AEA-64C4-68D4-8C17-AC766841D4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49286" y="4537734"/>
                <a:ext cx="448134" cy="363067"/>
              </a:xfrm>
              <a:prstGeom prst="rect">
                <a:avLst/>
              </a:prstGeom>
            </p:spPr>
          </p:pic>
          <p:pic>
            <p:nvPicPr>
              <p:cNvPr id="60" name="Picture 59">
                <a:extLst>
                  <a:ext uri="{FF2B5EF4-FFF2-40B4-BE49-F238E27FC236}">
                    <a16:creationId xmlns:a16="http://schemas.microsoft.com/office/drawing/2014/main" id="{E783752F-86CA-8142-F1A1-F8A81B926AE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25839" y="4484915"/>
                <a:ext cx="415895" cy="422636"/>
              </a:xfrm>
              <a:prstGeom prst="rect">
                <a:avLst/>
              </a:prstGeom>
            </p:spPr>
          </p:pic>
          <p:pic>
            <p:nvPicPr>
              <p:cNvPr id="61" name="Picture 60">
                <a:extLst>
                  <a:ext uri="{FF2B5EF4-FFF2-40B4-BE49-F238E27FC236}">
                    <a16:creationId xmlns:a16="http://schemas.microsoft.com/office/drawing/2014/main" id="{6FF3A70B-4679-C8EB-E6AF-D3A653F15F2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90591" y="4484915"/>
                <a:ext cx="504639" cy="468706"/>
              </a:xfrm>
              <a:prstGeom prst="rect">
                <a:avLst/>
              </a:prstGeom>
            </p:spPr>
          </p:pic>
          <p:sp>
            <p:nvSpPr>
              <p:cNvPr id="62" name="Rectangle 61">
                <a:extLst>
                  <a:ext uri="{FF2B5EF4-FFF2-40B4-BE49-F238E27FC236}">
                    <a16:creationId xmlns:a16="http://schemas.microsoft.com/office/drawing/2014/main" id="{D6993340-D904-4217-E0EE-8A23E0B2B13D}"/>
                  </a:ext>
                </a:extLst>
              </p:cNvPr>
              <p:cNvSpPr/>
              <p:nvPr/>
            </p:nvSpPr>
            <p:spPr>
              <a:xfrm>
                <a:off x="10045733" y="4209401"/>
                <a:ext cx="1153075" cy="1018290"/>
              </a:xfrm>
              <a:prstGeom prst="rect">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668891FE-36A0-B6EE-EAE9-433389032077}"/>
                  </a:ext>
                </a:extLst>
              </p:cNvPr>
              <p:cNvSpPr txBox="1"/>
              <p:nvPr/>
            </p:nvSpPr>
            <p:spPr>
              <a:xfrm>
                <a:off x="10012580" y="4191054"/>
                <a:ext cx="1153075" cy="353943"/>
              </a:xfrm>
              <a:prstGeom prst="rect">
                <a:avLst/>
              </a:prstGeom>
              <a:noFill/>
            </p:spPr>
            <p:txBody>
              <a:bodyPr wrap="square">
                <a:spAutoFit/>
              </a:bodyPr>
              <a:lstStyle/>
              <a:p>
                <a:pPr algn="ctr"/>
                <a:r>
                  <a:rPr lang="en-IN" sz="850" b="1">
                    <a:solidFill>
                      <a:srgbClr val="000000"/>
                    </a:solidFill>
                    <a:latin typeface="Helvetica" panose="020B0604020202020204" pitchFamily="34" charset="0"/>
                  </a:rPr>
                  <a:t>Oracle Services </a:t>
                </a:r>
              </a:p>
              <a:p>
                <a:pPr algn="ctr"/>
                <a:r>
                  <a:rPr lang="en-IN" sz="850" b="1">
                    <a:solidFill>
                      <a:srgbClr val="000000"/>
                    </a:solidFill>
                    <a:latin typeface="Helvetica" panose="020B0604020202020204" pitchFamily="34" charset="0"/>
                  </a:rPr>
                  <a:t>Network</a:t>
                </a:r>
                <a:endParaRPr lang="en-IN" sz="850" b="1" i="0">
                  <a:solidFill>
                    <a:srgbClr val="000000"/>
                  </a:solidFill>
                  <a:effectLst/>
                  <a:latin typeface="Helvetica" panose="020B0604020202020204" pitchFamily="34" charset="0"/>
                </a:endParaRPr>
              </a:p>
            </p:txBody>
          </p:sp>
          <p:sp>
            <p:nvSpPr>
              <p:cNvPr id="64" name="TextBox 63">
                <a:extLst>
                  <a:ext uri="{FF2B5EF4-FFF2-40B4-BE49-F238E27FC236}">
                    <a16:creationId xmlns:a16="http://schemas.microsoft.com/office/drawing/2014/main" id="{E6C51262-828F-C9AB-98D4-C96BEE0BF1C9}"/>
                  </a:ext>
                </a:extLst>
              </p:cNvPr>
              <p:cNvSpPr txBox="1"/>
              <p:nvPr/>
            </p:nvSpPr>
            <p:spPr>
              <a:xfrm>
                <a:off x="10416388" y="4851871"/>
                <a:ext cx="652953" cy="338554"/>
              </a:xfrm>
              <a:prstGeom prst="rect">
                <a:avLst/>
              </a:prstGeom>
              <a:noFill/>
            </p:spPr>
            <p:txBody>
              <a:bodyPr wrap="square">
                <a:spAutoFit/>
              </a:bodyPr>
              <a:lstStyle/>
              <a:p>
                <a:pPr algn="just"/>
                <a:r>
                  <a:rPr lang="en-IN" sz="800" b="1" i="0">
                    <a:solidFill>
                      <a:srgbClr val="000000"/>
                    </a:solidFill>
                    <a:effectLst/>
                    <a:latin typeface="Helvetica" panose="020B0604020202020204" pitchFamily="34" charset="0"/>
                  </a:rPr>
                  <a:t>Object </a:t>
                </a:r>
              </a:p>
              <a:p>
                <a:pPr algn="just"/>
                <a:r>
                  <a:rPr lang="en-IN" sz="800" b="1" i="0">
                    <a:solidFill>
                      <a:srgbClr val="000000"/>
                    </a:solidFill>
                    <a:effectLst/>
                    <a:latin typeface="Helvetica" panose="020B0604020202020204" pitchFamily="34" charset="0"/>
                  </a:rPr>
                  <a:t>Storage</a:t>
                </a:r>
              </a:p>
            </p:txBody>
          </p:sp>
          <p:sp>
            <p:nvSpPr>
              <p:cNvPr id="65" name="Rectangle 64">
                <a:extLst>
                  <a:ext uri="{FF2B5EF4-FFF2-40B4-BE49-F238E27FC236}">
                    <a16:creationId xmlns:a16="http://schemas.microsoft.com/office/drawing/2014/main" id="{0A17493E-5318-2DF8-BEB1-17439BF94438}"/>
                  </a:ext>
                </a:extLst>
              </p:cNvPr>
              <p:cNvSpPr/>
              <p:nvPr/>
            </p:nvSpPr>
            <p:spPr>
              <a:xfrm>
                <a:off x="7950739" y="4252500"/>
                <a:ext cx="1932374" cy="962620"/>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TextBox 65">
                <a:extLst>
                  <a:ext uri="{FF2B5EF4-FFF2-40B4-BE49-F238E27FC236}">
                    <a16:creationId xmlns:a16="http://schemas.microsoft.com/office/drawing/2014/main" id="{455490F2-EF85-94E9-ECF9-E4B37F99ECF7}"/>
                  </a:ext>
                </a:extLst>
              </p:cNvPr>
              <p:cNvSpPr txBox="1"/>
              <p:nvPr/>
            </p:nvSpPr>
            <p:spPr>
              <a:xfrm>
                <a:off x="7906685" y="4222917"/>
                <a:ext cx="968175" cy="246221"/>
              </a:xfrm>
              <a:prstGeom prst="rect">
                <a:avLst/>
              </a:prstGeom>
              <a:noFill/>
            </p:spPr>
            <p:txBody>
              <a:bodyPr wrap="square" rtlCol="0">
                <a:spAutoFit/>
              </a:bodyPr>
              <a:lstStyle/>
              <a:p>
                <a:r>
                  <a:rPr lang="en-IN" sz="1000"/>
                  <a:t>Private subnet</a:t>
                </a:r>
              </a:p>
            </p:txBody>
          </p:sp>
          <p:sp>
            <p:nvSpPr>
              <p:cNvPr id="67" name="TextBox 66">
                <a:extLst>
                  <a:ext uri="{FF2B5EF4-FFF2-40B4-BE49-F238E27FC236}">
                    <a16:creationId xmlns:a16="http://schemas.microsoft.com/office/drawing/2014/main" id="{5C7ADA39-E404-6AD1-4FB8-C098E36D9FCC}"/>
                  </a:ext>
                </a:extLst>
              </p:cNvPr>
              <p:cNvSpPr txBox="1"/>
              <p:nvPr/>
            </p:nvSpPr>
            <p:spPr>
              <a:xfrm>
                <a:off x="8240523" y="4863595"/>
                <a:ext cx="483179" cy="233531"/>
              </a:xfrm>
              <a:prstGeom prst="rect">
                <a:avLst/>
              </a:prstGeom>
              <a:noFill/>
            </p:spPr>
            <p:txBody>
              <a:bodyPr wrap="square" rtlCol="0">
                <a:spAutoFit/>
              </a:bodyPr>
              <a:lstStyle/>
              <a:p>
                <a:r>
                  <a:rPr lang="en-IN" sz="1000" b="1">
                    <a:solidFill>
                      <a:schemeClr val="tx1">
                        <a:lumMod val="95000"/>
                        <a:lumOff val="5000"/>
                      </a:schemeClr>
                    </a:solidFill>
                  </a:rPr>
                  <a:t>VM</a:t>
                </a:r>
              </a:p>
            </p:txBody>
          </p:sp>
          <p:sp>
            <p:nvSpPr>
              <p:cNvPr id="68" name="TextBox 67">
                <a:extLst>
                  <a:ext uri="{FF2B5EF4-FFF2-40B4-BE49-F238E27FC236}">
                    <a16:creationId xmlns:a16="http://schemas.microsoft.com/office/drawing/2014/main" id="{48528762-9EE6-0D8B-5973-AF6658CD5EFB}"/>
                  </a:ext>
                </a:extLst>
              </p:cNvPr>
              <p:cNvSpPr txBox="1"/>
              <p:nvPr/>
            </p:nvSpPr>
            <p:spPr>
              <a:xfrm>
                <a:off x="9251813" y="4898095"/>
                <a:ext cx="483179" cy="233531"/>
              </a:xfrm>
              <a:prstGeom prst="rect">
                <a:avLst/>
              </a:prstGeom>
              <a:noFill/>
            </p:spPr>
            <p:txBody>
              <a:bodyPr wrap="square" rtlCol="0">
                <a:spAutoFit/>
              </a:bodyPr>
              <a:lstStyle/>
              <a:p>
                <a:r>
                  <a:rPr lang="en-IN" sz="1000" b="1">
                    <a:solidFill>
                      <a:schemeClr val="tx1">
                        <a:lumMod val="95000"/>
                        <a:lumOff val="5000"/>
                      </a:schemeClr>
                    </a:solidFill>
                  </a:rPr>
                  <a:t>ATP</a:t>
                </a:r>
              </a:p>
            </p:txBody>
          </p:sp>
          <p:pic>
            <p:nvPicPr>
              <p:cNvPr id="69" name="Picture 68">
                <a:extLst>
                  <a:ext uri="{FF2B5EF4-FFF2-40B4-BE49-F238E27FC236}">
                    <a16:creationId xmlns:a16="http://schemas.microsoft.com/office/drawing/2014/main" id="{5F23BD85-BE22-0C81-5BC9-1CD53EEC4E5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66041" y="2615303"/>
                <a:ext cx="415895" cy="422636"/>
              </a:xfrm>
              <a:prstGeom prst="rect">
                <a:avLst/>
              </a:prstGeom>
            </p:spPr>
          </p:pic>
          <p:pic>
            <p:nvPicPr>
              <p:cNvPr id="70" name="Picture 69">
                <a:extLst>
                  <a:ext uri="{FF2B5EF4-FFF2-40B4-BE49-F238E27FC236}">
                    <a16:creationId xmlns:a16="http://schemas.microsoft.com/office/drawing/2014/main" id="{F533B221-BC5C-04FF-4A58-1C9544A4944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630793" y="2615303"/>
                <a:ext cx="504639" cy="468706"/>
              </a:xfrm>
              <a:prstGeom prst="rect">
                <a:avLst/>
              </a:prstGeom>
            </p:spPr>
          </p:pic>
          <p:sp>
            <p:nvSpPr>
              <p:cNvPr id="71" name="TextBox 70">
                <a:extLst>
                  <a:ext uri="{FF2B5EF4-FFF2-40B4-BE49-F238E27FC236}">
                    <a16:creationId xmlns:a16="http://schemas.microsoft.com/office/drawing/2014/main" id="{D242F4BF-6023-4FDC-0EE1-D48C9DA01C51}"/>
                  </a:ext>
                </a:extLst>
              </p:cNvPr>
              <p:cNvSpPr txBox="1"/>
              <p:nvPr/>
            </p:nvSpPr>
            <p:spPr>
              <a:xfrm>
                <a:off x="8680725" y="2993983"/>
                <a:ext cx="483179" cy="233531"/>
              </a:xfrm>
              <a:prstGeom prst="rect">
                <a:avLst/>
              </a:prstGeom>
              <a:noFill/>
            </p:spPr>
            <p:txBody>
              <a:bodyPr wrap="square" rtlCol="0">
                <a:spAutoFit/>
              </a:bodyPr>
              <a:lstStyle/>
              <a:p>
                <a:r>
                  <a:rPr lang="en-IN" sz="1000" b="1">
                    <a:solidFill>
                      <a:schemeClr val="tx1">
                        <a:lumMod val="95000"/>
                        <a:lumOff val="5000"/>
                      </a:schemeClr>
                    </a:solidFill>
                  </a:rPr>
                  <a:t>VM</a:t>
                </a:r>
              </a:p>
            </p:txBody>
          </p:sp>
          <p:sp>
            <p:nvSpPr>
              <p:cNvPr id="72" name="TextBox 71">
                <a:extLst>
                  <a:ext uri="{FF2B5EF4-FFF2-40B4-BE49-F238E27FC236}">
                    <a16:creationId xmlns:a16="http://schemas.microsoft.com/office/drawing/2014/main" id="{2BD8C870-3007-3D02-5BB7-2FC1A1CD1DA1}"/>
                  </a:ext>
                </a:extLst>
              </p:cNvPr>
              <p:cNvSpPr txBox="1"/>
              <p:nvPr/>
            </p:nvSpPr>
            <p:spPr>
              <a:xfrm>
                <a:off x="9692015" y="3028483"/>
                <a:ext cx="483179" cy="233531"/>
              </a:xfrm>
              <a:prstGeom prst="rect">
                <a:avLst/>
              </a:prstGeom>
              <a:noFill/>
            </p:spPr>
            <p:txBody>
              <a:bodyPr wrap="square" rtlCol="0">
                <a:spAutoFit/>
              </a:bodyPr>
              <a:lstStyle/>
              <a:p>
                <a:r>
                  <a:rPr lang="en-IN" sz="1000" b="1">
                    <a:solidFill>
                      <a:schemeClr val="tx1">
                        <a:lumMod val="95000"/>
                        <a:lumOff val="5000"/>
                      </a:schemeClr>
                    </a:solidFill>
                  </a:rPr>
                  <a:t>ATP</a:t>
                </a:r>
              </a:p>
            </p:txBody>
          </p:sp>
          <p:sp>
            <p:nvSpPr>
              <p:cNvPr id="73" name="TextBox 72">
                <a:extLst>
                  <a:ext uri="{FF2B5EF4-FFF2-40B4-BE49-F238E27FC236}">
                    <a16:creationId xmlns:a16="http://schemas.microsoft.com/office/drawing/2014/main" id="{655A3CC4-752E-A50C-79B8-9D68EB737E22}"/>
                  </a:ext>
                </a:extLst>
              </p:cNvPr>
              <p:cNvSpPr txBox="1"/>
              <p:nvPr/>
            </p:nvSpPr>
            <p:spPr>
              <a:xfrm>
                <a:off x="6791459" y="3730770"/>
                <a:ext cx="1119474"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Security Zone</a:t>
                </a:r>
              </a:p>
            </p:txBody>
          </p:sp>
          <p:pic>
            <p:nvPicPr>
              <p:cNvPr id="74" name="Picture 73">
                <a:extLst>
                  <a:ext uri="{FF2B5EF4-FFF2-40B4-BE49-F238E27FC236}">
                    <a16:creationId xmlns:a16="http://schemas.microsoft.com/office/drawing/2014/main" id="{73E484C5-E2F2-0F36-9208-F1285AFE685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39494" y="3531209"/>
                <a:ext cx="367197" cy="382034"/>
              </a:xfrm>
              <a:prstGeom prst="rect">
                <a:avLst/>
              </a:prstGeom>
            </p:spPr>
          </p:pic>
          <p:sp>
            <p:nvSpPr>
              <p:cNvPr id="75" name="TextBox 74">
                <a:extLst>
                  <a:ext uri="{FF2B5EF4-FFF2-40B4-BE49-F238E27FC236}">
                    <a16:creationId xmlns:a16="http://schemas.microsoft.com/office/drawing/2014/main" id="{20DB66A2-8567-7BFA-78EB-3841F4C2F9A0}"/>
                  </a:ext>
                </a:extLst>
              </p:cNvPr>
              <p:cNvSpPr txBox="1"/>
              <p:nvPr/>
            </p:nvSpPr>
            <p:spPr>
              <a:xfrm>
                <a:off x="8784359" y="1929807"/>
                <a:ext cx="1228221" cy="246221"/>
              </a:xfrm>
              <a:prstGeom prst="rect">
                <a:avLst/>
              </a:prstGeom>
              <a:noFill/>
            </p:spPr>
            <p:txBody>
              <a:bodyPr wrap="none" rtlCol="0">
                <a:spAutoFit/>
              </a:bodyPr>
              <a:lstStyle/>
              <a:p>
                <a:r>
                  <a:rPr lang="en-IN" sz="1000" b="1"/>
                  <a:t>Availability Domain</a:t>
                </a:r>
              </a:p>
            </p:txBody>
          </p:sp>
        </p:grpSp>
        <p:pic>
          <p:nvPicPr>
            <p:cNvPr id="45" name="Picture 44">
              <a:extLst>
                <a:ext uri="{FF2B5EF4-FFF2-40B4-BE49-F238E27FC236}">
                  <a16:creationId xmlns:a16="http://schemas.microsoft.com/office/drawing/2014/main" id="{60753D59-D7A5-40F1-ABE3-FF6D189AC94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83497" y="5803046"/>
              <a:ext cx="269422" cy="273789"/>
            </a:xfrm>
            <a:prstGeom prst="rect">
              <a:avLst/>
            </a:prstGeom>
          </p:spPr>
        </p:pic>
        <p:sp>
          <p:nvSpPr>
            <p:cNvPr id="46" name="TextBox 45">
              <a:extLst>
                <a:ext uri="{FF2B5EF4-FFF2-40B4-BE49-F238E27FC236}">
                  <a16:creationId xmlns:a16="http://schemas.microsoft.com/office/drawing/2014/main" id="{7EC426D3-F347-8EB8-C671-E61A7134CC11}"/>
                </a:ext>
              </a:extLst>
            </p:cNvPr>
            <p:cNvSpPr txBox="1"/>
            <p:nvPr/>
          </p:nvSpPr>
          <p:spPr>
            <a:xfrm>
              <a:off x="6285333" y="6032475"/>
              <a:ext cx="966891" cy="3693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Security Zone </a:t>
              </a:r>
            </a:p>
            <a:p>
              <a:pPr algn="just"/>
              <a:r>
                <a:rPr lang="en-IN" sz="900" b="1" i="0">
                  <a:solidFill>
                    <a:srgbClr val="000000"/>
                  </a:solidFill>
                  <a:effectLst/>
                  <a:latin typeface="Helvetica" panose="020B0604020202020204" pitchFamily="34" charset="0"/>
                </a:rPr>
                <a:t>Recipe</a:t>
              </a:r>
            </a:p>
          </p:txBody>
        </p:sp>
        <p:pic>
          <p:nvPicPr>
            <p:cNvPr id="47" name="Picture 46">
              <a:extLst>
                <a:ext uri="{FF2B5EF4-FFF2-40B4-BE49-F238E27FC236}">
                  <a16:creationId xmlns:a16="http://schemas.microsoft.com/office/drawing/2014/main" id="{0CA04858-FDEE-AAB0-7178-D93687C72CF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62502" y="1982985"/>
              <a:ext cx="448557" cy="384308"/>
            </a:xfrm>
            <a:prstGeom prst="rect">
              <a:avLst/>
            </a:prstGeom>
          </p:spPr>
        </p:pic>
        <p:sp>
          <p:nvSpPr>
            <p:cNvPr id="48" name="TextBox 47">
              <a:extLst>
                <a:ext uri="{FF2B5EF4-FFF2-40B4-BE49-F238E27FC236}">
                  <a16:creationId xmlns:a16="http://schemas.microsoft.com/office/drawing/2014/main" id="{6CF15D4E-DB64-C8F7-2BE3-E5076FEA7D6F}"/>
                </a:ext>
              </a:extLst>
            </p:cNvPr>
            <p:cNvSpPr txBox="1"/>
            <p:nvPr/>
          </p:nvSpPr>
          <p:spPr>
            <a:xfrm>
              <a:off x="6249855" y="2341803"/>
              <a:ext cx="741531" cy="210681"/>
            </a:xfrm>
            <a:prstGeom prst="rect">
              <a:avLst/>
            </a:prstGeom>
            <a:noFill/>
          </p:spPr>
          <p:txBody>
            <a:bodyPr wrap="none" rtlCol="0">
              <a:spAutoFit/>
            </a:bodyPr>
            <a:lstStyle/>
            <a:p>
              <a:r>
                <a:rPr lang="en-IN" sz="800" b="1"/>
                <a:t>Cloud Guard</a:t>
              </a:r>
            </a:p>
          </p:txBody>
        </p:sp>
      </p:grpSp>
      <p:grpSp>
        <p:nvGrpSpPr>
          <p:cNvPr id="76" name="Group 75">
            <a:extLst>
              <a:ext uri="{FF2B5EF4-FFF2-40B4-BE49-F238E27FC236}">
                <a16:creationId xmlns:a16="http://schemas.microsoft.com/office/drawing/2014/main" id="{736EE267-4D8C-5652-4F15-1ED8E0DAF470}"/>
              </a:ext>
            </a:extLst>
          </p:cNvPr>
          <p:cNvGrpSpPr/>
          <p:nvPr/>
        </p:nvGrpSpPr>
        <p:grpSpPr>
          <a:xfrm>
            <a:off x="4654622" y="2747489"/>
            <a:ext cx="1437064" cy="2101637"/>
            <a:chOff x="4440439" y="3645414"/>
            <a:chExt cx="1437064" cy="2101637"/>
          </a:xfrm>
        </p:grpSpPr>
        <p:pic>
          <p:nvPicPr>
            <p:cNvPr id="77" name="Picture 6">
              <a:extLst>
                <a:ext uri="{FF2B5EF4-FFF2-40B4-BE49-F238E27FC236}">
                  <a16:creationId xmlns:a16="http://schemas.microsoft.com/office/drawing/2014/main" id="{FCEF0DC4-1581-053C-1AB4-1919BE7159BF}"/>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9787" r="14210"/>
            <a:stretch/>
          </p:blipFill>
          <p:spPr bwMode="auto">
            <a:xfrm>
              <a:off x="5099586" y="3958276"/>
              <a:ext cx="655568" cy="855478"/>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8">
              <a:extLst>
                <a:ext uri="{FF2B5EF4-FFF2-40B4-BE49-F238E27FC236}">
                  <a16:creationId xmlns:a16="http://schemas.microsoft.com/office/drawing/2014/main" id="{1B857CC0-70C0-E4FE-7340-4F8376648185}"/>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4528" t="51373" r="23982"/>
            <a:stretch/>
          </p:blipFill>
          <p:spPr bwMode="auto">
            <a:xfrm>
              <a:off x="5144000" y="4858003"/>
              <a:ext cx="508098" cy="88904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0">
              <a:extLst>
                <a:ext uri="{FF2B5EF4-FFF2-40B4-BE49-F238E27FC236}">
                  <a16:creationId xmlns:a16="http://schemas.microsoft.com/office/drawing/2014/main" id="{EA87699B-1147-05E3-5B6E-7FED07E92BE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440439" y="4813754"/>
              <a:ext cx="733637" cy="796882"/>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80">
              <a:extLst>
                <a:ext uri="{FF2B5EF4-FFF2-40B4-BE49-F238E27FC236}">
                  <a16:creationId xmlns:a16="http://schemas.microsoft.com/office/drawing/2014/main" id="{9317BC52-2714-C540-7B92-41A4D8FCB439}"/>
                </a:ext>
              </a:extLst>
            </p:cNvPr>
            <p:cNvSpPr/>
            <p:nvPr/>
          </p:nvSpPr>
          <p:spPr>
            <a:xfrm>
              <a:off x="4494375" y="3645414"/>
              <a:ext cx="1383128" cy="2080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82" name="Connector: Elbow 81">
            <a:extLst>
              <a:ext uri="{FF2B5EF4-FFF2-40B4-BE49-F238E27FC236}">
                <a16:creationId xmlns:a16="http://schemas.microsoft.com/office/drawing/2014/main" id="{113E57B7-AE45-C77C-2E95-C4D53BDF2938}"/>
              </a:ext>
            </a:extLst>
          </p:cNvPr>
          <p:cNvCxnSpPr>
            <a:endCxn id="47" idx="1"/>
          </p:cNvCxnSpPr>
          <p:nvPr/>
        </p:nvCxnSpPr>
        <p:spPr>
          <a:xfrm rot="5400000" flipH="1" flipV="1">
            <a:off x="5490705" y="1655304"/>
            <a:ext cx="1474168" cy="710404"/>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4A4C9B3-F2CF-9B65-82B0-B759196967FC}"/>
              </a:ext>
            </a:extLst>
          </p:cNvPr>
          <p:cNvSpPr txBox="1"/>
          <p:nvPr/>
        </p:nvSpPr>
        <p:spPr>
          <a:xfrm>
            <a:off x="4700170" y="2755728"/>
            <a:ext cx="1362880" cy="246221"/>
          </a:xfrm>
          <a:prstGeom prst="rect">
            <a:avLst/>
          </a:prstGeom>
          <a:noFill/>
        </p:spPr>
        <p:txBody>
          <a:bodyPr wrap="square">
            <a:spAutoFit/>
          </a:bodyPr>
          <a:lstStyle/>
          <a:p>
            <a:pPr algn="just"/>
            <a:r>
              <a:rPr lang="en-IN" sz="1000" b="1" i="0">
                <a:solidFill>
                  <a:srgbClr val="000000"/>
                </a:solidFill>
                <a:effectLst/>
                <a:latin typeface="Helvetica" panose="020B0604020202020204" pitchFamily="34" charset="0"/>
              </a:rPr>
              <a:t>On-Premises</a:t>
            </a:r>
          </a:p>
        </p:txBody>
      </p:sp>
    </p:spTree>
    <p:extLst>
      <p:ext uri="{BB962C8B-B14F-4D97-AF65-F5344CB8AC3E}">
        <p14:creationId xmlns:p14="http://schemas.microsoft.com/office/powerpoint/2010/main" val="1605484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7"/>
        <p:cNvGrpSpPr/>
        <p:nvPr/>
      </p:nvGrpSpPr>
      <p:grpSpPr>
        <a:xfrm>
          <a:off x="0" y="0"/>
          <a:ext cx="0" cy="0"/>
          <a:chOff x="0" y="0"/>
          <a:chExt cx="0" cy="0"/>
        </a:xfrm>
      </p:grpSpPr>
      <p:grpSp>
        <p:nvGrpSpPr>
          <p:cNvPr id="36" name="Group 35"/>
          <p:cNvGrpSpPr/>
          <p:nvPr/>
        </p:nvGrpSpPr>
        <p:grpSpPr>
          <a:xfrm>
            <a:off x="3955056" y="281449"/>
            <a:ext cx="7779889" cy="5445601"/>
            <a:chOff x="4703623" y="1984442"/>
            <a:chExt cx="6364059" cy="4105073"/>
          </a:xfrm>
        </p:grpSpPr>
        <p:sp>
          <p:nvSpPr>
            <p:cNvPr id="3" name="Rectangle 2">
              <a:extLst>
                <a:ext uri="{FF2B5EF4-FFF2-40B4-BE49-F238E27FC236}">
                  <a16:creationId xmlns:a16="http://schemas.microsoft.com/office/drawing/2014/main" id="{4C0995E0-264A-EC9C-9751-912814D828B3}"/>
                </a:ext>
              </a:extLst>
            </p:cNvPr>
            <p:cNvSpPr/>
            <p:nvPr/>
          </p:nvSpPr>
          <p:spPr>
            <a:xfrm>
              <a:off x="6585619" y="1984442"/>
              <a:ext cx="4482063" cy="4105073"/>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EF30341-F07A-2A31-A4A6-5F0CB079FB6C}"/>
                </a:ext>
              </a:extLst>
            </p:cNvPr>
            <p:cNvSpPr txBox="1"/>
            <p:nvPr/>
          </p:nvSpPr>
          <p:spPr>
            <a:xfrm>
              <a:off x="6587192" y="2007595"/>
              <a:ext cx="1241045" cy="246221"/>
            </a:xfrm>
            <a:prstGeom prst="rect">
              <a:avLst/>
            </a:prstGeom>
            <a:noFill/>
          </p:spPr>
          <p:txBody>
            <a:bodyPr wrap="none" rtlCol="0">
              <a:spAutoFit/>
            </a:bodyPr>
            <a:lstStyle/>
            <a:p>
              <a:r>
                <a:rPr lang="en-IN" sz="1000" b="1"/>
                <a:t> Tenancy (San Jose) </a:t>
              </a:r>
            </a:p>
          </p:txBody>
        </p:sp>
        <p:sp>
          <p:nvSpPr>
            <p:cNvPr id="8" name="Rectangle 7">
              <a:extLst>
                <a:ext uri="{FF2B5EF4-FFF2-40B4-BE49-F238E27FC236}">
                  <a16:creationId xmlns:a16="http://schemas.microsoft.com/office/drawing/2014/main" id="{2E0756A2-37FC-28F5-E97E-990C32287513}"/>
                </a:ext>
              </a:extLst>
            </p:cNvPr>
            <p:cNvSpPr/>
            <p:nvPr/>
          </p:nvSpPr>
          <p:spPr>
            <a:xfrm>
              <a:off x="7120641" y="2652319"/>
              <a:ext cx="3832698" cy="33349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0AC4B3FF-2EE4-DDB9-C080-3A61AA33AE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1729" y="2579867"/>
              <a:ext cx="277310" cy="207822"/>
            </a:xfrm>
            <a:prstGeom prst="rect">
              <a:avLst/>
            </a:prstGeom>
          </p:spPr>
        </p:pic>
        <p:sp>
          <p:nvSpPr>
            <p:cNvPr id="10" name="TextBox 9">
              <a:extLst>
                <a:ext uri="{FF2B5EF4-FFF2-40B4-BE49-F238E27FC236}">
                  <a16:creationId xmlns:a16="http://schemas.microsoft.com/office/drawing/2014/main" id="{878D03ED-7B1E-1F45-24CA-5B92FF426FA4}"/>
                </a:ext>
              </a:extLst>
            </p:cNvPr>
            <p:cNvSpPr txBox="1"/>
            <p:nvPr/>
          </p:nvSpPr>
          <p:spPr>
            <a:xfrm>
              <a:off x="7323746" y="2663650"/>
              <a:ext cx="1720819"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sp>
          <p:nvSpPr>
            <p:cNvPr id="11" name="Rectangle 10">
              <a:extLst>
                <a:ext uri="{FF2B5EF4-FFF2-40B4-BE49-F238E27FC236}">
                  <a16:creationId xmlns:a16="http://schemas.microsoft.com/office/drawing/2014/main" id="{D74499F8-143A-F877-5EED-3ABEEAC4EAAC}"/>
                </a:ext>
              </a:extLst>
            </p:cNvPr>
            <p:cNvSpPr/>
            <p:nvPr/>
          </p:nvSpPr>
          <p:spPr>
            <a:xfrm>
              <a:off x="7453371" y="3058885"/>
              <a:ext cx="3388610" cy="27910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30BBE0E7-38E2-8525-2C42-07AF1AA815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9039" y="2986433"/>
              <a:ext cx="277310" cy="207822"/>
            </a:xfrm>
            <a:prstGeom prst="rect">
              <a:avLst/>
            </a:prstGeom>
          </p:spPr>
        </p:pic>
        <p:sp>
          <p:nvSpPr>
            <p:cNvPr id="13" name="TextBox 12">
              <a:extLst>
                <a:ext uri="{FF2B5EF4-FFF2-40B4-BE49-F238E27FC236}">
                  <a16:creationId xmlns:a16="http://schemas.microsoft.com/office/drawing/2014/main" id="{E97831E0-975B-FAD0-10BB-8151E88F6B4F}"/>
                </a:ext>
              </a:extLst>
            </p:cNvPr>
            <p:cNvSpPr txBox="1"/>
            <p:nvPr/>
          </p:nvSpPr>
          <p:spPr>
            <a:xfrm>
              <a:off x="7634197" y="3090344"/>
              <a:ext cx="1720819"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pic>
          <p:nvPicPr>
            <p:cNvPr id="15" name="Picture 14">
              <a:extLst>
                <a:ext uri="{FF2B5EF4-FFF2-40B4-BE49-F238E27FC236}">
                  <a16:creationId xmlns:a16="http://schemas.microsoft.com/office/drawing/2014/main" id="{35EDA875-B6A1-2535-D1F3-628D425F63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24963" y="3396909"/>
              <a:ext cx="457912" cy="457912"/>
            </a:xfrm>
            <a:prstGeom prst="rect">
              <a:avLst/>
            </a:prstGeom>
          </p:spPr>
        </p:pic>
        <p:pic>
          <p:nvPicPr>
            <p:cNvPr id="17" name="Picture 16">
              <a:extLst>
                <a:ext uri="{FF2B5EF4-FFF2-40B4-BE49-F238E27FC236}">
                  <a16:creationId xmlns:a16="http://schemas.microsoft.com/office/drawing/2014/main" id="{CF8274D0-88F9-CCA2-BBB1-0BC6569041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23852" y="4670936"/>
              <a:ext cx="478665" cy="437928"/>
            </a:xfrm>
            <a:prstGeom prst="rect">
              <a:avLst/>
            </a:prstGeom>
          </p:spPr>
        </p:pic>
        <p:sp>
          <p:nvSpPr>
            <p:cNvPr id="18" name="Rectangle 17">
              <a:extLst>
                <a:ext uri="{FF2B5EF4-FFF2-40B4-BE49-F238E27FC236}">
                  <a16:creationId xmlns:a16="http://schemas.microsoft.com/office/drawing/2014/main" id="{82285448-2857-D3E5-C1A5-CD54E59F5CF4}"/>
                </a:ext>
              </a:extLst>
            </p:cNvPr>
            <p:cNvSpPr/>
            <p:nvPr/>
          </p:nvSpPr>
          <p:spPr>
            <a:xfrm>
              <a:off x="7634197" y="4454402"/>
              <a:ext cx="3101332" cy="96390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6F266179-FC57-272D-755E-053F8DE5B242}"/>
                </a:ext>
              </a:extLst>
            </p:cNvPr>
            <p:cNvSpPr txBox="1"/>
            <p:nvPr/>
          </p:nvSpPr>
          <p:spPr>
            <a:xfrm>
              <a:off x="7723853" y="5068451"/>
              <a:ext cx="719750" cy="215444"/>
            </a:xfrm>
            <a:prstGeom prst="rect">
              <a:avLst/>
            </a:prstGeom>
            <a:noFill/>
          </p:spPr>
          <p:txBody>
            <a:bodyPr wrap="square">
              <a:spAutoFit/>
            </a:bodyPr>
            <a:lstStyle/>
            <a:p>
              <a:pPr algn="just"/>
              <a:r>
                <a:rPr lang="en-IN" sz="800" b="1" i="0">
                  <a:solidFill>
                    <a:srgbClr val="000000"/>
                  </a:solidFill>
                  <a:effectLst/>
                  <a:latin typeface="Helvetica" panose="020B0604020202020204" pitchFamily="34" charset="0"/>
                </a:rPr>
                <a:t>Key Vault</a:t>
              </a:r>
            </a:p>
          </p:txBody>
        </p:sp>
        <p:sp>
          <p:nvSpPr>
            <p:cNvPr id="20" name="TextBox 19">
              <a:extLst>
                <a:ext uri="{FF2B5EF4-FFF2-40B4-BE49-F238E27FC236}">
                  <a16:creationId xmlns:a16="http://schemas.microsoft.com/office/drawing/2014/main" id="{311FFBE3-8CEB-EA44-DF6D-DE24F7E9BD79}"/>
                </a:ext>
              </a:extLst>
            </p:cNvPr>
            <p:cNvSpPr txBox="1"/>
            <p:nvPr/>
          </p:nvSpPr>
          <p:spPr>
            <a:xfrm>
              <a:off x="8570417" y="4493654"/>
              <a:ext cx="2165112" cy="507831"/>
            </a:xfrm>
            <a:prstGeom prst="rect">
              <a:avLst/>
            </a:prstGeom>
            <a:noFill/>
          </p:spPr>
          <p:txBody>
            <a:bodyPr wrap="square" rtlCol="0">
              <a:spAutoFit/>
            </a:bodyPr>
            <a:lstStyle/>
            <a:p>
              <a:r>
                <a:rPr lang="en-IN" sz="900" b="1"/>
                <a:t>User- Managed key</a:t>
              </a:r>
            </a:p>
            <a:p>
              <a:pPr marL="198438" indent="-198438">
                <a:buFont typeface="Arial" panose="020B0604020202020204" pitchFamily="34" charset="0"/>
                <a:buChar char="•"/>
              </a:pPr>
              <a:r>
                <a:rPr lang="en-IN" sz="900"/>
                <a:t>Visual private vault (HSM partition)</a:t>
              </a:r>
            </a:p>
            <a:p>
              <a:pPr marL="198438" indent="-198438">
                <a:buFont typeface="Arial" panose="020B0604020202020204" pitchFamily="34" charset="0"/>
                <a:buChar char="•"/>
              </a:pPr>
              <a:r>
                <a:rPr lang="en-IN" sz="900"/>
                <a:t>Storage of master key (MEK)</a:t>
              </a:r>
            </a:p>
          </p:txBody>
        </p:sp>
        <p:pic>
          <p:nvPicPr>
            <p:cNvPr id="21" name="Picture 20">
              <a:extLst>
                <a:ext uri="{FF2B5EF4-FFF2-40B4-BE49-F238E27FC236}">
                  <a16:creationId xmlns:a16="http://schemas.microsoft.com/office/drawing/2014/main" id="{2A067E70-A635-081B-6B60-F1B662D268A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09502" y="2248498"/>
              <a:ext cx="448557" cy="384308"/>
            </a:xfrm>
            <a:prstGeom prst="rect">
              <a:avLst/>
            </a:prstGeom>
          </p:spPr>
        </p:pic>
        <p:sp>
          <p:nvSpPr>
            <p:cNvPr id="22" name="TextBox 21">
              <a:extLst>
                <a:ext uri="{FF2B5EF4-FFF2-40B4-BE49-F238E27FC236}">
                  <a16:creationId xmlns:a16="http://schemas.microsoft.com/office/drawing/2014/main" id="{8A29C173-D7AF-D1BF-E1D1-21A6720D0D43}"/>
                </a:ext>
              </a:extLst>
            </p:cNvPr>
            <p:cNvSpPr txBox="1"/>
            <p:nvPr/>
          </p:nvSpPr>
          <p:spPr>
            <a:xfrm>
              <a:off x="7081729" y="2333946"/>
              <a:ext cx="741531" cy="210681"/>
            </a:xfrm>
            <a:prstGeom prst="rect">
              <a:avLst/>
            </a:prstGeom>
            <a:noFill/>
          </p:spPr>
          <p:txBody>
            <a:bodyPr wrap="none" rtlCol="0">
              <a:spAutoFit/>
            </a:bodyPr>
            <a:lstStyle/>
            <a:p>
              <a:r>
                <a:rPr lang="en-IN" sz="800" b="1"/>
                <a:t>Cloud Guard</a:t>
              </a:r>
            </a:p>
          </p:txBody>
        </p:sp>
        <p:sp>
          <p:nvSpPr>
            <p:cNvPr id="23" name="TextBox 22">
              <a:extLst>
                <a:ext uri="{FF2B5EF4-FFF2-40B4-BE49-F238E27FC236}">
                  <a16:creationId xmlns:a16="http://schemas.microsoft.com/office/drawing/2014/main" id="{73C90F52-298D-D8A1-697E-41485BC35811}"/>
                </a:ext>
              </a:extLst>
            </p:cNvPr>
            <p:cNvSpPr txBox="1"/>
            <p:nvPr/>
          </p:nvSpPr>
          <p:spPr>
            <a:xfrm>
              <a:off x="8377578" y="3860876"/>
              <a:ext cx="599433" cy="215444"/>
            </a:xfrm>
            <a:prstGeom prst="rect">
              <a:avLst/>
            </a:prstGeom>
            <a:noFill/>
          </p:spPr>
          <p:txBody>
            <a:bodyPr wrap="square">
              <a:spAutoFit/>
            </a:bodyPr>
            <a:lstStyle/>
            <a:p>
              <a:pPr algn="just"/>
              <a:r>
                <a:rPr lang="en-IN" sz="800" b="1" i="0">
                  <a:solidFill>
                    <a:srgbClr val="000000"/>
                  </a:solidFill>
                  <a:effectLst/>
                  <a:latin typeface="Helvetica" panose="020B0604020202020204" pitchFamily="34" charset="0"/>
                </a:rPr>
                <a:t>Bucket</a:t>
              </a:r>
            </a:p>
          </p:txBody>
        </p:sp>
        <p:cxnSp>
          <p:nvCxnSpPr>
            <p:cNvPr id="27" name="Connector: Elbow 26">
              <a:extLst>
                <a:ext uri="{FF2B5EF4-FFF2-40B4-BE49-F238E27FC236}">
                  <a16:creationId xmlns:a16="http://schemas.microsoft.com/office/drawing/2014/main" id="{1F995D9C-F7AE-CD0C-D412-B4B63E2456D5}"/>
                </a:ext>
              </a:extLst>
            </p:cNvPr>
            <p:cNvCxnSpPr>
              <a:cxnSpLocks/>
            </p:cNvCxnSpPr>
            <p:nvPr/>
          </p:nvCxnSpPr>
          <p:spPr>
            <a:xfrm rot="5400000" flipH="1" flipV="1">
              <a:off x="7765032" y="3794471"/>
              <a:ext cx="908870" cy="410991"/>
            </a:xfrm>
            <a:prstGeom prst="bentConnector2">
              <a:avLst/>
            </a:prstGeom>
            <a:ln w="19050">
              <a:solidFill>
                <a:schemeClr val="tx1">
                  <a:lumMod val="95000"/>
                  <a:lumOff val="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0B7D5AF-DBDD-BAAF-93A1-12D19353DB03}"/>
                </a:ext>
              </a:extLst>
            </p:cNvPr>
            <p:cNvSpPr txBox="1"/>
            <p:nvPr/>
          </p:nvSpPr>
          <p:spPr>
            <a:xfrm>
              <a:off x="8941482" y="3358717"/>
              <a:ext cx="1837992" cy="646331"/>
            </a:xfrm>
            <a:prstGeom prst="rect">
              <a:avLst/>
            </a:prstGeom>
            <a:noFill/>
          </p:spPr>
          <p:txBody>
            <a:bodyPr wrap="square" rtlCol="0">
              <a:spAutoFit/>
            </a:bodyPr>
            <a:lstStyle/>
            <a:p>
              <a:pPr marL="171450" indent="-171450">
                <a:buFontTx/>
                <a:buChar char="-"/>
              </a:pPr>
              <a:r>
                <a:rPr lang="en-IN" sz="900"/>
                <a:t>Archiving immutable audit log in bucket</a:t>
              </a:r>
            </a:p>
            <a:p>
              <a:pPr marL="171450" indent="-171450">
                <a:buFontTx/>
                <a:buChar char="-"/>
              </a:pPr>
              <a:r>
                <a:rPr lang="en-IN" sz="900"/>
                <a:t>Locked time-bound retention policy</a:t>
              </a:r>
            </a:p>
          </p:txBody>
        </p:sp>
        <p:grpSp>
          <p:nvGrpSpPr>
            <p:cNvPr id="5" name="Group 28">
              <a:extLst>
                <a:ext uri="{FF2B5EF4-FFF2-40B4-BE49-F238E27FC236}">
                  <a16:creationId xmlns:a16="http://schemas.microsoft.com/office/drawing/2014/main" id="{19847305-656B-8D4A-2BAF-7AA9C651727D}"/>
                </a:ext>
              </a:extLst>
            </p:cNvPr>
            <p:cNvGrpSpPr/>
            <p:nvPr/>
          </p:nvGrpSpPr>
          <p:grpSpPr>
            <a:xfrm>
              <a:off x="4703623" y="3885588"/>
              <a:ext cx="1437064" cy="2101637"/>
              <a:chOff x="4440439" y="3645414"/>
              <a:chExt cx="1437064" cy="2101637"/>
            </a:xfrm>
          </p:grpSpPr>
          <p:pic>
            <p:nvPicPr>
              <p:cNvPr id="30" name="Picture 6">
                <a:extLst>
                  <a:ext uri="{FF2B5EF4-FFF2-40B4-BE49-F238E27FC236}">
                    <a16:creationId xmlns:a16="http://schemas.microsoft.com/office/drawing/2014/main" id="{FDAAFD74-693A-B544-756B-CBE472225EF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9787" r="14210"/>
              <a:stretch/>
            </p:blipFill>
            <p:spPr bwMode="auto">
              <a:xfrm>
                <a:off x="5099586" y="3958276"/>
                <a:ext cx="655568" cy="85547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a:extLst>
                  <a:ext uri="{FF2B5EF4-FFF2-40B4-BE49-F238E27FC236}">
                    <a16:creationId xmlns:a16="http://schemas.microsoft.com/office/drawing/2014/main" id="{04527F08-7D5A-8A16-3D7B-36F905D975CA}"/>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4528" t="51373" r="23982"/>
              <a:stretch/>
            </p:blipFill>
            <p:spPr bwMode="auto">
              <a:xfrm>
                <a:off x="5144000" y="4858003"/>
                <a:ext cx="508098" cy="8890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0">
                <a:extLst>
                  <a:ext uri="{FF2B5EF4-FFF2-40B4-BE49-F238E27FC236}">
                    <a16:creationId xmlns:a16="http://schemas.microsoft.com/office/drawing/2014/main" id="{624499AD-3933-368A-D463-83D9952F3E1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40439" y="4813754"/>
                <a:ext cx="733637" cy="796882"/>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079B5DE5-FC52-85FD-37F9-B2557373FABA}"/>
                  </a:ext>
                </a:extLst>
              </p:cNvPr>
              <p:cNvSpPr/>
              <p:nvPr/>
            </p:nvSpPr>
            <p:spPr>
              <a:xfrm>
                <a:off x="4494375" y="3645414"/>
                <a:ext cx="1383128" cy="2080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5" name="Connector: Elbow 34">
              <a:extLst>
                <a:ext uri="{FF2B5EF4-FFF2-40B4-BE49-F238E27FC236}">
                  <a16:creationId xmlns:a16="http://schemas.microsoft.com/office/drawing/2014/main" id="{91C03FF6-8F7B-E682-1286-6BD215C50615}"/>
                </a:ext>
              </a:extLst>
            </p:cNvPr>
            <p:cNvCxnSpPr/>
            <p:nvPr/>
          </p:nvCxnSpPr>
          <p:spPr>
            <a:xfrm rot="5400000" flipH="1" flipV="1">
              <a:off x="5630322" y="2801640"/>
              <a:ext cx="1474168" cy="710404"/>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0A475C7-2192-F29A-51D9-44C59F1401FD}"/>
                </a:ext>
              </a:extLst>
            </p:cNvPr>
            <p:cNvSpPr txBox="1"/>
            <p:nvPr/>
          </p:nvSpPr>
          <p:spPr>
            <a:xfrm>
              <a:off x="4783156" y="3893926"/>
              <a:ext cx="1687727" cy="246221"/>
            </a:xfrm>
            <a:prstGeom prst="rect">
              <a:avLst/>
            </a:prstGeom>
            <a:noFill/>
          </p:spPr>
          <p:txBody>
            <a:bodyPr wrap="square">
              <a:spAutoFit/>
            </a:bodyPr>
            <a:lstStyle/>
            <a:p>
              <a:pPr algn="just"/>
              <a:r>
                <a:rPr lang="en-IN" sz="1000" b="1" i="0">
                  <a:solidFill>
                    <a:srgbClr val="000000"/>
                  </a:solidFill>
                  <a:effectLst/>
                  <a:latin typeface="Helvetica" panose="020B0604020202020204" pitchFamily="34" charset="0"/>
                </a:rPr>
                <a:t> On-Premises</a:t>
              </a:r>
            </a:p>
          </p:txBody>
        </p:sp>
      </p:grpSp>
      <p:sp>
        <p:nvSpPr>
          <p:cNvPr id="37" name="Google Shape;68;p15">
            <a:extLst>
              <a:ext uri="{FF2B5EF4-FFF2-40B4-BE49-F238E27FC236}">
                <a16:creationId xmlns:a16="http://schemas.microsoft.com/office/drawing/2014/main" id="{B6E0FD6A-E058-6EEF-AA32-B10358948AB6}"/>
              </a:ext>
            </a:extLst>
          </p:cNvPr>
          <p:cNvSpPr txBox="1">
            <a:spLocks/>
          </p:cNvSpPr>
          <p:nvPr/>
        </p:nvSpPr>
        <p:spPr>
          <a:xfrm>
            <a:off x="229752" y="281449"/>
            <a:ext cx="4174745" cy="679451"/>
          </a:xfrm>
          <a:prstGeom prst="rect">
            <a:avLst/>
          </a:prstGeom>
          <a:noFill/>
        </p:spPr>
        <p:txBody>
          <a:bodyPr spcFirstLastPara="1" wrap="square" lIns="121900" tIns="121900" rIns="121900" bIns="121900" anchor="t" anchorCtr="0">
            <a:normAutofit fontScale="900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OCI - Vault</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sp>
        <p:nvSpPr>
          <p:cNvPr id="38" name="Google Shape;111;p20"/>
          <p:cNvSpPr txBox="1"/>
          <p:nvPr/>
        </p:nvSpPr>
        <p:spPr>
          <a:xfrm>
            <a:off x="357251" y="1367226"/>
            <a:ext cx="3597805" cy="3847167"/>
          </a:xfrm>
          <a:prstGeom prst="rect">
            <a:avLst/>
          </a:prstGeom>
          <a:noFill/>
          <a:ln>
            <a:noFill/>
          </a:ln>
        </p:spPr>
        <p:txBody>
          <a:bodyPr spcFirstLastPara="1" wrap="square" lIns="121900" tIns="121900" rIns="121900" bIns="121900" anchor="t" anchorCtr="0">
            <a:spAutoFit/>
          </a:bodyPr>
          <a:lstStyle/>
          <a:p>
            <a:pPr algn="just">
              <a:lnSpc>
                <a:spcPct val="150000"/>
              </a:lnSpc>
              <a:buClr>
                <a:schemeClr val="dk1"/>
              </a:buClr>
              <a:buSzPts val="1018"/>
            </a:pPr>
            <a:r>
              <a:rPr lang="en" sz="1200" dirty="0">
                <a:solidFill>
                  <a:schemeClr val="dk1"/>
                </a:solidFill>
                <a:highlight>
                  <a:schemeClr val="lt1"/>
                </a:highlight>
                <a:latin typeface="Rockwell" panose="02060603020205020403" pitchFamily="18" charset="0"/>
                <a:ea typeface="Karla Medium"/>
                <a:cs typeface="Karla Medium"/>
                <a:sym typeface="Karla Medium"/>
              </a:rPr>
              <a:t>Vault services manages the Vaults, keys and Secrets. </a:t>
            </a:r>
            <a:r>
              <a:rPr lang="en" sz="1200" dirty="0">
                <a:solidFill>
                  <a:schemeClr val="dk1"/>
                </a:solidFill>
                <a:latin typeface="Rockwell" panose="02060603020205020403" pitchFamily="18" charset="0"/>
                <a:ea typeface="Karla Medium"/>
                <a:cs typeface="Karla Medium"/>
                <a:sym typeface="Karla Medium"/>
              </a:rPr>
              <a:t>A vault includes the encryption keys and secret credentials that protects data and connect to secured resources. Customer-managed resources have complete control over  access to vaults, keys, and secrets. </a:t>
            </a:r>
          </a:p>
          <a:p>
            <a:pPr algn="just">
              <a:lnSpc>
                <a:spcPct val="150000"/>
              </a:lnSpc>
              <a:buClr>
                <a:schemeClr val="dk1"/>
              </a:buClr>
              <a:buSzPts val="1018"/>
            </a:pPr>
            <a:endParaRPr lang="en" sz="1200" dirty="0">
              <a:solidFill>
                <a:schemeClr val="dk1"/>
              </a:solidFill>
              <a:latin typeface="Rockwell" panose="02060603020205020403" pitchFamily="18" charset="0"/>
              <a:ea typeface="Karla Medium"/>
              <a:cs typeface="Karla Medium"/>
              <a:sym typeface="Karla Medium"/>
            </a:endParaRPr>
          </a:p>
          <a:p>
            <a:pPr algn="just">
              <a:lnSpc>
                <a:spcPct val="150000"/>
              </a:lnSpc>
              <a:buClr>
                <a:schemeClr val="dk1"/>
              </a:buClr>
              <a:buSzPts val="1018"/>
            </a:pPr>
            <a:r>
              <a:rPr kumimoji="0" lang="en-US" sz="1200" b="0" i="0" u="none" strike="noStrike" kern="1200" cap="none" spc="0" normalizeH="0" baseline="0" noProof="0" dirty="0">
                <a:ln>
                  <a:noFill/>
                </a:ln>
                <a:solidFill>
                  <a:schemeClr val="dk1"/>
                </a:solidFill>
                <a:effectLst/>
                <a:uLnTx/>
                <a:uFillTx/>
                <a:latin typeface="Rockwell" panose="02060603020205020403" pitchFamily="18" charset="0"/>
                <a:ea typeface="Karla Medium"/>
                <a:cs typeface="Karla Medium"/>
                <a:sym typeface="Karla Medium"/>
              </a:rPr>
              <a:t>Keys are stored on highly available and durable </a:t>
            </a:r>
            <a:r>
              <a:rPr kumimoji="0" lang="en-US" sz="1200" b="1" i="0" u="none" strike="noStrike" kern="1200" cap="none" spc="0" normalizeH="0" baseline="0" noProof="0" dirty="0">
                <a:ln>
                  <a:noFill/>
                </a:ln>
                <a:solidFill>
                  <a:schemeClr val="dk1"/>
                </a:solidFill>
                <a:effectLst/>
                <a:uLnTx/>
                <a:uFillTx/>
                <a:latin typeface="Rockwell" panose="02060603020205020403" pitchFamily="18" charset="0"/>
                <a:ea typeface="Karla"/>
                <a:cs typeface="Karla"/>
                <a:sym typeface="Karla"/>
              </a:rPr>
              <a:t>hardware security modules (HSM)</a:t>
            </a:r>
            <a:r>
              <a:rPr kumimoji="0" lang="en-US" sz="1200" b="0" i="0" u="none" strike="noStrike" kern="1200" cap="none" spc="0" normalizeH="0" baseline="0" noProof="0" dirty="0">
                <a:ln>
                  <a:noFill/>
                </a:ln>
                <a:solidFill>
                  <a:schemeClr val="dk1"/>
                </a:solidFill>
                <a:effectLst/>
                <a:uLnTx/>
                <a:uFillTx/>
                <a:latin typeface="Rockwell" panose="02060603020205020403" pitchFamily="18" charset="0"/>
                <a:ea typeface="Karla Medium"/>
                <a:cs typeface="Karla Medium"/>
                <a:sym typeface="Karla Medium"/>
              </a:rPr>
              <a:t> that meet Federal Information Processing Standards (FIPS) 140-2 Security Level 3 security certification.</a:t>
            </a:r>
          </a:p>
          <a:p>
            <a:pPr algn="just">
              <a:lnSpc>
                <a:spcPct val="150000"/>
              </a:lnSpc>
              <a:buClr>
                <a:schemeClr val="dk1"/>
              </a:buClr>
              <a:buSzPts val="1018"/>
            </a:pPr>
            <a:endParaRPr sz="1200" dirty="0">
              <a:latin typeface="Rockwell" panose="02060603020205020403" pitchFamily="18" charset="0"/>
              <a:ea typeface="Karla Medium"/>
              <a:cs typeface="Karla Medium"/>
              <a:sym typeface="Karla Medium"/>
            </a:endParaRPr>
          </a:p>
        </p:txBody>
      </p:sp>
      <p:sp>
        <p:nvSpPr>
          <p:cNvPr id="39" name="Google Shape;109;p20"/>
          <p:cNvSpPr txBox="1">
            <a:spLocks/>
          </p:cNvSpPr>
          <p:nvPr/>
        </p:nvSpPr>
        <p:spPr>
          <a:xfrm>
            <a:off x="357251" y="3715012"/>
            <a:ext cx="4989106" cy="1260642"/>
          </a:xfrm>
          <a:prstGeom prst="rect">
            <a:avLst/>
          </a:prstGeom>
        </p:spPr>
        <p:txBody>
          <a:bodyPr spcFirstLastPara="1" vert="horz" wrap="square" lIns="121900" tIns="121900" rIns="121900" bIns="121900" rtlCol="0" anchor="t" anchorCtr="0">
            <a:noAutofit/>
          </a:bodyPr>
          <a:lstStyle/>
          <a:p>
            <a:pPr marL="0" marR="0" lvl="0" indent="0" algn="just" defTabSz="914400" rtl="0" eaLnBrk="1" fontAlgn="auto" latinLnBrk="0" hangingPunct="1">
              <a:lnSpc>
                <a:spcPct val="150000"/>
              </a:lnSpc>
              <a:spcBef>
                <a:spcPts val="0"/>
              </a:spcBef>
              <a:spcAft>
                <a:spcPts val="0"/>
              </a:spcAft>
              <a:buClr>
                <a:schemeClr val="dk1"/>
              </a:buClr>
              <a:buSzPts val="1018"/>
              <a:buFont typeface="Arial"/>
              <a:buNone/>
              <a:tabLst/>
              <a:defRPr/>
            </a:pPr>
            <a:r>
              <a:rPr kumimoji="0" lang="en-US" sz="1200" b="1" i="0" u="none" strike="noStrike" kern="1200" cap="none" spc="0" normalizeH="0" baseline="0" noProof="0" dirty="0">
                <a:ln>
                  <a:noFill/>
                </a:ln>
                <a:solidFill>
                  <a:schemeClr val="dk1"/>
                </a:solidFill>
                <a:effectLst/>
                <a:uLnTx/>
                <a:uFillTx/>
                <a:latin typeface="Rockwell" panose="02060603020205020403" pitchFamily="18" charset="0"/>
                <a:ea typeface="Karla"/>
                <a:cs typeface="Karla"/>
                <a:sym typeface="Karla"/>
              </a:rPr>
              <a:t> </a:t>
            </a:r>
            <a:endParaRPr kumimoji="0" lang="en-US" sz="1200" b="1" i="0" u="none" strike="noStrike" kern="1200" cap="none" spc="0" normalizeH="0" baseline="0" noProof="0" dirty="0">
              <a:ln>
                <a:noFill/>
              </a:ln>
              <a:solidFill>
                <a:schemeClr val="tx1"/>
              </a:solidFill>
              <a:effectLst/>
              <a:uLnTx/>
              <a:uFillTx/>
              <a:latin typeface="Rockwell" panose="02060603020205020403" pitchFamily="18" charset="0"/>
              <a:ea typeface="Karla"/>
              <a:cs typeface="Karla"/>
              <a:sym typeface="Karl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7"/>
        <p:cNvGrpSpPr/>
        <p:nvPr/>
      </p:nvGrpSpPr>
      <p:grpSpPr>
        <a:xfrm>
          <a:off x="0" y="0"/>
          <a:ext cx="0" cy="0"/>
          <a:chOff x="0" y="0"/>
          <a:chExt cx="0" cy="0"/>
        </a:xfrm>
      </p:grpSpPr>
      <p:sp>
        <p:nvSpPr>
          <p:cNvPr id="109" name="Google Shape;109;p20"/>
          <p:cNvSpPr txBox="1">
            <a:spLocks noGrp="1"/>
          </p:cNvSpPr>
          <p:nvPr>
            <p:ph type="body" idx="4294967295"/>
          </p:nvPr>
        </p:nvSpPr>
        <p:spPr>
          <a:xfrm>
            <a:off x="1811548" y="1552756"/>
            <a:ext cx="9083614" cy="3907766"/>
          </a:xfrm>
          <a:prstGeom prst="rect">
            <a:avLst/>
          </a:prstGeom>
        </p:spPr>
        <p:txBody>
          <a:bodyPr spcFirstLastPara="1" vert="horz" wrap="square" lIns="121900" tIns="121900" rIns="121900" bIns="121900" rtlCol="0" anchor="t" anchorCtr="0">
            <a:noAutofit/>
          </a:bodyPr>
          <a:lstStyle/>
          <a:p>
            <a:pPr marL="0" indent="0" algn="just">
              <a:lnSpc>
                <a:spcPct val="150000"/>
              </a:lnSpc>
              <a:spcBef>
                <a:spcPts val="0"/>
              </a:spcBef>
              <a:buNone/>
            </a:pPr>
            <a:r>
              <a:rPr lang="en" sz="1400" dirty="0">
                <a:solidFill>
                  <a:schemeClr val="dk1"/>
                </a:solidFill>
                <a:latin typeface="Rockwell" panose="02060603020205020403" pitchFamily="18" charset="0"/>
                <a:ea typeface="Karla Medium"/>
                <a:cs typeface="Karla Medium"/>
                <a:sym typeface="Karla Medium"/>
              </a:rPr>
              <a:t>Secrets and secret versions are </a:t>
            </a:r>
            <a:r>
              <a:rPr lang="en" sz="1400" b="1" dirty="0">
                <a:solidFill>
                  <a:schemeClr val="dk1"/>
                </a:solidFill>
                <a:latin typeface="Rockwell" panose="02060603020205020403" pitchFamily="18" charset="0"/>
                <a:ea typeface="Karla"/>
                <a:cs typeface="Karla"/>
                <a:sym typeface="Karla"/>
              </a:rPr>
              <a:t>base64-encoded</a:t>
            </a:r>
            <a:r>
              <a:rPr lang="en" sz="1400" dirty="0">
                <a:solidFill>
                  <a:schemeClr val="dk1"/>
                </a:solidFill>
                <a:latin typeface="Rockwell" panose="02060603020205020403" pitchFamily="18" charset="0"/>
                <a:ea typeface="Karla Medium"/>
                <a:cs typeface="Karla Medium"/>
                <a:sym typeface="Karla Medium"/>
              </a:rPr>
              <a:t> and encrypted with master encryption keys, but do not reside within the HSM. </a:t>
            </a:r>
          </a:p>
          <a:p>
            <a:pPr marL="0" indent="0" algn="just">
              <a:lnSpc>
                <a:spcPct val="150000"/>
              </a:lnSpc>
              <a:spcBef>
                <a:spcPts val="0"/>
              </a:spcBef>
              <a:buNone/>
            </a:pPr>
            <a:endParaRPr lang="en" sz="1400" dirty="0">
              <a:solidFill>
                <a:schemeClr val="dk1"/>
              </a:solidFill>
              <a:latin typeface="Rockwell" panose="02060603020205020403" pitchFamily="18" charset="0"/>
              <a:ea typeface="Karla Medium"/>
              <a:cs typeface="Karla Medium"/>
              <a:sym typeface="Karla Medium"/>
            </a:endParaRPr>
          </a:p>
          <a:p>
            <a:pPr marL="0" indent="0" algn="just">
              <a:lnSpc>
                <a:spcPct val="150000"/>
              </a:lnSpc>
              <a:spcBef>
                <a:spcPts val="0"/>
              </a:spcBef>
              <a:buNone/>
            </a:pPr>
            <a:r>
              <a:rPr lang="en" sz="1400" dirty="0">
                <a:solidFill>
                  <a:schemeClr val="dk1"/>
                </a:solidFill>
                <a:latin typeface="Rockwell" panose="02060603020205020403" pitchFamily="18" charset="0"/>
                <a:ea typeface="Karla Medium"/>
                <a:cs typeface="Karla Medium"/>
                <a:sym typeface="Karla Medium"/>
              </a:rPr>
              <a:t>Vault service supports the key Encryption algorithm, includes the Advanced Encryption Standard (</a:t>
            </a:r>
            <a:r>
              <a:rPr lang="en" sz="1400" b="1" dirty="0">
                <a:solidFill>
                  <a:schemeClr val="dk1"/>
                </a:solidFill>
                <a:latin typeface="Rockwell" panose="02060603020205020403" pitchFamily="18" charset="0"/>
                <a:ea typeface="Karla"/>
                <a:cs typeface="Karla"/>
                <a:sym typeface="Karla"/>
              </a:rPr>
              <a:t>AES</a:t>
            </a:r>
            <a:r>
              <a:rPr lang="en" sz="1400" dirty="0">
                <a:solidFill>
                  <a:schemeClr val="dk1"/>
                </a:solidFill>
                <a:latin typeface="Rockwell" panose="02060603020205020403" pitchFamily="18" charset="0"/>
                <a:ea typeface="Karla Medium"/>
                <a:cs typeface="Karla Medium"/>
                <a:sym typeface="Karla Medium"/>
              </a:rPr>
              <a:t>), the Rivest-Shamir-Adleman (</a:t>
            </a:r>
            <a:r>
              <a:rPr lang="en" sz="1400" b="1" dirty="0">
                <a:solidFill>
                  <a:schemeClr val="dk1"/>
                </a:solidFill>
                <a:latin typeface="Rockwell" panose="02060603020205020403" pitchFamily="18" charset="0"/>
                <a:ea typeface="Karla"/>
                <a:cs typeface="Karla"/>
                <a:sym typeface="Karla"/>
              </a:rPr>
              <a:t>RSA</a:t>
            </a:r>
            <a:r>
              <a:rPr lang="en" sz="1400" dirty="0">
                <a:solidFill>
                  <a:schemeClr val="dk1"/>
                </a:solidFill>
                <a:latin typeface="Rockwell" panose="02060603020205020403" pitchFamily="18" charset="0"/>
                <a:ea typeface="Karla Medium"/>
                <a:cs typeface="Karla Medium"/>
                <a:sym typeface="Karla Medium"/>
              </a:rPr>
              <a:t>) algorithm, and elliptic curve digital signature algorithm (</a:t>
            </a:r>
            <a:r>
              <a:rPr lang="en" sz="1400" b="1" dirty="0">
                <a:solidFill>
                  <a:schemeClr val="dk1"/>
                </a:solidFill>
                <a:latin typeface="Rockwell" panose="02060603020205020403" pitchFamily="18" charset="0"/>
                <a:ea typeface="Karla"/>
                <a:cs typeface="Karla"/>
                <a:sym typeface="Karla"/>
              </a:rPr>
              <a:t>ECDSA</a:t>
            </a:r>
            <a:r>
              <a:rPr lang="en" sz="1400" dirty="0">
                <a:solidFill>
                  <a:schemeClr val="dk1"/>
                </a:solidFill>
                <a:latin typeface="Rockwell" panose="02060603020205020403" pitchFamily="18" charset="0"/>
                <a:ea typeface="Karla Medium"/>
                <a:cs typeface="Karla Medium"/>
                <a:sym typeface="Karla Medium"/>
              </a:rPr>
              <a:t>).</a:t>
            </a:r>
          </a:p>
          <a:p>
            <a:pPr marL="0" indent="0" algn="just">
              <a:lnSpc>
                <a:spcPct val="150000"/>
              </a:lnSpc>
              <a:spcBef>
                <a:spcPts val="0"/>
              </a:spcBef>
              <a:buNone/>
            </a:pPr>
            <a:endParaRPr lang="en" sz="1400" dirty="0">
              <a:solidFill>
                <a:schemeClr val="dk1"/>
              </a:solidFill>
              <a:latin typeface="Rockwell" panose="02060603020205020403" pitchFamily="18" charset="0"/>
              <a:ea typeface="Karla Medium"/>
              <a:cs typeface="Karla Medium"/>
              <a:sym typeface="Karla Medium"/>
            </a:endParaRPr>
          </a:p>
          <a:p>
            <a:pPr marL="0" indent="0" algn="just">
              <a:lnSpc>
                <a:spcPct val="150000"/>
              </a:lnSpc>
              <a:spcBef>
                <a:spcPts val="0"/>
              </a:spcBef>
              <a:buNone/>
            </a:pPr>
            <a:endParaRPr sz="1400" dirty="0">
              <a:solidFill>
                <a:schemeClr val="dk1"/>
              </a:solidFill>
              <a:latin typeface="Rockwell" panose="02060603020205020403" pitchFamily="18" charset="0"/>
              <a:ea typeface="Karla Medium"/>
              <a:cs typeface="Karla Medium"/>
              <a:sym typeface="Karla Medium"/>
            </a:endParaRPr>
          </a:p>
          <a:p>
            <a:pPr marL="0" indent="0" algn="just">
              <a:lnSpc>
                <a:spcPct val="150000"/>
              </a:lnSpc>
              <a:spcBef>
                <a:spcPts val="0"/>
              </a:spcBef>
              <a:buNone/>
            </a:pPr>
            <a:r>
              <a:rPr lang="en" sz="1400" dirty="0">
                <a:solidFill>
                  <a:schemeClr val="dk1"/>
                </a:solidFill>
                <a:latin typeface="Rockwell" panose="02060603020205020403" pitchFamily="18" charset="0"/>
                <a:ea typeface="Karla Medium"/>
                <a:cs typeface="Karla Medium"/>
                <a:sym typeface="Karla Medium"/>
              </a:rPr>
              <a:t>Services that support to use customer-managed keys for resource encryption are: </a:t>
            </a:r>
          </a:p>
          <a:p>
            <a:pPr marL="0" indent="0" algn="just">
              <a:lnSpc>
                <a:spcPct val="150000"/>
              </a:lnSpc>
              <a:spcBef>
                <a:spcPts val="0"/>
              </a:spcBef>
              <a:buNone/>
            </a:pPr>
            <a:r>
              <a:rPr lang="en" sz="1400" b="1" dirty="0">
                <a:solidFill>
                  <a:schemeClr val="dk1"/>
                </a:solidFill>
                <a:latin typeface="Rockwell" panose="02060603020205020403" pitchFamily="18" charset="0"/>
                <a:ea typeface="Karla"/>
                <a:cs typeface="Karla"/>
                <a:sym typeface="Karla"/>
              </a:rPr>
              <a:t>Block Volume, </a:t>
            </a:r>
          </a:p>
          <a:p>
            <a:pPr marL="0" indent="0" algn="just">
              <a:lnSpc>
                <a:spcPct val="150000"/>
              </a:lnSpc>
              <a:spcBef>
                <a:spcPts val="0"/>
              </a:spcBef>
              <a:buNone/>
            </a:pPr>
            <a:r>
              <a:rPr lang="en" sz="1400" b="1" dirty="0">
                <a:solidFill>
                  <a:schemeClr val="dk1"/>
                </a:solidFill>
                <a:latin typeface="Rockwell" panose="02060603020205020403" pitchFamily="18" charset="0"/>
                <a:ea typeface="Karla"/>
                <a:cs typeface="Karla"/>
                <a:sym typeface="Karla"/>
              </a:rPr>
              <a:t>Container Engine for Kubernetes, </a:t>
            </a:r>
          </a:p>
          <a:p>
            <a:pPr marL="0" indent="0" algn="just">
              <a:lnSpc>
                <a:spcPct val="150000"/>
              </a:lnSpc>
              <a:spcBef>
                <a:spcPts val="0"/>
              </a:spcBef>
              <a:buNone/>
            </a:pPr>
            <a:r>
              <a:rPr lang="en" sz="1400" b="1" dirty="0">
                <a:solidFill>
                  <a:schemeClr val="dk1"/>
                </a:solidFill>
                <a:latin typeface="Rockwell" panose="02060603020205020403" pitchFamily="18" charset="0"/>
                <a:ea typeface="Karla"/>
                <a:cs typeface="Karla"/>
                <a:sym typeface="Karla"/>
              </a:rPr>
              <a:t>Database, </a:t>
            </a:r>
          </a:p>
          <a:p>
            <a:pPr marL="0" indent="0" algn="just">
              <a:lnSpc>
                <a:spcPct val="150000"/>
              </a:lnSpc>
              <a:spcBef>
                <a:spcPts val="0"/>
              </a:spcBef>
              <a:buNone/>
            </a:pPr>
            <a:r>
              <a:rPr lang="en" sz="1400" b="1" dirty="0">
                <a:solidFill>
                  <a:schemeClr val="dk1"/>
                </a:solidFill>
                <a:latin typeface="Rockwell" panose="02060603020205020403" pitchFamily="18" charset="0"/>
                <a:ea typeface="Karla"/>
                <a:cs typeface="Karla"/>
                <a:sym typeface="Karla"/>
              </a:rPr>
              <a:t>File storage.</a:t>
            </a:r>
            <a:endParaRPr sz="1400" b="1" dirty="0">
              <a:solidFill>
                <a:schemeClr val="dk1"/>
              </a:solidFill>
              <a:latin typeface="Rockwell" panose="02060603020205020403" pitchFamily="18" charset="0"/>
              <a:ea typeface="Karla"/>
              <a:cs typeface="Karla"/>
              <a:sym typeface="Karla"/>
            </a:endParaRPr>
          </a:p>
          <a:p>
            <a:pPr marL="0" indent="0" algn="just">
              <a:lnSpc>
                <a:spcPct val="150000"/>
              </a:lnSpc>
              <a:spcBef>
                <a:spcPts val="0"/>
              </a:spcBef>
              <a:buClr>
                <a:schemeClr val="dk1"/>
              </a:buClr>
              <a:buSzPts val="1018"/>
              <a:buNone/>
            </a:pPr>
            <a:r>
              <a:rPr lang="en" sz="1400" b="1" dirty="0">
                <a:solidFill>
                  <a:schemeClr val="dk1"/>
                </a:solidFill>
                <a:latin typeface="Rockwell" panose="02060603020205020403" pitchFamily="18" charset="0"/>
                <a:ea typeface="Karla"/>
                <a:cs typeface="Karla"/>
                <a:sym typeface="Karla"/>
              </a:rPr>
              <a:t> </a:t>
            </a:r>
            <a:endParaRPr sz="1400" b="1" dirty="0">
              <a:latin typeface="Rockwell" panose="02060603020205020403" pitchFamily="18" charset="0"/>
              <a:ea typeface="Karla"/>
              <a:cs typeface="Karla"/>
              <a:sym typeface="Karla"/>
            </a:endParaRPr>
          </a:p>
        </p:txBody>
      </p:sp>
      <p:sp>
        <p:nvSpPr>
          <p:cNvPr id="2" name="Google Shape;68;p15">
            <a:extLst>
              <a:ext uri="{FF2B5EF4-FFF2-40B4-BE49-F238E27FC236}">
                <a16:creationId xmlns:a16="http://schemas.microsoft.com/office/drawing/2014/main" id="{B6E0FD6A-E058-6EEF-AA32-B10358948AB6}"/>
              </a:ext>
            </a:extLst>
          </p:cNvPr>
          <p:cNvSpPr txBox="1">
            <a:spLocks/>
          </p:cNvSpPr>
          <p:nvPr/>
        </p:nvSpPr>
        <p:spPr>
          <a:xfrm>
            <a:off x="196801" y="619200"/>
            <a:ext cx="4174745" cy="679451"/>
          </a:xfrm>
          <a:prstGeom prst="rect">
            <a:avLst/>
          </a:prstGeom>
          <a:noFill/>
        </p:spPr>
        <p:txBody>
          <a:bodyPr spcFirstLastPara="1" wrap="square" lIns="121900" tIns="121900" rIns="121900" bIns="121900" anchor="t" anchorCtr="0">
            <a:normAutofit fontScale="900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OCI - Vault</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spTree>
    <p:extLst>
      <p:ext uri="{BB962C8B-B14F-4D97-AF65-F5344CB8AC3E}">
        <p14:creationId xmlns:p14="http://schemas.microsoft.com/office/powerpoint/2010/main" val="124243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41" name="Google Shape;141;p24"/>
          <p:cNvSpPr txBox="1"/>
          <p:nvPr/>
        </p:nvSpPr>
        <p:spPr>
          <a:xfrm>
            <a:off x="268957" y="1476716"/>
            <a:ext cx="4711223" cy="3570168"/>
          </a:xfrm>
          <a:prstGeom prst="rect">
            <a:avLst/>
          </a:prstGeom>
          <a:noFill/>
          <a:ln>
            <a:noFill/>
          </a:ln>
        </p:spPr>
        <p:txBody>
          <a:bodyPr spcFirstLastPara="1" wrap="square" lIns="121900" tIns="121900" rIns="121900" bIns="121900" anchor="t" anchorCtr="0">
            <a:spAutoFit/>
          </a:bodyPr>
          <a:lstStyle/>
          <a:p>
            <a:pPr algn="just">
              <a:lnSpc>
                <a:spcPct val="150000"/>
              </a:lnSpc>
            </a:pPr>
            <a:r>
              <a:rPr lang="en" sz="1200" dirty="0">
                <a:solidFill>
                  <a:schemeClr val="dk1"/>
                </a:solidFill>
                <a:latin typeface="Rockwell" panose="02060603020205020403" pitchFamily="18" charset="0"/>
                <a:ea typeface="Karla Medium"/>
                <a:cs typeface="Karla Medium"/>
                <a:sym typeface="Karla Medium"/>
              </a:rPr>
              <a:t>The Oracle Cloud Infrastructure Audit service records all API calls to resources in a customer’s tenancy and login activity from the Console. Achieves security and compliance goals by using the Audit service to monitor all user activity within the  tenancy. </a:t>
            </a:r>
          </a:p>
          <a:p>
            <a:pPr algn="just">
              <a:lnSpc>
                <a:spcPct val="150000"/>
              </a:lnSpc>
            </a:pPr>
            <a:endParaRPr sz="1200" dirty="0">
              <a:solidFill>
                <a:schemeClr val="dk1"/>
              </a:solidFill>
              <a:latin typeface="Rockwell" panose="02060603020205020403" pitchFamily="18" charset="0"/>
              <a:ea typeface="Karla Medium"/>
              <a:cs typeface="Karla Medium"/>
              <a:sym typeface="Karla Medium"/>
            </a:endParaRPr>
          </a:p>
          <a:p>
            <a:pPr algn="just">
              <a:lnSpc>
                <a:spcPct val="150000"/>
              </a:lnSpc>
            </a:pPr>
            <a:r>
              <a:rPr lang="en" sz="1200" dirty="0">
                <a:solidFill>
                  <a:schemeClr val="dk1"/>
                </a:solidFill>
                <a:latin typeface="Rockwell" panose="02060603020205020403" pitchFamily="18" charset="0"/>
                <a:ea typeface="Karla Medium"/>
                <a:cs typeface="Karla Medium"/>
                <a:sym typeface="Karla Medium"/>
              </a:rPr>
              <a:t>Audit records are available through an authenticated, filterable query API or they can be retrieved as batched files from Oracle Cloud Infrastructure Object Storage. Audit log contents include what activity occurred, the user that initiated it, the date and time of the request, as well as source IP, user agent, and HTTP headers of the request.</a:t>
            </a:r>
            <a:endParaRPr sz="1200" dirty="0">
              <a:latin typeface="Rockwell" panose="02060603020205020403" pitchFamily="18" charset="0"/>
              <a:ea typeface="Karla Medium"/>
              <a:cs typeface="Karla Medium"/>
              <a:sym typeface="Karla Medium"/>
            </a:endParaRPr>
          </a:p>
        </p:txBody>
      </p:sp>
      <p:sp>
        <p:nvSpPr>
          <p:cNvPr id="2" name="Google Shape;68;p15">
            <a:extLst>
              <a:ext uri="{FF2B5EF4-FFF2-40B4-BE49-F238E27FC236}">
                <a16:creationId xmlns:a16="http://schemas.microsoft.com/office/drawing/2014/main" id="{78A6765C-552B-4783-D635-9D75A1B4B8E4}"/>
              </a:ext>
            </a:extLst>
          </p:cNvPr>
          <p:cNvSpPr txBox="1">
            <a:spLocks/>
          </p:cNvSpPr>
          <p:nvPr/>
        </p:nvSpPr>
        <p:spPr>
          <a:xfrm>
            <a:off x="196801" y="619200"/>
            <a:ext cx="3909374" cy="679451"/>
          </a:xfrm>
          <a:prstGeom prst="rect">
            <a:avLst/>
          </a:prstGeom>
          <a:noFill/>
        </p:spPr>
        <p:txBody>
          <a:bodyPr spcFirstLastPara="1" wrap="square" lIns="121900" tIns="121900" rIns="121900" bIns="121900" anchor="t" anchorCtr="0">
            <a:normAutofit fontScale="900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spcBef>
                <a:spcPts val="0"/>
              </a:spcBef>
            </a:pPr>
            <a:r>
              <a:rPr lang="en-US" sz="3533" dirty="0">
                <a:latin typeface="Rockwell" pitchFamily="18" charset="0"/>
                <a:ea typeface="Karla"/>
                <a:cs typeface="Karla"/>
                <a:sym typeface="Karla"/>
              </a:rPr>
              <a:t>OCI - Audit Service</a:t>
            </a:r>
            <a:endParaRPr lang="en-US" sz="3533" dirty="0">
              <a:highlight>
                <a:srgbClr val="FFFFFF"/>
              </a:highlight>
              <a:latin typeface="Rockwell" pitchFamily="18" charset="0"/>
              <a:ea typeface="Karla"/>
              <a:cs typeface="Karla"/>
              <a:sym typeface="Karla"/>
            </a:endParaRPr>
          </a:p>
          <a:p>
            <a:pPr>
              <a:spcBef>
                <a:spcPts val="0"/>
              </a:spcBef>
            </a:pPr>
            <a:endParaRPr lang="en-US" sz="3200" dirty="0">
              <a:solidFill>
                <a:srgbClr val="0000FF"/>
              </a:solidFill>
              <a:latin typeface="Rockwell" panose="02060603020205020403" pitchFamily="18" charset="0"/>
              <a:ea typeface="Karla"/>
              <a:cs typeface="Karla"/>
              <a:sym typeface="Karla"/>
            </a:endParaRPr>
          </a:p>
        </p:txBody>
      </p:sp>
      <p:grpSp>
        <p:nvGrpSpPr>
          <p:cNvPr id="62" name="Group 61">
            <a:extLst>
              <a:ext uri="{FF2B5EF4-FFF2-40B4-BE49-F238E27FC236}">
                <a16:creationId xmlns:a16="http://schemas.microsoft.com/office/drawing/2014/main" id="{12188CBD-C440-FF8D-8893-3E2B95A3373C}"/>
              </a:ext>
            </a:extLst>
          </p:cNvPr>
          <p:cNvGrpSpPr/>
          <p:nvPr/>
        </p:nvGrpSpPr>
        <p:grpSpPr>
          <a:xfrm>
            <a:off x="5149969" y="722730"/>
            <a:ext cx="6573981" cy="5125980"/>
            <a:chOff x="5111369" y="1612727"/>
            <a:chExt cx="6791284" cy="4894538"/>
          </a:xfrm>
        </p:grpSpPr>
        <p:sp>
          <p:nvSpPr>
            <p:cNvPr id="3" name="Rectangle 2">
              <a:extLst>
                <a:ext uri="{FF2B5EF4-FFF2-40B4-BE49-F238E27FC236}">
                  <a16:creationId xmlns:a16="http://schemas.microsoft.com/office/drawing/2014/main" id="{1CF3BAA2-C2B2-2C29-2B72-C7B4BAE32C17}"/>
                </a:ext>
              </a:extLst>
            </p:cNvPr>
            <p:cNvSpPr/>
            <p:nvPr/>
          </p:nvSpPr>
          <p:spPr>
            <a:xfrm>
              <a:off x="6725838" y="1612727"/>
              <a:ext cx="5176815" cy="4894538"/>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D4F9BA3-1019-6A58-01FD-0A002299DACA}"/>
                </a:ext>
              </a:extLst>
            </p:cNvPr>
            <p:cNvSpPr txBox="1"/>
            <p:nvPr/>
          </p:nvSpPr>
          <p:spPr>
            <a:xfrm>
              <a:off x="6746588" y="1639317"/>
              <a:ext cx="1385306" cy="270372"/>
            </a:xfrm>
            <a:prstGeom prst="rect">
              <a:avLst/>
            </a:prstGeom>
            <a:noFill/>
          </p:spPr>
          <p:txBody>
            <a:bodyPr wrap="none" rtlCol="0">
              <a:spAutoFit/>
            </a:bodyPr>
            <a:lstStyle/>
            <a:p>
              <a:r>
                <a:rPr lang="en-IN" sz="1000" b="1"/>
                <a:t> Tenancy (San Jose) </a:t>
              </a:r>
            </a:p>
          </p:txBody>
        </p:sp>
        <p:sp>
          <p:nvSpPr>
            <p:cNvPr id="6" name="Rectangle 5">
              <a:extLst>
                <a:ext uri="{FF2B5EF4-FFF2-40B4-BE49-F238E27FC236}">
                  <a16:creationId xmlns:a16="http://schemas.microsoft.com/office/drawing/2014/main" id="{976EDB32-A2CF-C9F3-09B8-71D74E1160F3}"/>
                </a:ext>
              </a:extLst>
            </p:cNvPr>
            <p:cNvSpPr/>
            <p:nvPr/>
          </p:nvSpPr>
          <p:spPr>
            <a:xfrm>
              <a:off x="7502531" y="2380339"/>
              <a:ext cx="4305888" cy="397927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6E3EB819-0338-B686-5095-66F881B280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0620" y="2303429"/>
              <a:ext cx="277310" cy="207822"/>
            </a:xfrm>
            <a:prstGeom prst="rect">
              <a:avLst/>
            </a:prstGeom>
          </p:spPr>
        </p:pic>
        <p:sp>
          <p:nvSpPr>
            <p:cNvPr id="8" name="TextBox 7">
              <a:extLst>
                <a:ext uri="{FF2B5EF4-FFF2-40B4-BE49-F238E27FC236}">
                  <a16:creationId xmlns:a16="http://schemas.microsoft.com/office/drawing/2014/main" id="{999A1D01-55B2-6C7D-82C2-99B2A9523B5F}"/>
                </a:ext>
              </a:extLst>
            </p:cNvPr>
            <p:cNvSpPr txBox="1"/>
            <p:nvPr/>
          </p:nvSpPr>
          <p:spPr>
            <a:xfrm>
              <a:off x="7677930" y="2388686"/>
              <a:ext cx="1720819"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sp>
          <p:nvSpPr>
            <p:cNvPr id="9" name="Rectangle 8">
              <a:extLst>
                <a:ext uri="{FF2B5EF4-FFF2-40B4-BE49-F238E27FC236}">
                  <a16:creationId xmlns:a16="http://schemas.microsoft.com/office/drawing/2014/main" id="{B3A695DF-8639-B380-3D25-28FC39C0A5CF}"/>
                </a:ext>
              </a:extLst>
            </p:cNvPr>
            <p:cNvSpPr/>
            <p:nvPr/>
          </p:nvSpPr>
          <p:spPr>
            <a:xfrm>
              <a:off x="7677930" y="2676892"/>
              <a:ext cx="4024444" cy="358158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C75723E6-BC37-FF16-4963-55825969BF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63587" y="2597230"/>
              <a:ext cx="277310" cy="207822"/>
            </a:xfrm>
            <a:prstGeom prst="rect">
              <a:avLst/>
            </a:prstGeom>
          </p:spPr>
        </p:pic>
        <p:sp>
          <p:nvSpPr>
            <p:cNvPr id="14" name="TextBox 13">
              <a:extLst>
                <a:ext uri="{FF2B5EF4-FFF2-40B4-BE49-F238E27FC236}">
                  <a16:creationId xmlns:a16="http://schemas.microsoft.com/office/drawing/2014/main" id="{25449901-F6FE-714D-A8D6-BDDE66B2A5BA}"/>
                </a:ext>
              </a:extLst>
            </p:cNvPr>
            <p:cNvSpPr txBox="1"/>
            <p:nvPr/>
          </p:nvSpPr>
          <p:spPr>
            <a:xfrm>
              <a:off x="7820842" y="2662452"/>
              <a:ext cx="1720819" cy="230832"/>
            </a:xfrm>
            <a:prstGeom prst="rect">
              <a:avLst/>
            </a:prstGeom>
            <a:noFill/>
          </p:spPr>
          <p:txBody>
            <a:bodyPr wrap="square">
              <a:spAutoFit/>
            </a:bodyPr>
            <a:lstStyle/>
            <a:p>
              <a:pPr algn="just"/>
              <a:r>
                <a:rPr lang="en-IN" sz="900" b="1" i="0">
                  <a:solidFill>
                    <a:srgbClr val="000000"/>
                  </a:solidFill>
                  <a:effectLst/>
                  <a:latin typeface="Helvetica" panose="020B0604020202020204" pitchFamily="34" charset="0"/>
                </a:rPr>
                <a:t>Compartment</a:t>
              </a:r>
            </a:p>
          </p:txBody>
        </p:sp>
        <p:pic>
          <p:nvPicPr>
            <p:cNvPr id="15" name="Picture 14">
              <a:extLst>
                <a:ext uri="{FF2B5EF4-FFF2-40B4-BE49-F238E27FC236}">
                  <a16:creationId xmlns:a16="http://schemas.microsoft.com/office/drawing/2014/main" id="{1669D01F-9C02-A00F-54C8-B3D73003FC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74385" y="5466872"/>
              <a:ext cx="457912" cy="457912"/>
            </a:xfrm>
            <a:prstGeom prst="rect">
              <a:avLst/>
            </a:prstGeom>
          </p:spPr>
        </p:pic>
        <p:sp>
          <p:nvSpPr>
            <p:cNvPr id="17" name="Rectangle 16">
              <a:extLst>
                <a:ext uri="{FF2B5EF4-FFF2-40B4-BE49-F238E27FC236}">
                  <a16:creationId xmlns:a16="http://schemas.microsoft.com/office/drawing/2014/main" id="{1A690403-979F-4529-7376-6C91F5E6817E}"/>
                </a:ext>
              </a:extLst>
            </p:cNvPr>
            <p:cNvSpPr/>
            <p:nvPr/>
          </p:nvSpPr>
          <p:spPr>
            <a:xfrm>
              <a:off x="8734297" y="3082543"/>
              <a:ext cx="2884176" cy="206126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670ADF57-6C60-7488-F623-9AE8CA51F5E8}"/>
                </a:ext>
              </a:extLst>
            </p:cNvPr>
            <p:cNvSpPr txBox="1"/>
            <p:nvPr/>
          </p:nvSpPr>
          <p:spPr>
            <a:xfrm>
              <a:off x="10305028" y="3463272"/>
              <a:ext cx="1406036" cy="557642"/>
            </a:xfrm>
            <a:prstGeom prst="rect">
              <a:avLst/>
            </a:prstGeom>
            <a:noFill/>
          </p:spPr>
          <p:txBody>
            <a:bodyPr wrap="square" rtlCol="0">
              <a:spAutoFit/>
            </a:bodyPr>
            <a:lstStyle/>
            <a:p>
              <a:r>
                <a:rPr lang="en-IN" sz="900"/>
                <a:t>- Audit log stream for functions and SIEM solution Integration</a:t>
              </a:r>
            </a:p>
          </p:txBody>
        </p:sp>
        <p:pic>
          <p:nvPicPr>
            <p:cNvPr id="20" name="Picture 19">
              <a:extLst>
                <a:ext uri="{FF2B5EF4-FFF2-40B4-BE49-F238E27FC236}">
                  <a16:creationId xmlns:a16="http://schemas.microsoft.com/office/drawing/2014/main" id="{DA2A3633-B2D6-2CFC-F88C-0E9CE5E104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34970" y="1909279"/>
              <a:ext cx="448557" cy="384308"/>
            </a:xfrm>
            <a:prstGeom prst="rect">
              <a:avLst/>
            </a:prstGeom>
          </p:spPr>
        </p:pic>
        <p:sp>
          <p:nvSpPr>
            <p:cNvPr id="21" name="TextBox 20">
              <a:extLst>
                <a:ext uri="{FF2B5EF4-FFF2-40B4-BE49-F238E27FC236}">
                  <a16:creationId xmlns:a16="http://schemas.microsoft.com/office/drawing/2014/main" id="{95CE1C6F-DEDC-9B90-66B0-8F3AD13A4163}"/>
                </a:ext>
              </a:extLst>
            </p:cNvPr>
            <p:cNvSpPr txBox="1"/>
            <p:nvPr/>
          </p:nvSpPr>
          <p:spPr>
            <a:xfrm>
              <a:off x="6702632" y="2217430"/>
              <a:ext cx="741531" cy="210681"/>
            </a:xfrm>
            <a:prstGeom prst="rect">
              <a:avLst/>
            </a:prstGeom>
            <a:noFill/>
          </p:spPr>
          <p:txBody>
            <a:bodyPr wrap="none" rtlCol="0">
              <a:spAutoFit/>
            </a:bodyPr>
            <a:lstStyle/>
            <a:p>
              <a:r>
                <a:rPr lang="en-IN" sz="800" b="1"/>
                <a:t>Cloud Guard</a:t>
              </a:r>
            </a:p>
          </p:txBody>
        </p:sp>
        <p:sp>
          <p:nvSpPr>
            <p:cNvPr id="22" name="TextBox 21">
              <a:extLst>
                <a:ext uri="{FF2B5EF4-FFF2-40B4-BE49-F238E27FC236}">
                  <a16:creationId xmlns:a16="http://schemas.microsoft.com/office/drawing/2014/main" id="{8E170202-523E-0C2F-F9EB-16EA80DB7559}"/>
                </a:ext>
              </a:extLst>
            </p:cNvPr>
            <p:cNvSpPr txBox="1"/>
            <p:nvPr/>
          </p:nvSpPr>
          <p:spPr>
            <a:xfrm>
              <a:off x="7794423" y="5920158"/>
              <a:ext cx="700270" cy="236576"/>
            </a:xfrm>
            <a:prstGeom prst="rect">
              <a:avLst/>
            </a:prstGeom>
            <a:noFill/>
          </p:spPr>
          <p:txBody>
            <a:bodyPr wrap="square">
              <a:spAutoFit/>
            </a:bodyPr>
            <a:lstStyle/>
            <a:p>
              <a:pPr algn="just"/>
              <a:r>
                <a:rPr lang="en-IN" sz="800" b="1" i="0">
                  <a:solidFill>
                    <a:srgbClr val="000000"/>
                  </a:solidFill>
                  <a:effectLst/>
                  <a:latin typeface="Helvetica" panose="020B0604020202020204" pitchFamily="34" charset="0"/>
                </a:rPr>
                <a:t>Buckets</a:t>
              </a:r>
            </a:p>
          </p:txBody>
        </p:sp>
        <p:sp>
          <p:nvSpPr>
            <p:cNvPr id="24" name="TextBox 23">
              <a:extLst>
                <a:ext uri="{FF2B5EF4-FFF2-40B4-BE49-F238E27FC236}">
                  <a16:creationId xmlns:a16="http://schemas.microsoft.com/office/drawing/2014/main" id="{6585D929-8AA0-3FA9-8431-2749932203F1}"/>
                </a:ext>
              </a:extLst>
            </p:cNvPr>
            <p:cNvSpPr txBox="1"/>
            <p:nvPr/>
          </p:nvSpPr>
          <p:spPr>
            <a:xfrm>
              <a:off x="8388007" y="5448484"/>
              <a:ext cx="1837992" cy="646331"/>
            </a:xfrm>
            <a:prstGeom prst="rect">
              <a:avLst/>
            </a:prstGeom>
            <a:noFill/>
          </p:spPr>
          <p:txBody>
            <a:bodyPr wrap="square" rtlCol="0">
              <a:spAutoFit/>
            </a:bodyPr>
            <a:lstStyle/>
            <a:p>
              <a:pPr marL="171450" indent="-171450">
                <a:buFontTx/>
                <a:buChar char="-"/>
              </a:pPr>
              <a:r>
                <a:rPr lang="en-IN" sz="900" dirty="0"/>
                <a:t>Archiving immutable audit log in bucket</a:t>
              </a:r>
            </a:p>
            <a:p>
              <a:pPr marL="171450" indent="-171450">
                <a:buFontTx/>
                <a:buChar char="-"/>
              </a:pPr>
              <a:r>
                <a:rPr lang="en-IN" sz="900" dirty="0"/>
                <a:t>Locked time-bound retention policy</a:t>
              </a:r>
            </a:p>
          </p:txBody>
        </p:sp>
        <p:grpSp>
          <p:nvGrpSpPr>
            <p:cNvPr id="25" name="Group 24">
              <a:extLst>
                <a:ext uri="{FF2B5EF4-FFF2-40B4-BE49-F238E27FC236}">
                  <a16:creationId xmlns:a16="http://schemas.microsoft.com/office/drawing/2014/main" id="{844BB43F-0D8F-0386-5623-F96181B1B39C}"/>
                </a:ext>
              </a:extLst>
            </p:cNvPr>
            <p:cNvGrpSpPr/>
            <p:nvPr/>
          </p:nvGrpSpPr>
          <p:grpSpPr>
            <a:xfrm>
              <a:off x="5111369" y="3974559"/>
              <a:ext cx="1883911" cy="2104851"/>
              <a:chOff x="4429815" y="3642200"/>
              <a:chExt cx="1883911" cy="2104851"/>
            </a:xfrm>
          </p:grpSpPr>
          <p:pic>
            <p:nvPicPr>
              <p:cNvPr id="26" name="Picture 6">
                <a:extLst>
                  <a:ext uri="{FF2B5EF4-FFF2-40B4-BE49-F238E27FC236}">
                    <a16:creationId xmlns:a16="http://schemas.microsoft.com/office/drawing/2014/main" id="{F6BB1435-5E30-2F8E-09F7-DB4CEE9D111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9787" r="14210"/>
              <a:stretch/>
            </p:blipFill>
            <p:spPr bwMode="auto">
              <a:xfrm>
                <a:off x="5099586" y="3958276"/>
                <a:ext cx="655568" cy="85547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a:extLst>
                  <a:ext uri="{FF2B5EF4-FFF2-40B4-BE49-F238E27FC236}">
                    <a16:creationId xmlns:a16="http://schemas.microsoft.com/office/drawing/2014/main" id="{35A53D16-904A-6FEB-42F1-D4369D589A88}"/>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4528" t="51373" r="23982"/>
              <a:stretch/>
            </p:blipFill>
            <p:spPr bwMode="auto">
              <a:xfrm>
                <a:off x="5144000" y="4858003"/>
                <a:ext cx="508098" cy="88904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0">
                <a:extLst>
                  <a:ext uri="{FF2B5EF4-FFF2-40B4-BE49-F238E27FC236}">
                    <a16:creationId xmlns:a16="http://schemas.microsoft.com/office/drawing/2014/main" id="{F93D9575-4073-D2F1-0ADE-62514269F92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40439" y="4813754"/>
                <a:ext cx="733637" cy="79688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CB75527C-8F69-D71B-CACF-AEF33806F30A}"/>
                  </a:ext>
                </a:extLst>
              </p:cNvPr>
              <p:cNvSpPr txBox="1"/>
              <p:nvPr/>
            </p:nvSpPr>
            <p:spPr>
              <a:xfrm>
                <a:off x="4429815" y="3642200"/>
                <a:ext cx="1883911" cy="270372"/>
              </a:xfrm>
              <a:prstGeom prst="rect">
                <a:avLst/>
              </a:prstGeom>
              <a:noFill/>
            </p:spPr>
            <p:txBody>
              <a:bodyPr wrap="square">
                <a:spAutoFit/>
              </a:bodyPr>
              <a:lstStyle/>
              <a:p>
                <a:pPr algn="just"/>
                <a:r>
                  <a:rPr lang="en-IN" sz="1000" b="1" i="0">
                    <a:solidFill>
                      <a:srgbClr val="000000"/>
                    </a:solidFill>
                    <a:effectLst/>
                    <a:latin typeface="Helvetica" panose="020B0604020202020204" pitchFamily="34" charset="0"/>
                  </a:rPr>
                  <a:t> On-Premises</a:t>
                </a:r>
              </a:p>
            </p:txBody>
          </p:sp>
          <p:sp>
            <p:nvSpPr>
              <p:cNvPr id="30" name="Rectangle 29">
                <a:extLst>
                  <a:ext uri="{FF2B5EF4-FFF2-40B4-BE49-F238E27FC236}">
                    <a16:creationId xmlns:a16="http://schemas.microsoft.com/office/drawing/2014/main" id="{6F932C07-BF49-5F23-0509-CB281DC21FA6}"/>
                  </a:ext>
                </a:extLst>
              </p:cNvPr>
              <p:cNvSpPr/>
              <p:nvPr/>
            </p:nvSpPr>
            <p:spPr>
              <a:xfrm>
                <a:off x="4494375" y="3645414"/>
                <a:ext cx="1383128" cy="2080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1" name="Connector: Elbow 30">
              <a:extLst>
                <a:ext uri="{FF2B5EF4-FFF2-40B4-BE49-F238E27FC236}">
                  <a16:creationId xmlns:a16="http://schemas.microsoft.com/office/drawing/2014/main" id="{DEC53CE8-8CDB-26F5-A28C-184912F1F97A}"/>
                </a:ext>
              </a:extLst>
            </p:cNvPr>
            <p:cNvCxnSpPr>
              <a:cxnSpLocks/>
              <a:stCxn id="30" idx="0"/>
              <a:endCxn id="20" idx="1"/>
            </p:cNvCxnSpPr>
            <p:nvPr/>
          </p:nvCxnSpPr>
          <p:spPr>
            <a:xfrm rot="5400000" flipH="1" flipV="1">
              <a:off x="5413061" y="2555865"/>
              <a:ext cx="1876340" cy="967477"/>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7809A55E-BBFA-6488-9DE5-E5AA69CAB05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41498" y="1714194"/>
              <a:ext cx="305429" cy="310379"/>
            </a:xfrm>
            <a:prstGeom prst="rect">
              <a:avLst/>
            </a:prstGeom>
          </p:spPr>
        </p:pic>
        <p:sp>
          <p:nvSpPr>
            <p:cNvPr id="35" name="TextBox 34">
              <a:extLst>
                <a:ext uri="{FF2B5EF4-FFF2-40B4-BE49-F238E27FC236}">
                  <a16:creationId xmlns:a16="http://schemas.microsoft.com/office/drawing/2014/main" id="{9E342B4A-ABCB-1455-7050-786CAA9D7DD5}"/>
                </a:ext>
              </a:extLst>
            </p:cNvPr>
            <p:cNvSpPr txBox="1"/>
            <p:nvPr/>
          </p:nvSpPr>
          <p:spPr>
            <a:xfrm>
              <a:off x="9376178" y="1972258"/>
              <a:ext cx="946959" cy="270372"/>
            </a:xfrm>
            <a:prstGeom prst="rect">
              <a:avLst/>
            </a:prstGeom>
            <a:noFill/>
          </p:spPr>
          <p:txBody>
            <a:bodyPr wrap="square" rtlCol="0">
              <a:spAutoFit/>
            </a:bodyPr>
            <a:lstStyle/>
            <a:p>
              <a:r>
                <a:rPr lang="en-IN" sz="1000" b="1"/>
                <a:t>Auditing</a:t>
              </a:r>
            </a:p>
          </p:txBody>
        </p:sp>
        <p:cxnSp>
          <p:nvCxnSpPr>
            <p:cNvPr id="37" name="Connector: Elbow 36">
              <a:extLst>
                <a:ext uri="{FF2B5EF4-FFF2-40B4-BE49-F238E27FC236}">
                  <a16:creationId xmlns:a16="http://schemas.microsoft.com/office/drawing/2014/main" id="{5016CA38-5A8A-DDC6-05F9-70052A5F4613}"/>
                </a:ext>
              </a:extLst>
            </p:cNvPr>
            <p:cNvCxnSpPr>
              <a:stCxn id="34" idx="1"/>
            </p:cNvCxnSpPr>
            <p:nvPr/>
          </p:nvCxnSpPr>
          <p:spPr>
            <a:xfrm rot="10800000" flipV="1">
              <a:off x="8980700" y="1869384"/>
              <a:ext cx="560799" cy="793068"/>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AE0D1916-7A58-53F0-F6D0-8EE0BA2056DE}"/>
                </a:ext>
              </a:extLst>
            </p:cNvPr>
            <p:cNvCxnSpPr>
              <a:stCxn id="34" idx="3"/>
            </p:cNvCxnSpPr>
            <p:nvPr/>
          </p:nvCxnSpPr>
          <p:spPr>
            <a:xfrm>
              <a:off x="9846927" y="1869384"/>
              <a:ext cx="792205" cy="1170219"/>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9B9474C7-48B7-46A6-3D9C-8627A53C846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36607" y="3066260"/>
              <a:ext cx="478167" cy="542784"/>
            </a:xfrm>
            <a:prstGeom prst="rect">
              <a:avLst/>
            </a:prstGeom>
          </p:spPr>
        </p:pic>
        <p:sp>
          <p:nvSpPr>
            <p:cNvPr id="42" name="TextBox 41">
              <a:extLst>
                <a:ext uri="{FF2B5EF4-FFF2-40B4-BE49-F238E27FC236}">
                  <a16:creationId xmlns:a16="http://schemas.microsoft.com/office/drawing/2014/main" id="{C40F4414-DAFF-7D3B-532D-AEA1C449C2CA}"/>
                </a:ext>
              </a:extLst>
            </p:cNvPr>
            <p:cNvSpPr txBox="1"/>
            <p:nvPr/>
          </p:nvSpPr>
          <p:spPr>
            <a:xfrm>
              <a:off x="7699636" y="3593737"/>
              <a:ext cx="795633" cy="506948"/>
            </a:xfrm>
            <a:prstGeom prst="rect">
              <a:avLst/>
            </a:prstGeom>
            <a:noFill/>
          </p:spPr>
          <p:txBody>
            <a:bodyPr wrap="square">
              <a:spAutoFit/>
            </a:bodyPr>
            <a:lstStyle/>
            <a:p>
              <a:pPr algn="ctr"/>
              <a:r>
                <a:rPr lang="en-IN" sz="800" b="1" i="0">
                  <a:solidFill>
                    <a:srgbClr val="000000"/>
                  </a:solidFill>
                  <a:effectLst/>
                  <a:latin typeface="Helvetica" panose="020B0604020202020204" pitchFamily="34" charset="0"/>
                </a:rPr>
                <a:t>Service connector Hub</a:t>
              </a:r>
            </a:p>
          </p:txBody>
        </p:sp>
        <p:cxnSp>
          <p:nvCxnSpPr>
            <p:cNvPr id="44" name="Straight Arrow Connector 43">
              <a:extLst>
                <a:ext uri="{FF2B5EF4-FFF2-40B4-BE49-F238E27FC236}">
                  <a16:creationId xmlns:a16="http://schemas.microsoft.com/office/drawing/2014/main" id="{981BBAD6-8D3F-A31A-77AC-C714B5797A01}"/>
                </a:ext>
              </a:extLst>
            </p:cNvPr>
            <p:cNvCxnSpPr>
              <a:cxnSpLocks/>
              <a:stCxn id="42" idx="2"/>
              <a:endCxn id="15" idx="0"/>
            </p:cNvCxnSpPr>
            <p:nvPr/>
          </p:nvCxnSpPr>
          <p:spPr>
            <a:xfrm>
              <a:off x="8097453" y="4100685"/>
              <a:ext cx="5889" cy="1366187"/>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6" name="Picture 45">
              <a:extLst>
                <a:ext uri="{FF2B5EF4-FFF2-40B4-BE49-F238E27FC236}">
                  <a16:creationId xmlns:a16="http://schemas.microsoft.com/office/drawing/2014/main" id="{AA5C3EFE-54C2-5840-71FD-F5390C3933D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021091" y="3207360"/>
              <a:ext cx="410434" cy="465898"/>
            </a:xfrm>
            <a:prstGeom prst="rect">
              <a:avLst/>
            </a:prstGeom>
          </p:spPr>
        </p:pic>
        <p:sp>
          <p:nvSpPr>
            <p:cNvPr id="47" name="TextBox 46">
              <a:extLst>
                <a:ext uri="{FF2B5EF4-FFF2-40B4-BE49-F238E27FC236}">
                  <a16:creationId xmlns:a16="http://schemas.microsoft.com/office/drawing/2014/main" id="{EB0C6EE8-D75A-0729-968E-D66D2AA218B4}"/>
                </a:ext>
              </a:extLst>
            </p:cNvPr>
            <p:cNvSpPr txBox="1"/>
            <p:nvPr/>
          </p:nvSpPr>
          <p:spPr>
            <a:xfrm>
              <a:off x="8797712" y="3631685"/>
              <a:ext cx="833276" cy="506948"/>
            </a:xfrm>
            <a:prstGeom prst="rect">
              <a:avLst/>
            </a:prstGeom>
            <a:noFill/>
          </p:spPr>
          <p:txBody>
            <a:bodyPr wrap="square">
              <a:spAutoFit/>
            </a:bodyPr>
            <a:lstStyle/>
            <a:p>
              <a:pPr algn="ctr"/>
              <a:r>
                <a:rPr lang="en-IN" sz="800" b="1" i="0">
                  <a:solidFill>
                    <a:srgbClr val="000000"/>
                  </a:solidFill>
                  <a:effectLst/>
                  <a:latin typeface="Helvetica" panose="020B0604020202020204" pitchFamily="34" charset="0"/>
                </a:rPr>
                <a:t>Service connector Hub</a:t>
              </a:r>
            </a:p>
          </p:txBody>
        </p:sp>
        <p:pic>
          <p:nvPicPr>
            <p:cNvPr id="49" name="Picture 48">
              <a:extLst>
                <a:ext uri="{FF2B5EF4-FFF2-40B4-BE49-F238E27FC236}">
                  <a16:creationId xmlns:a16="http://schemas.microsoft.com/office/drawing/2014/main" id="{9FAB6651-74B6-E009-2521-DB001094ADA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895461" y="3517908"/>
              <a:ext cx="323591" cy="323591"/>
            </a:xfrm>
            <a:prstGeom prst="rect">
              <a:avLst/>
            </a:prstGeom>
          </p:spPr>
        </p:pic>
        <p:sp>
          <p:nvSpPr>
            <p:cNvPr id="50" name="TextBox 49">
              <a:extLst>
                <a:ext uri="{FF2B5EF4-FFF2-40B4-BE49-F238E27FC236}">
                  <a16:creationId xmlns:a16="http://schemas.microsoft.com/office/drawing/2014/main" id="{655A0B9A-99BC-A8A5-229E-BE7492EAC804}"/>
                </a:ext>
              </a:extLst>
            </p:cNvPr>
            <p:cNvSpPr txBox="1"/>
            <p:nvPr/>
          </p:nvSpPr>
          <p:spPr>
            <a:xfrm>
              <a:off x="9618695" y="3829565"/>
              <a:ext cx="870179" cy="234290"/>
            </a:xfrm>
            <a:prstGeom prst="rect">
              <a:avLst/>
            </a:prstGeom>
            <a:noFill/>
          </p:spPr>
          <p:txBody>
            <a:bodyPr wrap="square">
              <a:spAutoFit/>
            </a:bodyPr>
            <a:lstStyle/>
            <a:p>
              <a:pPr algn="ctr"/>
              <a:r>
                <a:rPr lang="en-IN" sz="800" b="1" i="0">
                  <a:solidFill>
                    <a:srgbClr val="000000"/>
                  </a:solidFill>
                  <a:effectLst/>
                  <a:latin typeface="Helvetica" panose="020B0604020202020204" pitchFamily="34" charset="0"/>
                </a:rPr>
                <a:t>Streaming</a:t>
              </a:r>
            </a:p>
          </p:txBody>
        </p:sp>
        <p:pic>
          <p:nvPicPr>
            <p:cNvPr id="51" name="Picture 50">
              <a:extLst>
                <a:ext uri="{FF2B5EF4-FFF2-40B4-BE49-F238E27FC236}">
                  <a16:creationId xmlns:a16="http://schemas.microsoft.com/office/drawing/2014/main" id="{257C2BAD-B60F-5FEA-E66E-443DDE05B91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878492" y="4374147"/>
              <a:ext cx="347507" cy="353140"/>
            </a:xfrm>
            <a:prstGeom prst="rect">
              <a:avLst/>
            </a:prstGeom>
          </p:spPr>
        </p:pic>
        <p:sp>
          <p:nvSpPr>
            <p:cNvPr id="52" name="TextBox 51">
              <a:extLst>
                <a:ext uri="{FF2B5EF4-FFF2-40B4-BE49-F238E27FC236}">
                  <a16:creationId xmlns:a16="http://schemas.microsoft.com/office/drawing/2014/main" id="{6AEECA5E-6AC5-A317-1139-B39B69636BAF}"/>
                </a:ext>
              </a:extLst>
            </p:cNvPr>
            <p:cNvSpPr txBox="1"/>
            <p:nvPr/>
          </p:nvSpPr>
          <p:spPr>
            <a:xfrm>
              <a:off x="9717472" y="4732649"/>
              <a:ext cx="725056" cy="338554"/>
            </a:xfrm>
            <a:prstGeom prst="rect">
              <a:avLst/>
            </a:prstGeom>
            <a:noFill/>
          </p:spPr>
          <p:txBody>
            <a:bodyPr wrap="square">
              <a:spAutoFit/>
            </a:bodyPr>
            <a:lstStyle/>
            <a:p>
              <a:pPr algn="ctr"/>
              <a:r>
                <a:rPr lang="en-IN" sz="800" b="1" i="0">
                  <a:solidFill>
                    <a:srgbClr val="000000"/>
                  </a:solidFill>
                  <a:effectLst/>
                  <a:latin typeface="Helvetica" panose="020B0604020202020204" pitchFamily="34" charset="0"/>
                </a:rPr>
                <a:t>Virtual Machine</a:t>
              </a:r>
            </a:p>
          </p:txBody>
        </p:sp>
        <p:pic>
          <p:nvPicPr>
            <p:cNvPr id="54" name="Picture 53">
              <a:extLst>
                <a:ext uri="{FF2B5EF4-FFF2-40B4-BE49-F238E27FC236}">
                  <a16:creationId xmlns:a16="http://schemas.microsoft.com/office/drawing/2014/main" id="{6AD6C247-3734-DC1F-F7B0-98B2FFCC2A6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638246" y="4424160"/>
              <a:ext cx="462413" cy="422636"/>
            </a:xfrm>
            <a:prstGeom prst="rect">
              <a:avLst/>
            </a:prstGeom>
          </p:spPr>
        </p:pic>
        <p:sp>
          <p:nvSpPr>
            <p:cNvPr id="55" name="TextBox 54">
              <a:extLst>
                <a:ext uri="{FF2B5EF4-FFF2-40B4-BE49-F238E27FC236}">
                  <a16:creationId xmlns:a16="http://schemas.microsoft.com/office/drawing/2014/main" id="{0D4FFC8D-B456-32BE-1219-7DC0D5A27C14}"/>
                </a:ext>
              </a:extLst>
            </p:cNvPr>
            <p:cNvSpPr txBox="1"/>
            <p:nvPr/>
          </p:nvSpPr>
          <p:spPr>
            <a:xfrm>
              <a:off x="10666236" y="4815985"/>
              <a:ext cx="492790" cy="236576"/>
            </a:xfrm>
            <a:prstGeom prst="rect">
              <a:avLst/>
            </a:prstGeom>
            <a:noFill/>
          </p:spPr>
          <p:txBody>
            <a:bodyPr wrap="square">
              <a:spAutoFit/>
            </a:bodyPr>
            <a:lstStyle/>
            <a:p>
              <a:pPr algn="ctr"/>
              <a:r>
                <a:rPr lang="en-IN" sz="800" b="1" i="0">
                  <a:solidFill>
                    <a:srgbClr val="000000"/>
                  </a:solidFill>
                  <a:effectLst/>
                  <a:latin typeface="Helvetica" panose="020B0604020202020204" pitchFamily="34" charset="0"/>
                </a:rPr>
                <a:t>ATP</a:t>
              </a:r>
            </a:p>
          </p:txBody>
        </p:sp>
        <p:cxnSp>
          <p:nvCxnSpPr>
            <p:cNvPr id="57" name="Straight Arrow Connector 56">
              <a:extLst>
                <a:ext uri="{FF2B5EF4-FFF2-40B4-BE49-F238E27FC236}">
                  <a16:creationId xmlns:a16="http://schemas.microsoft.com/office/drawing/2014/main" id="{D901E7C3-1ECD-A191-8F33-CB88541FE9A9}"/>
                </a:ext>
              </a:extLst>
            </p:cNvPr>
            <p:cNvCxnSpPr>
              <a:cxnSpLocks/>
              <a:stCxn id="51" idx="0"/>
              <a:endCxn id="50" idx="2"/>
            </p:cNvCxnSpPr>
            <p:nvPr/>
          </p:nvCxnSpPr>
          <p:spPr>
            <a:xfrm flipV="1">
              <a:off x="10052246" y="4063855"/>
              <a:ext cx="1538" cy="310292"/>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559B7C9A-D0C4-91A8-E669-52BAD49095CC}"/>
                </a:ext>
              </a:extLst>
            </p:cNvPr>
            <p:cNvCxnSpPr>
              <a:cxnSpLocks/>
              <a:endCxn id="49" idx="0"/>
            </p:cNvCxnSpPr>
            <p:nvPr/>
          </p:nvCxnSpPr>
          <p:spPr>
            <a:xfrm>
              <a:off x="9489893" y="3283617"/>
              <a:ext cx="567364" cy="234291"/>
            </a:xfrm>
            <a:prstGeom prst="bentConnector2">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72"/>
        <p:cNvGrpSpPr/>
        <p:nvPr/>
      </p:nvGrpSpPr>
      <p:grpSpPr>
        <a:xfrm>
          <a:off x="0" y="0"/>
          <a:ext cx="0" cy="0"/>
          <a:chOff x="0" y="0"/>
          <a:chExt cx="0" cy="0"/>
        </a:xfrm>
      </p:grpSpPr>
      <p:sp>
        <p:nvSpPr>
          <p:cNvPr id="74" name="Google Shape;74;p12"/>
          <p:cNvSpPr txBox="1">
            <a:spLocks noGrp="1"/>
          </p:cNvSpPr>
          <p:nvPr>
            <p:ph type="body" idx="1"/>
          </p:nvPr>
        </p:nvSpPr>
        <p:spPr>
          <a:xfrm>
            <a:off x="1493795" y="1718964"/>
            <a:ext cx="8599111" cy="3336116"/>
          </a:xfrm>
          <a:prstGeom prst="rect">
            <a:avLst/>
          </a:prstGeom>
          <a:noFill/>
          <a:ln>
            <a:noFill/>
          </a:ln>
        </p:spPr>
        <p:txBody>
          <a:bodyPr spcFirstLastPara="1" wrap="square" lIns="121900" tIns="121900" rIns="121900" bIns="121900" anchor="t" anchorCtr="0">
            <a:normAutofit lnSpcReduction="10000"/>
          </a:bodyPr>
          <a:lstStyle/>
          <a:p>
            <a:pPr indent="-406390" algn="just">
              <a:lnSpc>
                <a:spcPct val="140000"/>
              </a:lnSpc>
              <a:buSzPts val="1200"/>
              <a:buFont typeface="Wingdings" panose="05000000000000000000" pitchFamily="2" charset="2"/>
              <a:buChar char="v"/>
            </a:pPr>
            <a:r>
              <a:rPr lang="en" sz="1600" dirty="0">
                <a:latin typeface="Rockwell" pitchFamily="18" charset="0"/>
                <a:ea typeface="Merriweather"/>
                <a:cs typeface="Merriweather"/>
                <a:sym typeface="Merriweather"/>
              </a:rPr>
              <a:t>High-performance computing and low-cost cloud storage.</a:t>
            </a:r>
            <a:endParaRPr sz="1600" dirty="0">
              <a:latin typeface="Rockwell" pitchFamily="18" charset="0"/>
              <a:ea typeface="Merriweather"/>
              <a:cs typeface="Merriweather"/>
              <a:sym typeface="Merriweather"/>
            </a:endParaRPr>
          </a:p>
          <a:p>
            <a:pPr indent="-406390" algn="just">
              <a:lnSpc>
                <a:spcPct val="140000"/>
              </a:lnSpc>
              <a:spcBef>
                <a:spcPts val="1333"/>
              </a:spcBef>
              <a:buSzPts val="1200"/>
              <a:buFont typeface="Wingdings" panose="05000000000000000000" pitchFamily="2" charset="2"/>
              <a:buChar char="v"/>
            </a:pPr>
            <a:r>
              <a:rPr lang="en" sz="1600" dirty="0">
                <a:latin typeface="Rockwell" pitchFamily="18" charset="0"/>
                <a:ea typeface="Merriweather"/>
                <a:cs typeface="Merriweather"/>
                <a:sym typeface="Merriweather"/>
              </a:rPr>
              <a:t>Key storage workload requirements and use cases can be addressed through on-demand local NVMe storage, object storage, file storage, block volume, and archive storage in Oracle Cloud. </a:t>
            </a:r>
            <a:endParaRPr sz="1600" dirty="0">
              <a:latin typeface="Rockwell" pitchFamily="18" charset="0"/>
              <a:ea typeface="Merriweather"/>
              <a:cs typeface="Merriweather"/>
              <a:sym typeface="Merriweather"/>
            </a:endParaRPr>
          </a:p>
          <a:p>
            <a:pPr indent="-406390" algn="just">
              <a:lnSpc>
                <a:spcPct val="140000"/>
              </a:lnSpc>
              <a:spcBef>
                <a:spcPts val="1333"/>
              </a:spcBef>
              <a:buSzPts val="1200"/>
              <a:buFont typeface="Wingdings" panose="05000000000000000000" pitchFamily="2" charset="2"/>
              <a:buChar char="v"/>
            </a:pPr>
            <a:r>
              <a:rPr lang="en" sz="1600" dirty="0">
                <a:latin typeface="Rockwell" pitchFamily="18" charset="0"/>
                <a:ea typeface="Merriweather"/>
                <a:cs typeface="Merriweather"/>
                <a:sym typeface="Merriweather"/>
              </a:rPr>
              <a:t>To safely and securely move the On-Premises data to the cloud, Storage gateway and Data Transfer service can be used.</a:t>
            </a:r>
            <a:endParaRPr sz="1600" dirty="0">
              <a:latin typeface="Rockwell" pitchFamily="18" charset="0"/>
              <a:ea typeface="Merriweather"/>
              <a:cs typeface="Merriweather"/>
              <a:sym typeface="Merriweather"/>
            </a:endParaRPr>
          </a:p>
          <a:p>
            <a:pPr indent="-406390" algn="just">
              <a:lnSpc>
                <a:spcPct val="140000"/>
              </a:lnSpc>
              <a:spcBef>
                <a:spcPts val="1333"/>
              </a:spcBef>
              <a:buSzPts val="1200"/>
              <a:buFont typeface="Wingdings" panose="05000000000000000000" pitchFamily="2" charset="2"/>
              <a:buChar char="v"/>
            </a:pPr>
            <a:r>
              <a:rPr lang="en" sz="1600" dirty="0">
                <a:latin typeface="Rockwell" pitchFamily="18" charset="0"/>
                <a:ea typeface="Merriweather"/>
                <a:cs typeface="Merriweather"/>
                <a:sym typeface="Merriweather"/>
              </a:rPr>
              <a:t>Oracle’s Storage products enable high application performance while protecting crucial on-premises customer data against cyber attacks and failures.</a:t>
            </a:r>
            <a:endParaRPr sz="1600" dirty="0">
              <a:latin typeface="Rockwell" pitchFamily="18" charset="0"/>
              <a:ea typeface="Merriweather"/>
              <a:cs typeface="Merriweather"/>
              <a:sym typeface="Merriweather"/>
            </a:endParaRPr>
          </a:p>
        </p:txBody>
      </p:sp>
      <p:sp>
        <p:nvSpPr>
          <p:cNvPr id="4" name="Google Shape;80;p13">
            <a:extLst>
              <a:ext uri="{FF2B5EF4-FFF2-40B4-BE49-F238E27FC236}">
                <a16:creationId xmlns:a16="http://schemas.microsoft.com/office/drawing/2014/main" id="{C1221434-ADBC-032F-B9E5-B95A766DF60B}"/>
              </a:ext>
            </a:extLst>
          </p:cNvPr>
          <p:cNvSpPr txBox="1"/>
          <p:nvPr/>
        </p:nvSpPr>
        <p:spPr>
          <a:xfrm>
            <a:off x="158500" y="692675"/>
            <a:ext cx="6562400" cy="621600"/>
          </a:xfrm>
          <a:prstGeom prst="rect">
            <a:avLst/>
          </a:prstGeom>
          <a:noFill/>
          <a:ln>
            <a:noFill/>
          </a:ln>
        </p:spPr>
        <p:txBody>
          <a:bodyPr spcFirstLastPara="1" wrap="square" lIns="152400" tIns="121900" rIns="121900" bIns="121900" anchor="t" anchorCtr="0">
            <a:noAutofit/>
          </a:bodyPr>
          <a:lstStyle/>
          <a:p>
            <a:pPr>
              <a:buClr>
                <a:schemeClr val="dk1"/>
              </a:buClr>
              <a:buSzPts val="2000"/>
            </a:pPr>
            <a:r>
              <a:rPr lang="en" sz="2400" b="1" dirty="0">
                <a:latin typeface="Rockwell" pitchFamily="18" charset="0"/>
                <a:ea typeface="Merriweather"/>
                <a:cs typeface="Merriweather"/>
                <a:sym typeface="Merriweather"/>
              </a:rPr>
              <a:t>OCI Cloud Storage Services</a:t>
            </a:r>
            <a:endParaRPr sz="2400" b="1" dirty="0">
              <a:latin typeface="Rockwell" pitchFamily="18" charset="0"/>
              <a:ea typeface="Merriweather"/>
              <a:cs typeface="Merriweather"/>
              <a:sym typeface="Merriweather"/>
            </a:endParaRPr>
          </a:p>
        </p:txBody>
      </p:sp>
      <p:pic>
        <p:nvPicPr>
          <p:cNvPr id="3" name="Picture 2">
            <a:extLst>
              <a:ext uri="{FF2B5EF4-FFF2-40B4-BE49-F238E27FC236}">
                <a16:creationId xmlns:a16="http://schemas.microsoft.com/office/drawing/2014/main" id="{BCAAB821-EDF3-BAF5-C44F-08CA95868847}"/>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28758" y1="38072" x2="28758" y2="38072"/>
                        <a14:foregroundMark x1="41667" y1="56536" x2="41667" y2="56536"/>
                        <a14:foregroundMark x1="46078" y1="57353" x2="46078" y2="57353"/>
                        <a14:foregroundMark x1="40686" y1="64052" x2="40686" y2="64052"/>
                        <a14:foregroundMark x1="47386" y1="64542" x2="47386" y2="64542"/>
                        <a14:foregroundMark x1="41176" y1="70752" x2="41176" y2="70752"/>
                        <a14:foregroundMark x1="46895" y1="71569" x2="46895" y2="71569"/>
                      </a14:backgroundRemoval>
                    </a14:imgEffect>
                  </a14:imgLayer>
                </a14:imgProps>
              </a:ext>
            </a:extLst>
          </a:blip>
          <a:srcRect l="14730" t="20130" r="15435" b="21456"/>
          <a:stretch/>
        </p:blipFill>
        <p:spPr>
          <a:xfrm>
            <a:off x="252871" y="1550443"/>
            <a:ext cx="1240924" cy="10379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8" name="Google Shape;98;p16"/>
          <p:cNvSpPr txBox="1"/>
          <p:nvPr/>
        </p:nvSpPr>
        <p:spPr>
          <a:xfrm>
            <a:off x="816367" y="2289177"/>
            <a:ext cx="2642825" cy="1723508"/>
          </a:xfrm>
          <a:prstGeom prst="rect">
            <a:avLst/>
          </a:prstGeom>
          <a:noFill/>
          <a:ln>
            <a:noFill/>
          </a:ln>
        </p:spPr>
        <p:txBody>
          <a:bodyPr spcFirstLastPara="1" wrap="square" lIns="121900" tIns="121900" rIns="121900" bIns="121900" anchor="t" anchorCtr="0">
            <a:spAutoFit/>
          </a:bodyPr>
          <a:lstStyle/>
          <a:p>
            <a:pPr marL="609585" indent="-406390" algn="just">
              <a:lnSpc>
                <a:spcPct val="200000"/>
              </a:lnSpc>
              <a:buClr>
                <a:schemeClr val="dk1"/>
              </a:buClr>
              <a:buSzPts val="1200"/>
              <a:buFont typeface="Merriweather"/>
              <a:buChar char="❏"/>
            </a:pPr>
            <a:r>
              <a:rPr lang="en" sz="1600" dirty="0">
                <a:solidFill>
                  <a:schemeClr val="dk1"/>
                </a:solidFill>
                <a:latin typeface="Rockwell" pitchFamily="18" charset="0"/>
                <a:ea typeface="Merriweather"/>
                <a:cs typeface="Merriweather"/>
                <a:sym typeface="Merriweather"/>
              </a:rPr>
              <a:t>Block Volumes</a:t>
            </a:r>
            <a:endParaRPr sz="1600" dirty="0">
              <a:solidFill>
                <a:schemeClr val="dk1"/>
              </a:solidFill>
              <a:latin typeface="Rockwell" pitchFamily="18" charset="0"/>
              <a:ea typeface="Merriweather"/>
              <a:cs typeface="Merriweather"/>
              <a:sym typeface="Merriweather"/>
            </a:endParaRPr>
          </a:p>
          <a:p>
            <a:pPr marL="609585" indent="-406390" algn="just">
              <a:lnSpc>
                <a:spcPct val="200000"/>
              </a:lnSpc>
              <a:buClr>
                <a:schemeClr val="dk1"/>
              </a:buClr>
              <a:buSzPts val="1200"/>
              <a:buFont typeface="Merriweather"/>
              <a:buChar char="❏"/>
            </a:pPr>
            <a:r>
              <a:rPr lang="en" sz="1600" dirty="0">
                <a:solidFill>
                  <a:schemeClr val="dk1"/>
                </a:solidFill>
                <a:latin typeface="Rockwell" pitchFamily="18" charset="0"/>
                <a:ea typeface="Merriweather"/>
                <a:cs typeface="Merriweather"/>
                <a:sym typeface="Merriweather"/>
              </a:rPr>
              <a:t>Object Storage</a:t>
            </a:r>
            <a:endParaRPr sz="1600" dirty="0">
              <a:solidFill>
                <a:schemeClr val="dk1"/>
              </a:solidFill>
              <a:latin typeface="Rockwell" pitchFamily="18" charset="0"/>
              <a:ea typeface="Merriweather"/>
              <a:cs typeface="Merriweather"/>
              <a:sym typeface="Merriweather"/>
            </a:endParaRPr>
          </a:p>
          <a:p>
            <a:pPr marL="609585" indent="-406390" algn="just">
              <a:lnSpc>
                <a:spcPct val="200000"/>
              </a:lnSpc>
              <a:buClr>
                <a:schemeClr val="dk1"/>
              </a:buClr>
              <a:buSzPts val="1200"/>
              <a:buFont typeface="Merriweather"/>
              <a:buChar char="❏"/>
            </a:pPr>
            <a:r>
              <a:rPr lang="en" sz="1600" dirty="0">
                <a:solidFill>
                  <a:schemeClr val="dk1"/>
                </a:solidFill>
                <a:latin typeface="Rockwell" pitchFamily="18" charset="0"/>
                <a:ea typeface="Merriweather"/>
                <a:cs typeface="Merriweather"/>
                <a:sym typeface="Merriweather"/>
              </a:rPr>
              <a:t>Archive Storage</a:t>
            </a:r>
            <a:endParaRPr sz="1600" dirty="0">
              <a:solidFill>
                <a:schemeClr val="dk1"/>
              </a:solidFill>
              <a:latin typeface="Rockwell" pitchFamily="18" charset="0"/>
              <a:ea typeface="Merriweather"/>
              <a:cs typeface="Merriweather"/>
              <a:sym typeface="Merriweather"/>
            </a:endParaRPr>
          </a:p>
        </p:txBody>
      </p:sp>
      <p:sp>
        <p:nvSpPr>
          <p:cNvPr id="2" name="Google Shape;80;p13">
            <a:extLst>
              <a:ext uri="{FF2B5EF4-FFF2-40B4-BE49-F238E27FC236}">
                <a16:creationId xmlns:a16="http://schemas.microsoft.com/office/drawing/2014/main" id="{F1444A0A-B290-AC68-1216-DEE94043D757}"/>
              </a:ext>
            </a:extLst>
          </p:cNvPr>
          <p:cNvSpPr txBox="1"/>
          <p:nvPr/>
        </p:nvSpPr>
        <p:spPr>
          <a:xfrm>
            <a:off x="158500" y="692675"/>
            <a:ext cx="6562400" cy="621600"/>
          </a:xfrm>
          <a:prstGeom prst="rect">
            <a:avLst/>
          </a:prstGeom>
          <a:noFill/>
          <a:ln>
            <a:noFill/>
          </a:ln>
        </p:spPr>
        <p:txBody>
          <a:bodyPr spcFirstLastPara="1" wrap="square" lIns="152400" tIns="121900" rIns="121900" bIns="121900" anchor="t" anchorCtr="0">
            <a:noAutofit/>
          </a:bodyPr>
          <a:lstStyle/>
          <a:p>
            <a:pPr>
              <a:buClr>
                <a:schemeClr val="dk1"/>
              </a:buClr>
              <a:buSzPts val="2000"/>
            </a:pPr>
            <a:r>
              <a:rPr lang="en" sz="2400" b="1" dirty="0">
                <a:latin typeface="Rockwell" pitchFamily="18" charset="0"/>
                <a:ea typeface="Merriweather"/>
                <a:cs typeface="Merriweather"/>
                <a:sym typeface="Merriweather"/>
              </a:rPr>
              <a:t>OCI Cloud Storage Services</a:t>
            </a:r>
            <a:endParaRPr lang="en-IN" sz="2400" b="1" dirty="0">
              <a:latin typeface="Rockwell" pitchFamily="18" charset="0"/>
              <a:ea typeface="Merriweather"/>
              <a:cs typeface="Merriweather"/>
              <a:sym typeface="Merriweather"/>
            </a:endParaRPr>
          </a:p>
        </p:txBody>
      </p:sp>
      <p:grpSp>
        <p:nvGrpSpPr>
          <p:cNvPr id="17" name="Group 16">
            <a:extLst>
              <a:ext uri="{FF2B5EF4-FFF2-40B4-BE49-F238E27FC236}">
                <a16:creationId xmlns:a16="http://schemas.microsoft.com/office/drawing/2014/main" id="{F3C62FFE-A21C-9CA8-9A25-3DECAEE94D56}"/>
              </a:ext>
            </a:extLst>
          </p:cNvPr>
          <p:cNvGrpSpPr/>
          <p:nvPr/>
        </p:nvGrpSpPr>
        <p:grpSpPr>
          <a:xfrm>
            <a:off x="4800859" y="1796189"/>
            <a:ext cx="1218588" cy="849012"/>
            <a:chOff x="4043788" y="1287872"/>
            <a:chExt cx="913941" cy="636759"/>
          </a:xfrm>
        </p:grpSpPr>
        <p:pic>
          <p:nvPicPr>
            <p:cNvPr id="4" name="Picture 3">
              <a:extLst>
                <a:ext uri="{FF2B5EF4-FFF2-40B4-BE49-F238E27FC236}">
                  <a16:creationId xmlns:a16="http://schemas.microsoft.com/office/drawing/2014/main" id="{D65D95F7-F770-F94A-4CDC-9F7DA78B5BB3}"/>
                </a:ext>
              </a:extLst>
            </p:cNvPr>
            <p:cNvPicPr>
              <a:picLocks noChangeAspect="1"/>
            </p:cNvPicPr>
            <p:nvPr/>
          </p:nvPicPr>
          <p:blipFill>
            <a:blip r:embed="rId3" cstate="print"/>
            <a:stretch>
              <a:fillRect/>
            </a:stretch>
          </p:blipFill>
          <p:spPr>
            <a:xfrm>
              <a:off x="4267659" y="1287872"/>
              <a:ext cx="466200" cy="466200"/>
            </a:xfrm>
            <a:prstGeom prst="rect">
              <a:avLst/>
            </a:prstGeom>
          </p:spPr>
        </p:pic>
        <p:sp>
          <p:nvSpPr>
            <p:cNvPr id="5" name="TextBox 4">
              <a:extLst>
                <a:ext uri="{FF2B5EF4-FFF2-40B4-BE49-F238E27FC236}">
                  <a16:creationId xmlns:a16="http://schemas.microsoft.com/office/drawing/2014/main" id="{F03B3C14-6B73-9DA4-E32C-06B16F11E52C}"/>
                </a:ext>
              </a:extLst>
            </p:cNvPr>
            <p:cNvSpPr txBox="1"/>
            <p:nvPr/>
          </p:nvSpPr>
          <p:spPr>
            <a:xfrm>
              <a:off x="4043788" y="1716882"/>
              <a:ext cx="913941" cy="207749"/>
            </a:xfrm>
            <a:prstGeom prst="rect">
              <a:avLst/>
            </a:prstGeom>
            <a:noFill/>
          </p:spPr>
          <p:txBody>
            <a:bodyPr wrap="square" rtlCol="0">
              <a:spAutoFit/>
            </a:bodyPr>
            <a:lstStyle/>
            <a:p>
              <a:pPr algn="ctr"/>
              <a:r>
                <a:rPr lang="en-IN" sz="1200" b="1" dirty="0"/>
                <a:t>Block Volumes</a:t>
              </a:r>
            </a:p>
          </p:txBody>
        </p:sp>
      </p:grpSp>
      <p:grpSp>
        <p:nvGrpSpPr>
          <p:cNvPr id="18" name="Group 17">
            <a:extLst>
              <a:ext uri="{FF2B5EF4-FFF2-40B4-BE49-F238E27FC236}">
                <a16:creationId xmlns:a16="http://schemas.microsoft.com/office/drawing/2014/main" id="{43C91E95-430B-6635-D4F0-79E0A43C2560}"/>
              </a:ext>
            </a:extLst>
          </p:cNvPr>
          <p:cNvGrpSpPr/>
          <p:nvPr/>
        </p:nvGrpSpPr>
        <p:grpSpPr>
          <a:xfrm>
            <a:off x="4817711" y="3218666"/>
            <a:ext cx="1218588" cy="890220"/>
            <a:chOff x="4765819" y="1287872"/>
            <a:chExt cx="913941" cy="667665"/>
          </a:xfrm>
        </p:grpSpPr>
        <p:pic>
          <p:nvPicPr>
            <p:cNvPr id="7" name="Picture 6">
              <a:extLst>
                <a:ext uri="{FF2B5EF4-FFF2-40B4-BE49-F238E27FC236}">
                  <a16:creationId xmlns:a16="http://schemas.microsoft.com/office/drawing/2014/main" id="{FDE2FF34-DA23-50FF-729D-4EA611A81252}"/>
                </a:ext>
              </a:extLst>
            </p:cNvPr>
            <p:cNvPicPr>
              <a:picLocks noChangeAspect="1"/>
            </p:cNvPicPr>
            <p:nvPr/>
          </p:nvPicPr>
          <p:blipFill>
            <a:blip r:embed="rId4" cstate="print"/>
            <a:stretch>
              <a:fillRect/>
            </a:stretch>
          </p:blipFill>
          <p:spPr>
            <a:xfrm>
              <a:off x="4989690" y="1287872"/>
              <a:ext cx="466200" cy="466200"/>
            </a:xfrm>
            <a:prstGeom prst="rect">
              <a:avLst/>
            </a:prstGeom>
          </p:spPr>
        </p:pic>
        <p:sp>
          <p:nvSpPr>
            <p:cNvPr id="8" name="TextBox 7">
              <a:extLst>
                <a:ext uri="{FF2B5EF4-FFF2-40B4-BE49-F238E27FC236}">
                  <a16:creationId xmlns:a16="http://schemas.microsoft.com/office/drawing/2014/main" id="{294429DC-64E6-FE8A-3765-DC5BABC0D9CA}"/>
                </a:ext>
              </a:extLst>
            </p:cNvPr>
            <p:cNvSpPr txBox="1"/>
            <p:nvPr/>
          </p:nvSpPr>
          <p:spPr>
            <a:xfrm>
              <a:off x="4765819" y="1747788"/>
              <a:ext cx="913941" cy="207749"/>
            </a:xfrm>
            <a:prstGeom prst="rect">
              <a:avLst/>
            </a:prstGeom>
            <a:noFill/>
          </p:spPr>
          <p:txBody>
            <a:bodyPr wrap="square" rtlCol="0">
              <a:spAutoFit/>
            </a:bodyPr>
            <a:lstStyle/>
            <a:p>
              <a:pPr algn="ctr"/>
              <a:r>
                <a:rPr lang="en-IN" sz="1200" b="1"/>
                <a:t>Object Storage</a:t>
              </a:r>
            </a:p>
          </p:txBody>
        </p:sp>
      </p:grpSp>
      <p:grpSp>
        <p:nvGrpSpPr>
          <p:cNvPr id="19" name="Group 18">
            <a:extLst>
              <a:ext uri="{FF2B5EF4-FFF2-40B4-BE49-F238E27FC236}">
                <a16:creationId xmlns:a16="http://schemas.microsoft.com/office/drawing/2014/main" id="{C5D41932-6A9A-8C67-8B6E-FA9C296F8222}"/>
              </a:ext>
            </a:extLst>
          </p:cNvPr>
          <p:cNvGrpSpPr/>
          <p:nvPr/>
        </p:nvGrpSpPr>
        <p:grpSpPr>
          <a:xfrm>
            <a:off x="4855474" y="4676037"/>
            <a:ext cx="1218588" cy="851188"/>
            <a:chOff x="5431741" y="1287872"/>
            <a:chExt cx="913941" cy="638391"/>
          </a:xfrm>
        </p:grpSpPr>
        <p:pic>
          <p:nvPicPr>
            <p:cNvPr id="15" name="Picture 14">
              <a:extLst>
                <a:ext uri="{FF2B5EF4-FFF2-40B4-BE49-F238E27FC236}">
                  <a16:creationId xmlns:a16="http://schemas.microsoft.com/office/drawing/2014/main" id="{D4F51BB2-CD58-B0D5-7103-5AD6DCD9BC4E}"/>
                </a:ext>
              </a:extLst>
            </p:cNvPr>
            <p:cNvPicPr>
              <a:picLocks noChangeAspect="1"/>
            </p:cNvPicPr>
            <p:nvPr/>
          </p:nvPicPr>
          <p:blipFill>
            <a:blip r:embed="rId4" cstate="print">
              <a:duotone>
                <a:prstClr val="black"/>
                <a:srgbClr val="D9C3A5">
                  <a:tint val="50000"/>
                  <a:satMod val="180000"/>
                </a:srgbClr>
              </a:duotone>
            </a:blip>
            <a:stretch>
              <a:fillRect/>
            </a:stretch>
          </p:blipFill>
          <p:spPr>
            <a:xfrm>
              <a:off x="5631462" y="1287872"/>
              <a:ext cx="466200" cy="466200"/>
            </a:xfrm>
            <a:prstGeom prst="rect">
              <a:avLst/>
            </a:prstGeom>
          </p:spPr>
        </p:pic>
        <p:sp>
          <p:nvSpPr>
            <p:cNvPr id="16" name="TextBox 15">
              <a:extLst>
                <a:ext uri="{FF2B5EF4-FFF2-40B4-BE49-F238E27FC236}">
                  <a16:creationId xmlns:a16="http://schemas.microsoft.com/office/drawing/2014/main" id="{C88808E6-9255-798A-590F-1677C404CA99}"/>
                </a:ext>
              </a:extLst>
            </p:cNvPr>
            <p:cNvSpPr txBox="1"/>
            <p:nvPr/>
          </p:nvSpPr>
          <p:spPr>
            <a:xfrm>
              <a:off x="5431741" y="1718514"/>
              <a:ext cx="913941" cy="207749"/>
            </a:xfrm>
            <a:prstGeom prst="rect">
              <a:avLst/>
            </a:prstGeom>
            <a:noFill/>
          </p:spPr>
          <p:txBody>
            <a:bodyPr wrap="square" rtlCol="0">
              <a:spAutoFit/>
            </a:bodyPr>
            <a:lstStyle/>
            <a:p>
              <a:pPr algn="ctr"/>
              <a:r>
                <a:rPr lang="en-IN" sz="1200" b="1"/>
                <a:t>Archive Storage</a:t>
              </a:r>
            </a:p>
          </p:txBody>
        </p:sp>
      </p:grpSp>
      <p:sp>
        <p:nvSpPr>
          <p:cNvPr id="20" name="Rectangle: Rounded Corners 19">
            <a:extLst>
              <a:ext uri="{FF2B5EF4-FFF2-40B4-BE49-F238E27FC236}">
                <a16:creationId xmlns:a16="http://schemas.microsoft.com/office/drawing/2014/main" id="{1E9CB168-3C69-9A8A-6003-27C4B02D8E2A}"/>
              </a:ext>
            </a:extLst>
          </p:cNvPr>
          <p:cNvSpPr/>
          <p:nvPr/>
        </p:nvSpPr>
        <p:spPr>
          <a:xfrm>
            <a:off x="6055932" y="1625888"/>
            <a:ext cx="4098371" cy="1326576"/>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bg1"/>
                </a:solidFill>
              </a:rPr>
              <a:t>WARM DATA</a:t>
            </a:r>
          </a:p>
        </p:txBody>
      </p:sp>
      <p:sp>
        <p:nvSpPr>
          <p:cNvPr id="21" name="Rectangle: Rounded Corners 20">
            <a:extLst>
              <a:ext uri="{FF2B5EF4-FFF2-40B4-BE49-F238E27FC236}">
                <a16:creationId xmlns:a16="http://schemas.microsoft.com/office/drawing/2014/main" id="{F8EAC644-EF40-DD6B-E5E4-AF8AA72CFCA0}"/>
              </a:ext>
            </a:extLst>
          </p:cNvPr>
          <p:cNvSpPr/>
          <p:nvPr/>
        </p:nvSpPr>
        <p:spPr>
          <a:xfrm>
            <a:off x="6021120" y="3052292"/>
            <a:ext cx="4098371" cy="1326576"/>
          </a:xfrm>
          <a:prstGeom prst="round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bg1"/>
                </a:solidFill>
              </a:rPr>
              <a:t>FROZEN DATA</a:t>
            </a:r>
          </a:p>
        </p:txBody>
      </p:sp>
      <p:sp>
        <p:nvSpPr>
          <p:cNvPr id="22" name="Rectangle: Rounded Corners 21">
            <a:extLst>
              <a:ext uri="{FF2B5EF4-FFF2-40B4-BE49-F238E27FC236}">
                <a16:creationId xmlns:a16="http://schemas.microsoft.com/office/drawing/2014/main" id="{68E8CE20-69E0-9963-B6E8-14E19F665A17}"/>
              </a:ext>
            </a:extLst>
          </p:cNvPr>
          <p:cNvSpPr/>
          <p:nvPr/>
        </p:nvSpPr>
        <p:spPr>
          <a:xfrm>
            <a:off x="6021120" y="4501088"/>
            <a:ext cx="4098371" cy="1326576"/>
          </a:xfrm>
          <a:prstGeom prst="roundRect">
            <a:avLst/>
          </a:prstGeom>
          <a:solidFill>
            <a:srgbClr val="3977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bg1"/>
                </a:solidFill>
              </a:rPr>
              <a:t>COLD DATA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03"/>
        <p:cNvGrpSpPr/>
        <p:nvPr/>
      </p:nvGrpSpPr>
      <p:grpSpPr>
        <a:xfrm>
          <a:off x="0" y="0"/>
          <a:ext cx="0" cy="0"/>
          <a:chOff x="0" y="0"/>
          <a:chExt cx="0" cy="0"/>
        </a:xfrm>
      </p:grpSpPr>
      <p:sp>
        <p:nvSpPr>
          <p:cNvPr id="105" name="Google Shape;105;p17"/>
          <p:cNvSpPr txBox="1">
            <a:spLocks noGrp="1"/>
          </p:cNvSpPr>
          <p:nvPr>
            <p:ph type="body" idx="1"/>
          </p:nvPr>
        </p:nvSpPr>
        <p:spPr>
          <a:xfrm>
            <a:off x="1908099" y="1199792"/>
            <a:ext cx="9625602" cy="1645567"/>
          </a:xfrm>
          <a:prstGeom prst="rect">
            <a:avLst/>
          </a:prstGeom>
          <a:noFill/>
          <a:ln>
            <a:noFill/>
          </a:ln>
        </p:spPr>
        <p:txBody>
          <a:bodyPr spcFirstLastPara="1" wrap="square" lIns="121900" tIns="121900" rIns="121900" bIns="121900" anchor="t" anchorCtr="0">
            <a:noAutofit/>
          </a:bodyPr>
          <a:lstStyle/>
          <a:p>
            <a:pPr marL="0" indent="0">
              <a:lnSpc>
                <a:spcPct val="130000"/>
              </a:lnSpc>
              <a:buSzPts val="1100"/>
              <a:buNone/>
            </a:pPr>
            <a:r>
              <a:rPr lang="en" sz="1333" b="1" dirty="0">
                <a:latin typeface="Rockwell" pitchFamily="18" charset="0"/>
                <a:ea typeface="Merriweather"/>
                <a:cs typeface="Merriweather"/>
                <a:sym typeface="Merriweather"/>
              </a:rPr>
              <a:t>High-performance block storage at any scale:</a:t>
            </a:r>
          </a:p>
          <a:p>
            <a:pPr marL="0" indent="0">
              <a:lnSpc>
                <a:spcPct val="130000"/>
              </a:lnSpc>
              <a:buSzPts val="1100"/>
              <a:buNone/>
            </a:pPr>
            <a:endParaRPr sz="1333" b="1" dirty="0">
              <a:latin typeface="Rockwell" pitchFamily="18" charset="0"/>
              <a:ea typeface="Merriweather"/>
              <a:cs typeface="Merriweather"/>
              <a:sym typeface="Merriweather"/>
            </a:endParaRPr>
          </a:p>
          <a:p>
            <a:pPr marL="0" indent="0" algn="just">
              <a:lnSpc>
                <a:spcPct val="130000"/>
              </a:lnSpc>
              <a:buNone/>
            </a:pPr>
            <a:r>
              <a:rPr lang="en" sz="1333" dirty="0">
                <a:latin typeface="Rockwell" pitchFamily="18" charset="0"/>
                <a:ea typeface="Merriweather"/>
                <a:cs typeface="Merriweather"/>
                <a:sym typeface="Merriweather"/>
              </a:rPr>
              <a:t>Oracle Cloud Infrastructure storage platform is an ideal complement to Oracle compute and networking services to support the highest performance requirements. Oracle Cloud Infrastructure Block Volumes use the latest NVMe SSDs and provides nonblocking network connectivity to every host. Oracle delivers consistent, low-latency performance of up to 225 IOPS/GB to a maximum of 300,000 IOPS and 2,680 MB/s of throughput per volume.</a:t>
            </a:r>
            <a:endParaRPr sz="1333" dirty="0">
              <a:latin typeface="Rockwell" pitchFamily="18" charset="0"/>
              <a:ea typeface="Merriweather"/>
              <a:cs typeface="Merriweather"/>
              <a:sym typeface="Merriweather"/>
            </a:endParaRPr>
          </a:p>
          <a:p>
            <a:pPr marL="0" indent="0">
              <a:lnSpc>
                <a:spcPct val="130000"/>
              </a:lnSpc>
              <a:buNone/>
            </a:pPr>
            <a:endParaRPr sz="1333" dirty="0">
              <a:latin typeface="Merriweather"/>
              <a:ea typeface="Merriweather"/>
              <a:cs typeface="Merriweather"/>
              <a:sym typeface="Merriweather"/>
            </a:endParaRPr>
          </a:p>
        </p:txBody>
      </p:sp>
      <p:pic>
        <p:nvPicPr>
          <p:cNvPr id="106" name="Google Shape;106;p17"/>
          <p:cNvPicPr preferRelativeResize="0"/>
          <p:nvPr/>
        </p:nvPicPr>
        <p:blipFill rotWithShape="1">
          <a:blip r:embed="rId3" cstate="print">
            <a:alphaModFix/>
          </a:blip>
          <a:srcRect l="2425" t="11930" b="2208"/>
          <a:stretch/>
        </p:blipFill>
        <p:spPr>
          <a:xfrm>
            <a:off x="6317452" y="3631721"/>
            <a:ext cx="4629469" cy="2976113"/>
          </a:xfrm>
          <a:prstGeom prst="rect">
            <a:avLst/>
          </a:prstGeom>
          <a:noFill/>
          <a:ln>
            <a:noFill/>
          </a:ln>
        </p:spPr>
      </p:pic>
      <p:sp>
        <p:nvSpPr>
          <p:cNvPr id="2" name="Google Shape;80;p13">
            <a:extLst>
              <a:ext uri="{FF2B5EF4-FFF2-40B4-BE49-F238E27FC236}">
                <a16:creationId xmlns:a16="http://schemas.microsoft.com/office/drawing/2014/main" id="{678D770C-A963-CFBF-09FB-1630044F8522}"/>
              </a:ext>
            </a:extLst>
          </p:cNvPr>
          <p:cNvSpPr txBox="1"/>
          <p:nvPr/>
        </p:nvSpPr>
        <p:spPr>
          <a:xfrm>
            <a:off x="158500" y="313735"/>
            <a:ext cx="6562400" cy="621600"/>
          </a:xfrm>
          <a:prstGeom prst="rect">
            <a:avLst/>
          </a:prstGeom>
          <a:noFill/>
          <a:ln>
            <a:noFill/>
          </a:ln>
        </p:spPr>
        <p:txBody>
          <a:bodyPr spcFirstLastPara="1" wrap="square" lIns="152400" tIns="121900" rIns="121900" bIns="121900" anchor="t" anchorCtr="0">
            <a:noAutofit/>
          </a:bodyPr>
          <a:lstStyle/>
          <a:p>
            <a:pPr>
              <a:buClr>
                <a:schemeClr val="dk1"/>
              </a:buClr>
              <a:buSzPts val="2000"/>
            </a:pPr>
            <a:r>
              <a:rPr lang="en-US" sz="2400" b="1" dirty="0">
                <a:latin typeface="Rockwell" pitchFamily="18" charset="0"/>
                <a:ea typeface="Karla"/>
                <a:cs typeface="Karla"/>
                <a:sym typeface="Karla"/>
              </a:rPr>
              <a:t>OCI </a:t>
            </a:r>
            <a:r>
              <a:rPr lang="en-US" sz="2400" dirty="0">
                <a:latin typeface="Rockwell" pitchFamily="18" charset="0"/>
                <a:ea typeface="Karla"/>
                <a:cs typeface="Karla"/>
                <a:sym typeface="Karla"/>
              </a:rPr>
              <a:t>- </a:t>
            </a:r>
            <a:r>
              <a:rPr lang="en" sz="2400" b="1" dirty="0">
                <a:latin typeface="Rockwell" pitchFamily="18" charset="0"/>
                <a:ea typeface="Merriweather"/>
                <a:cs typeface="Merriweather"/>
                <a:sym typeface="Merriweather"/>
              </a:rPr>
              <a:t>Block Volumes</a:t>
            </a:r>
            <a:endParaRPr lang="en-IN" sz="2400" b="1" dirty="0">
              <a:latin typeface="Rockwell" pitchFamily="18" charset="0"/>
              <a:ea typeface="Merriweather"/>
              <a:cs typeface="Merriweather"/>
              <a:sym typeface="Merriweather"/>
            </a:endParaRPr>
          </a:p>
        </p:txBody>
      </p:sp>
      <p:sp>
        <p:nvSpPr>
          <p:cNvPr id="6" name="TextBox 5">
            <a:extLst>
              <a:ext uri="{FF2B5EF4-FFF2-40B4-BE49-F238E27FC236}">
                <a16:creationId xmlns:a16="http://schemas.microsoft.com/office/drawing/2014/main" id="{D1C52727-DF00-0003-C04A-608465EBD69C}"/>
              </a:ext>
            </a:extLst>
          </p:cNvPr>
          <p:cNvSpPr txBox="1"/>
          <p:nvPr/>
        </p:nvSpPr>
        <p:spPr>
          <a:xfrm>
            <a:off x="561949" y="3256327"/>
            <a:ext cx="5755503" cy="2829877"/>
          </a:xfrm>
          <a:prstGeom prst="rect">
            <a:avLst/>
          </a:prstGeom>
          <a:noFill/>
        </p:spPr>
        <p:txBody>
          <a:bodyPr wrap="square">
            <a:spAutoFit/>
          </a:bodyPr>
          <a:lstStyle/>
          <a:p>
            <a:pPr marL="482588" indent="-361942">
              <a:lnSpc>
                <a:spcPct val="150000"/>
              </a:lnSpc>
              <a:buClr>
                <a:schemeClr val="dk1"/>
              </a:buClr>
              <a:buSzPct val="120000"/>
              <a:buFont typeface="Wingdings" panose="05000000000000000000" pitchFamily="2" charset="2"/>
              <a:buChar char="v"/>
              <a:tabLst>
                <a:tab pos="241294" algn="l"/>
              </a:tabLst>
            </a:pPr>
            <a:r>
              <a:rPr lang="en-IN" sz="1333" b="1">
                <a:solidFill>
                  <a:schemeClr val="dk1"/>
                </a:solidFill>
                <a:latin typeface="Rockwell" pitchFamily="18" charset="0"/>
                <a:ea typeface="Merriweather"/>
                <a:cs typeface="Merriweather"/>
                <a:sym typeface="Merriweather"/>
              </a:rPr>
              <a:t>Features :</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Cross-region asynchronous block volume replication</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Consistent high performance</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Scales volumes from 50 GB to 32 TB</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Attach volumes to reach 1 PB per compute instance</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Supports dynamic scaling of volumes</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Encryption at rest by default using AES 256</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Encryption in transit supported by TLS 1.2</a:t>
            </a:r>
          </a:p>
          <a:p>
            <a:pPr marL="592652" indent="-228594">
              <a:lnSpc>
                <a:spcPct val="150000"/>
              </a:lnSpc>
              <a:buClr>
                <a:schemeClr val="dk1"/>
              </a:buClr>
              <a:buSzPts val="1300"/>
              <a:buFont typeface="Wingdings" panose="05000000000000000000" pitchFamily="2" charset="2"/>
              <a:buChar char="ü"/>
            </a:pPr>
            <a:r>
              <a:rPr lang="en-IN" sz="1333">
                <a:solidFill>
                  <a:schemeClr val="dk1"/>
                </a:solidFill>
                <a:latin typeface="Rockwell" pitchFamily="18" charset="0"/>
                <a:ea typeface="Merriweather"/>
                <a:cs typeface="Merriweather"/>
                <a:sym typeface="Merriweather"/>
              </a:rPr>
              <a:t>Automatic monitoring for data integrity</a:t>
            </a:r>
            <a:endParaRPr lang="en-IN" sz="1333">
              <a:latin typeface="Rockwell" pitchFamily="18" charset="0"/>
            </a:endParaRPr>
          </a:p>
        </p:txBody>
      </p:sp>
      <p:grpSp>
        <p:nvGrpSpPr>
          <p:cNvPr id="3" name="Group 2">
            <a:extLst>
              <a:ext uri="{FF2B5EF4-FFF2-40B4-BE49-F238E27FC236}">
                <a16:creationId xmlns:a16="http://schemas.microsoft.com/office/drawing/2014/main" id="{518CA485-5E4B-2BD8-D707-29D5079A7168}"/>
              </a:ext>
            </a:extLst>
          </p:cNvPr>
          <p:cNvGrpSpPr/>
          <p:nvPr/>
        </p:nvGrpSpPr>
        <p:grpSpPr>
          <a:xfrm>
            <a:off x="208693" y="1672819"/>
            <a:ext cx="1581665" cy="1172540"/>
            <a:chOff x="4043788" y="1287872"/>
            <a:chExt cx="913941" cy="707623"/>
          </a:xfrm>
        </p:grpSpPr>
        <p:pic>
          <p:nvPicPr>
            <p:cNvPr id="4" name="Picture 3">
              <a:extLst>
                <a:ext uri="{FF2B5EF4-FFF2-40B4-BE49-F238E27FC236}">
                  <a16:creationId xmlns:a16="http://schemas.microsoft.com/office/drawing/2014/main" id="{F997633C-9983-EFB5-19BC-E0C1CA9DBC61}"/>
                </a:ext>
              </a:extLst>
            </p:cNvPr>
            <p:cNvPicPr>
              <a:picLocks noChangeAspect="1"/>
            </p:cNvPicPr>
            <p:nvPr/>
          </p:nvPicPr>
          <p:blipFill>
            <a:blip r:embed="rId4" cstate="print"/>
            <a:stretch>
              <a:fillRect/>
            </a:stretch>
          </p:blipFill>
          <p:spPr>
            <a:xfrm>
              <a:off x="4267659" y="1287872"/>
              <a:ext cx="466200" cy="466200"/>
            </a:xfrm>
            <a:prstGeom prst="rect">
              <a:avLst/>
            </a:prstGeom>
          </p:spPr>
        </p:pic>
        <p:sp>
          <p:nvSpPr>
            <p:cNvPr id="5" name="TextBox 4">
              <a:extLst>
                <a:ext uri="{FF2B5EF4-FFF2-40B4-BE49-F238E27FC236}">
                  <a16:creationId xmlns:a16="http://schemas.microsoft.com/office/drawing/2014/main" id="{A13BC493-8CE0-5304-0FFA-5AC7DCF51042}"/>
                </a:ext>
              </a:extLst>
            </p:cNvPr>
            <p:cNvSpPr txBox="1"/>
            <p:nvPr/>
          </p:nvSpPr>
          <p:spPr>
            <a:xfrm>
              <a:off x="4043788" y="1716882"/>
              <a:ext cx="913941" cy="278613"/>
            </a:xfrm>
            <a:prstGeom prst="rect">
              <a:avLst/>
            </a:prstGeom>
            <a:noFill/>
          </p:spPr>
          <p:txBody>
            <a:bodyPr wrap="square" rtlCol="0">
              <a:spAutoFit/>
            </a:bodyPr>
            <a:lstStyle/>
            <a:p>
              <a:pPr algn="ctr"/>
              <a:r>
                <a:rPr lang="en-IN" sz="1200" b="1"/>
                <a:t>Block </a:t>
              </a:r>
            </a:p>
            <a:p>
              <a:pPr algn="ctr"/>
              <a:r>
                <a:rPr lang="en-IN" sz="1200" b="1"/>
                <a:t>Volumes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10"/>
        <p:cNvGrpSpPr/>
        <p:nvPr/>
      </p:nvGrpSpPr>
      <p:grpSpPr>
        <a:xfrm>
          <a:off x="0" y="0"/>
          <a:ext cx="0" cy="0"/>
          <a:chOff x="0" y="0"/>
          <a:chExt cx="0" cy="0"/>
        </a:xfrm>
      </p:grpSpPr>
      <p:sp>
        <p:nvSpPr>
          <p:cNvPr id="112" name="Google Shape;112;p18"/>
          <p:cNvSpPr txBox="1">
            <a:spLocks noGrp="1"/>
          </p:cNvSpPr>
          <p:nvPr>
            <p:ph type="body" idx="1"/>
          </p:nvPr>
        </p:nvSpPr>
        <p:spPr>
          <a:xfrm>
            <a:off x="1941573" y="1273117"/>
            <a:ext cx="9195130" cy="1639925"/>
          </a:xfrm>
          <a:prstGeom prst="rect">
            <a:avLst/>
          </a:prstGeom>
          <a:noFill/>
          <a:ln>
            <a:noFill/>
          </a:ln>
        </p:spPr>
        <p:txBody>
          <a:bodyPr spcFirstLastPara="1" wrap="square" lIns="121900" tIns="121900" rIns="121900" bIns="121900" anchor="t" anchorCtr="0">
            <a:noAutofit/>
          </a:bodyPr>
          <a:lstStyle/>
          <a:p>
            <a:pPr marL="0" indent="0">
              <a:lnSpc>
                <a:spcPct val="140000"/>
              </a:lnSpc>
              <a:buSzPts val="1530"/>
              <a:buNone/>
            </a:pPr>
            <a:r>
              <a:rPr lang="en" sz="1333" b="1" dirty="0">
                <a:latin typeface="Rockwell" pitchFamily="18" charset="0"/>
                <a:ea typeface="Merriweather"/>
                <a:cs typeface="Merriweather"/>
                <a:sym typeface="Merriweather"/>
              </a:rPr>
              <a:t>Flexible object storage that scales: </a:t>
            </a:r>
          </a:p>
          <a:p>
            <a:pPr marL="0" indent="0">
              <a:lnSpc>
                <a:spcPct val="140000"/>
              </a:lnSpc>
              <a:buSzPts val="1530"/>
              <a:buNone/>
            </a:pPr>
            <a:endParaRPr sz="1333" b="1" dirty="0">
              <a:latin typeface="Rockwell" pitchFamily="18" charset="0"/>
              <a:ea typeface="Merriweather"/>
              <a:cs typeface="Merriweather"/>
              <a:sym typeface="Merriweather"/>
            </a:endParaRPr>
          </a:p>
          <a:p>
            <a:pPr marL="0" indent="0" algn="just">
              <a:lnSpc>
                <a:spcPct val="140000"/>
              </a:lnSpc>
              <a:spcBef>
                <a:spcPts val="267"/>
              </a:spcBef>
              <a:spcAft>
                <a:spcPts val="267"/>
              </a:spcAft>
              <a:buSzPts val="1530"/>
              <a:buNone/>
            </a:pPr>
            <a:r>
              <a:rPr lang="en" sz="1333" dirty="0">
                <a:latin typeface="Rockwell" pitchFamily="18" charset="0"/>
                <a:ea typeface="Merriweather"/>
                <a:cs typeface="Merriweather"/>
                <a:sym typeface="Merriweather"/>
              </a:rPr>
              <a:t>Object Storage enables customers to store any type of data in its native format. This is ideal for building modern applications that require scale and flexibility, as it can be used to consolidate multiple data sources for analytics, backup, or archive purposes.</a:t>
            </a:r>
            <a:endParaRPr sz="1333" dirty="0">
              <a:latin typeface="Rockwell" pitchFamily="18" charset="0"/>
              <a:ea typeface="Merriweather"/>
              <a:cs typeface="Merriweather"/>
              <a:sym typeface="Merriweather"/>
            </a:endParaRPr>
          </a:p>
        </p:txBody>
      </p:sp>
      <p:sp>
        <p:nvSpPr>
          <p:cNvPr id="113" name="Google Shape;113;p18"/>
          <p:cNvSpPr txBox="1"/>
          <p:nvPr/>
        </p:nvSpPr>
        <p:spPr>
          <a:xfrm>
            <a:off x="6797767" y="2670900"/>
            <a:ext cx="5151200" cy="615513"/>
          </a:xfrm>
          <a:prstGeom prst="rect">
            <a:avLst/>
          </a:prstGeom>
          <a:noFill/>
          <a:ln>
            <a:noFill/>
          </a:ln>
        </p:spPr>
        <p:txBody>
          <a:bodyPr spcFirstLastPara="1" wrap="square" lIns="121900" tIns="121900" rIns="121900" bIns="121900" anchor="t" anchorCtr="0">
            <a:spAutoFit/>
          </a:bodyPr>
          <a:lstStyle/>
          <a:p>
            <a:pPr>
              <a:buClr>
                <a:schemeClr val="dk1"/>
              </a:buClr>
              <a:buSzPts val="1800"/>
            </a:pPr>
            <a:endParaRPr sz="2400">
              <a:solidFill>
                <a:schemeClr val="dk1"/>
              </a:solidFill>
              <a:latin typeface="Calibri"/>
              <a:ea typeface="Calibri"/>
              <a:cs typeface="Calibri"/>
              <a:sym typeface="Calibri"/>
            </a:endParaRPr>
          </a:p>
        </p:txBody>
      </p:sp>
      <p:sp>
        <p:nvSpPr>
          <p:cNvPr id="114" name="Google Shape;114;p18"/>
          <p:cNvSpPr txBox="1"/>
          <p:nvPr/>
        </p:nvSpPr>
        <p:spPr>
          <a:xfrm>
            <a:off x="1369714" y="2978867"/>
            <a:ext cx="4271301" cy="3015593"/>
          </a:xfrm>
          <a:prstGeom prst="rect">
            <a:avLst/>
          </a:prstGeom>
          <a:noFill/>
          <a:ln>
            <a:noFill/>
          </a:ln>
        </p:spPr>
        <p:txBody>
          <a:bodyPr spcFirstLastPara="1" wrap="square" lIns="121900" tIns="121900" rIns="121900" bIns="121900" anchor="t" anchorCtr="0">
            <a:spAutoFit/>
          </a:bodyPr>
          <a:lstStyle/>
          <a:p>
            <a:pPr marL="228594" indent="-228594" algn="just">
              <a:lnSpc>
                <a:spcPct val="150000"/>
              </a:lnSpc>
              <a:buClr>
                <a:schemeClr val="dk1"/>
              </a:buClr>
              <a:buSzPct val="120000"/>
              <a:buFont typeface="Wingdings" panose="05000000000000000000" pitchFamily="2" charset="2"/>
              <a:buChar char="v"/>
            </a:pPr>
            <a:r>
              <a:rPr lang="en" sz="1333" b="1" dirty="0">
                <a:solidFill>
                  <a:schemeClr val="dk1"/>
                </a:solidFill>
                <a:latin typeface="Rockwell" pitchFamily="18" charset="0"/>
                <a:ea typeface="Merriweather"/>
                <a:cs typeface="Merriweather"/>
                <a:sym typeface="Merriweather"/>
              </a:rPr>
              <a:t>  Features:</a:t>
            </a:r>
            <a:endParaRPr sz="1333" b="1"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Auto Tiering</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Distributed, durable object storage</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Highly available and scalable</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Access via API, SDK, console, or CLI</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Archive storage option</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Encryption at rest by using AES 256</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Automatic monitoring</a:t>
            </a:r>
            <a:endParaRPr sz="1333" dirty="0">
              <a:solidFill>
                <a:schemeClr val="dk1"/>
              </a:solidFill>
              <a:latin typeface="Rockwell" pitchFamily="18" charset="0"/>
              <a:ea typeface="Merriweather"/>
              <a:cs typeface="Merriweather"/>
              <a:sym typeface="Merriweather"/>
            </a:endParaRPr>
          </a:p>
          <a:p>
            <a:pPr marL="713300" indent="-351358" algn="just">
              <a:lnSpc>
                <a:spcPct val="150000"/>
              </a:lnSpc>
              <a:buClr>
                <a:schemeClr val="dk1"/>
              </a:buClr>
              <a:buSzPts val="11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Self-healing</a:t>
            </a:r>
            <a:endParaRPr sz="1333" dirty="0">
              <a:solidFill>
                <a:schemeClr val="dk1"/>
              </a:solidFill>
              <a:latin typeface="Rockwell" pitchFamily="18" charset="0"/>
              <a:ea typeface="Merriweather"/>
              <a:cs typeface="Merriweather"/>
              <a:sym typeface="Merriweather"/>
            </a:endParaRPr>
          </a:p>
        </p:txBody>
      </p:sp>
      <p:sp>
        <p:nvSpPr>
          <p:cNvPr id="115" name="Google Shape;115;p18"/>
          <p:cNvSpPr txBox="1"/>
          <p:nvPr/>
        </p:nvSpPr>
        <p:spPr>
          <a:xfrm>
            <a:off x="5508873" y="3110517"/>
            <a:ext cx="6228143" cy="2400168"/>
          </a:xfrm>
          <a:prstGeom prst="rect">
            <a:avLst/>
          </a:prstGeom>
          <a:noFill/>
          <a:ln>
            <a:noFill/>
          </a:ln>
        </p:spPr>
        <p:txBody>
          <a:bodyPr spcFirstLastPara="1" wrap="square" lIns="121900" tIns="121900" rIns="121900" bIns="121900" anchor="t" anchorCtr="0">
            <a:spAutoFit/>
          </a:bodyPr>
          <a:lstStyle/>
          <a:p>
            <a:pPr marL="228594" indent="-228594" algn="just">
              <a:lnSpc>
                <a:spcPct val="150000"/>
              </a:lnSpc>
              <a:buClr>
                <a:schemeClr val="dk1"/>
              </a:buClr>
              <a:buSzPct val="120000"/>
              <a:buFont typeface="Wingdings" panose="05000000000000000000" pitchFamily="2" charset="2"/>
              <a:buChar char="v"/>
            </a:pPr>
            <a:r>
              <a:rPr lang="en" sz="1333" b="1" dirty="0">
                <a:solidFill>
                  <a:schemeClr val="dk1"/>
                </a:solidFill>
                <a:latin typeface="Rockwell" pitchFamily="18" charset="0"/>
                <a:ea typeface="Merriweather"/>
                <a:cs typeface="Merriweather"/>
                <a:sym typeface="Merriweather"/>
              </a:rPr>
              <a:t>Limitations:</a:t>
            </a:r>
            <a:endParaRPr sz="1333" b="1" dirty="0">
              <a:solidFill>
                <a:schemeClr val="dk1"/>
              </a:solidFill>
              <a:latin typeface="Rockwell" pitchFamily="18" charset="0"/>
              <a:ea typeface="Merriweather"/>
              <a:cs typeface="Merriweather"/>
              <a:sym typeface="Merriweather"/>
            </a:endParaRPr>
          </a:p>
          <a:p>
            <a:pPr marL="592652" indent="-351358" algn="just">
              <a:lnSpc>
                <a:spcPct val="150000"/>
              </a:lnSpc>
              <a:buClr>
                <a:schemeClr val="dk1"/>
              </a:buClr>
              <a:buSzPct val="1000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Number of Object Storage namespaces per root compartment: 1</a:t>
            </a:r>
            <a:endParaRPr sz="1333" dirty="0">
              <a:solidFill>
                <a:schemeClr val="dk1"/>
              </a:solidFill>
              <a:latin typeface="Rockwell" pitchFamily="18" charset="0"/>
              <a:ea typeface="Merriweather"/>
              <a:cs typeface="Merriweather"/>
              <a:sym typeface="Merriweather"/>
            </a:endParaRPr>
          </a:p>
          <a:p>
            <a:pPr marL="592652" indent="-351358" algn="just">
              <a:lnSpc>
                <a:spcPct val="150000"/>
              </a:lnSpc>
              <a:buClr>
                <a:schemeClr val="dk1"/>
              </a:buClr>
              <a:buSzPct val="1000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Maximum object size: 10 TiB</a:t>
            </a:r>
            <a:endParaRPr sz="1333" dirty="0">
              <a:solidFill>
                <a:schemeClr val="dk1"/>
              </a:solidFill>
              <a:latin typeface="Rockwell" pitchFamily="18" charset="0"/>
              <a:ea typeface="Merriweather"/>
              <a:cs typeface="Merriweather"/>
              <a:sym typeface="Merriweather"/>
            </a:endParaRPr>
          </a:p>
          <a:p>
            <a:pPr marL="592652" indent="-351358" algn="just">
              <a:lnSpc>
                <a:spcPct val="150000"/>
              </a:lnSpc>
              <a:buClr>
                <a:schemeClr val="dk1"/>
              </a:buClr>
              <a:buSzPct val="1000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Maximum object part size in a multipart upload: 50 GiB</a:t>
            </a:r>
            <a:endParaRPr sz="1333" dirty="0">
              <a:solidFill>
                <a:schemeClr val="dk1"/>
              </a:solidFill>
              <a:latin typeface="Rockwell" pitchFamily="18" charset="0"/>
              <a:ea typeface="Merriweather"/>
              <a:cs typeface="Merriweather"/>
              <a:sym typeface="Merriweather"/>
            </a:endParaRPr>
          </a:p>
          <a:p>
            <a:pPr marL="592652" indent="-351358" algn="just">
              <a:lnSpc>
                <a:spcPct val="150000"/>
              </a:lnSpc>
              <a:buClr>
                <a:schemeClr val="dk1"/>
              </a:buClr>
              <a:buSzPct val="1000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Maximum number of parts in a multipart upload: 10,000</a:t>
            </a:r>
            <a:endParaRPr sz="1333" dirty="0">
              <a:solidFill>
                <a:schemeClr val="dk1"/>
              </a:solidFill>
              <a:latin typeface="Rockwell" pitchFamily="18" charset="0"/>
              <a:ea typeface="Merriweather"/>
              <a:cs typeface="Merriweather"/>
              <a:sym typeface="Merriweather"/>
            </a:endParaRPr>
          </a:p>
          <a:p>
            <a:pPr marL="592652" indent="-351358" algn="just">
              <a:lnSpc>
                <a:spcPct val="150000"/>
              </a:lnSpc>
              <a:buClr>
                <a:schemeClr val="dk1"/>
              </a:buClr>
              <a:buSzPct val="1000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Maximum object size allowed by PutObject API: 50 GiB</a:t>
            </a:r>
            <a:endParaRPr sz="1333" dirty="0">
              <a:solidFill>
                <a:schemeClr val="dk1"/>
              </a:solidFill>
              <a:latin typeface="Rockwell" pitchFamily="18" charset="0"/>
              <a:ea typeface="Merriweather"/>
              <a:cs typeface="Merriweather"/>
              <a:sym typeface="Merriweather"/>
            </a:endParaRPr>
          </a:p>
          <a:p>
            <a:pPr marL="592652" indent="-351358" algn="just">
              <a:lnSpc>
                <a:spcPct val="150000"/>
              </a:lnSpc>
              <a:buClr>
                <a:schemeClr val="dk1"/>
              </a:buClr>
              <a:buSzPct val="100000"/>
              <a:buFont typeface="Wingdings" panose="05000000000000000000" pitchFamily="2" charset="2"/>
              <a:buChar char="ü"/>
            </a:pPr>
            <a:r>
              <a:rPr lang="en" sz="1333" dirty="0">
                <a:solidFill>
                  <a:schemeClr val="dk1"/>
                </a:solidFill>
                <a:latin typeface="Rockwell" pitchFamily="18" charset="0"/>
                <a:ea typeface="Merriweather"/>
                <a:cs typeface="Merriweather"/>
                <a:sym typeface="Merriweather"/>
              </a:rPr>
              <a:t>Maximum size of object metadata: 2 K</a:t>
            </a:r>
            <a:endParaRPr sz="1333" dirty="0">
              <a:solidFill>
                <a:schemeClr val="dk1"/>
              </a:solidFill>
              <a:latin typeface="Rockwell" pitchFamily="18" charset="0"/>
              <a:ea typeface="Merriweather"/>
              <a:cs typeface="Merriweather"/>
              <a:sym typeface="Merriweather"/>
            </a:endParaRPr>
          </a:p>
        </p:txBody>
      </p:sp>
      <p:sp>
        <p:nvSpPr>
          <p:cNvPr id="2" name="Google Shape;80;p13">
            <a:extLst>
              <a:ext uri="{FF2B5EF4-FFF2-40B4-BE49-F238E27FC236}">
                <a16:creationId xmlns:a16="http://schemas.microsoft.com/office/drawing/2014/main" id="{5A01B4B8-D9C8-28B0-90BA-861FFB9158E2}"/>
              </a:ext>
            </a:extLst>
          </p:cNvPr>
          <p:cNvSpPr txBox="1"/>
          <p:nvPr/>
        </p:nvSpPr>
        <p:spPr>
          <a:xfrm>
            <a:off x="352500" y="454042"/>
            <a:ext cx="3745047" cy="621600"/>
          </a:xfrm>
          <a:prstGeom prst="rect">
            <a:avLst/>
          </a:prstGeom>
          <a:noFill/>
          <a:ln>
            <a:noFill/>
          </a:ln>
        </p:spPr>
        <p:txBody>
          <a:bodyPr spcFirstLastPara="1" wrap="square" lIns="152400" tIns="121900" rIns="121900" bIns="121900" anchor="t" anchorCtr="0">
            <a:noAutofit/>
          </a:bodyPr>
          <a:lstStyle/>
          <a:p>
            <a:pPr>
              <a:buClr>
                <a:schemeClr val="dk1"/>
              </a:buClr>
              <a:buSzPts val="2000"/>
            </a:pPr>
            <a:r>
              <a:rPr lang="en-US" sz="2400" b="1" dirty="0">
                <a:latin typeface="Rockwell" pitchFamily="18" charset="0"/>
                <a:ea typeface="Karla"/>
                <a:cs typeface="Karla"/>
                <a:sym typeface="Karla"/>
              </a:rPr>
              <a:t>OCI </a:t>
            </a:r>
            <a:r>
              <a:rPr lang="en-US" sz="2400" dirty="0">
                <a:latin typeface="Rockwell" pitchFamily="18" charset="0"/>
                <a:ea typeface="Karla"/>
                <a:cs typeface="Karla"/>
                <a:sym typeface="Karla"/>
              </a:rPr>
              <a:t>- </a:t>
            </a:r>
            <a:r>
              <a:rPr lang="en" sz="2400" b="1" dirty="0">
                <a:latin typeface="Rockwell" pitchFamily="18" charset="0"/>
                <a:ea typeface="Merriweather"/>
                <a:cs typeface="Merriweather"/>
                <a:sym typeface="Merriweather"/>
              </a:rPr>
              <a:t>Object Storage</a:t>
            </a:r>
            <a:endParaRPr lang="en-IN" sz="2400" b="1" dirty="0">
              <a:latin typeface="Rockwell" pitchFamily="18" charset="0"/>
              <a:ea typeface="Merriweather"/>
              <a:cs typeface="Merriweather"/>
              <a:sym typeface="Merriweather"/>
            </a:endParaRPr>
          </a:p>
        </p:txBody>
      </p:sp>
      <p:grpSp>
        <p:nvGrpSpPr>
          <p:cNvPr id="3" name="Group 2">
            <a:extLst>
              <a:ext uri="{FF2B5EF4-FFF2-40B4-BE49-F238E27FC236}">
                <a16:creationId xmlns:a16="http://schemas.microsoft.com/office/drawing/2014/main" id="{EFBDEC5C-C390-DE67-2EF9-311356B3AFB9}"/>
              </a:ext>
            </a:extLst>
          </p:cNvPr>
          <p:cNvGrpSpPr/>
          <p:nvPr/>
        </p:nvGrpSpPr>
        <p:grpSpPr>
          <a:xfrm>
            <a:off x="211200" y="1675201"/>
            <a:ext cx="1584000" cy="945204"/>
            <a:chOff x="4765819" y="1287872"/>
            <a:chExt cx="913941" cy="650571"/>
          </a:xfrm>
        </p:grpSpPr>
        <p:pic>
          <p:nvPicPr>
            <p:cNvPr id="4" name="Picture 3">
              <a:extLst>
                <a:ext uri="{FF2B5EF4-FFF2-40B4-BE49-F238E27FC236}">
                  <a16:creationId xmlns:a16="http://schemas.microsoft.com/office/drawing/2014/main" id="{751633DB-EE2C-297E-EB4D-D7BAC0F4601B}"/>
                </a:ext>
              </a:extLst>
            </p:cNvPr>
            <p:cNvPicPr>
              <a:picLocks noChangeAspect="1"/>
            </p:cNvPicPr>
            <p:nvPr/>
          </p:nvPicPr>
          <p:blipFill>
            <a:blip r:embed="rId3" cstate="print"/>
            <a:stretch>
              <a:fillRect/>
            </a:stretch>
          </p:blipFill>
          <p:spPr>
            <a:xfrm>
              <a:off x="4989690" y="1287872"/>
              <a:ext cx="466200" cy="466200"/>
            </a:xfrm>
            <a:prstGeom prst="rect">
              <a:avLst/>
            </a:prstGeom>
          </p:spPr>
        </p:pic>
        <p:sp>
          <p:nvSpPr>
            <p:cNvPr id="5" name="TextBox 4">
              <a:extLst>
                <a:ext uri="{FF2B5EF4-FFF2-40B4-BE49-F238E27FC236}">
                  <a16:creationId xmlns:a16="http://schemas.microsoft.com/office/drawing/2014/main" id="{CA1066BD-B186-578C-3E78-9965BA7F8E13}"/>
                </a:ext>
              </a:extLst>
            </p:cNvPr>
            <p:cNvSpPr txBox="1"/>
            <p:nvPr/>
          </p:nvSpPr>
          <p:spPr>
            <a:xfrm>
              <a:off x="4765819" y="1747788"/>
              <a:ext cx="913941" cy="190655"/>
            </a:xfrm>
            <a:prstGeom prst="rect">
              <a:avLst/>
            </a:prstGeom>
            <a:noFill/>
          </p:spPr>
          <p:txBody>
            <a:bodyPr wrap="square" rtlCol="0">
              <a:spAutoFit/>
            </a:bodyPr>
            <a:lstStyle/>
            <a:p>
              <a:pPr algn="ctr"/>
              <a:r>
                <a:rPr lang="en-IN" sz="1200" b="1"/>
                <a:t>Object Storage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469047" y="409161"/>
            <a:ext cx="3801029" cy="689600"/>
          </a:xfrm>
          <a:prstGeom prst="rect">
            <a:avLst/>
          </a:prstGeom>
          <a:noFill/>
          <a:ln>
            <a:noFill/>
          </a:ln>
        </p:spPr>
        <p:txBody>
          <a:bodyPr spcFirstLastPara="1" wrap="square" lIns="121900" tIns="121900" rIns="121900" bIns="121900" anchor="t" anchorCtr="0">
            <a:noAutofit/>
          </a:bodyPr>
          <a:lstStyle/>
          <a:p>
            <a:pPr indent="-76198"/>
            <a:r>
              <a:rPr lang="en-US" sz="2400" b="1" dirty="0">
                <a:latin typeface="Rockwell" pitchFamily="18" charset="0"/>
                <a:ea typeface="Karla"/>
                <a:cs typeface="Karla"/>
                <a:sym typeface="Karla"/>
              </a:rPr>
              <a:t>OCI </a:t>
            </a:r>
            <a:r>
              <a:rPr lang="en-US" sz="2400" dirty="0">
                <a:latin typeface="Rockwell" pitchFamily="18" charset="0"/>
                <a:ea typeface="Karla"/>
                <a:cs typeface="Karla"/>
                <a:sym typeface="Karla"/>
              </a:rPr>
              <a:t>- </a:t>
            </a:r>
            <a:r>
              <a:rPr lang="en" sz="2400" b="1" dirty="0">
                <a:solidFill>
                  <a:schemeClr val="tx1"/>
                </a:solidFill>
                <a:latin typeface="Rockwell" pitchFamily="18" charset="0"/>
                <a:ea typeface="Merriweather"/>
                <a:cs typeface="Merriweather"/>
                <a:sym typeface="Merriweather"/>
              </a:rPr>
              <a:t>Archive Storage</a:t>
            </a:r>
            <a:endParaRPr sz="2400" b="1" dirty="0">
              <a:solidFill>
                <a:schemeClr val="tx1"/>
              </a:solidFill>
              <a:latin typeface="Rockwell" pitchFamily="18" charset="0"/>
              <a:ea typeface="Merriweather"/>
              <a:cs typeface="Merriweather"/>
              <a:sym typeface="Merriweather"/>
            </a:endParaRPr>
          </a:p>
        </p:txBody>
      </p:sp>
      <p:sp>
        <p:nvSpPr>
          <p:cNvPr id="136" name="Google Shape;136;p21"/>
          <p:cNvSpPr txBox="1">
            <a:spLocks noGrp="1"/>
          </p:cNvSpPr>
          <p:nvPr>
            <p:ph type="body" idx="1"/>
          </p:nvPr>
        </p:nvSpPr>
        <p:spPr>
          <a:xfrm>
            <a:off x="1711490" y="1248957"/>
            <a:ext cx="9303865" cy="2180043"/>
          </a:xfrm>
          <a:prstGeom prst="rect">
            <a:avLst/>
          </a:prstGeom>
          <a:noFill/>
          <a:ln>
            <a:noFill/>
          </a:ln>
        </p:spPr>
        <p:txBody>
          <a:bodyPr spcFirstLastPara="1" wrap="square" lIns="121900" tIns="121900" rIns="121900" bIns="121900" anchor="t" anchorCtr="0">
            <a:noAutofit/>
          </a:bodyPr>
          <a:lstStyle/>
          <a:p>
            <a:pPr marL="0" indent="0">
              <a:lnSpc>
                <a:spcPct val="150000"/>
              </a:lnSpc>
              <a:spcBef>
                <a:spcPts val="1600"/>
              </a:spcBef>
              <a:buSzPct val="61947"/>
              <a:buNone/>
            </a:pPr>
            <a:r>
              <a:rPr lang="en" sz="1333" b="1" dirty="0">
                <a:latin typeface="Rockwell" pitchFamily="18" charset="0"/>
                <a:ea typeface="Merriweather"/>
                <a:cs typeface="Merriweather"/>
                <a:sym typeface="Merriweather"/>
              </a:rPr>
              <a:t>Long-term, low-cost data storage</a:t>
            </a:r>
            <a:endParaRPr sz="1333" b="1" dirty="0">
              <a:latin typeface="Rockwell" pitchFamily="18" charset="0"/>
              <a:ea typeface="Merriweather"/>
              <a:cs typeface="Merriweather"/>
              <a:sym typeface="Merriweather"/>
            </a:endParaRPr>
          </a:p>
          <a:p>
            <a:pPr marL="0" indent="0" algn="just">
              <a:lnSpc>
                <a:spcPct val="150000"/>
              </a:lnSpc>
              <a:spcBef>
                <a:spcPts val="1600"/>
              </a:spcBef>
              <a:buSzPct val="66801"/>
              <a:buNone/>
            </a:pPr>
            <a:r>
              <a:rPr lang="en" sz="1333" dirty="0">
                <a:latin typeface="Rockwell" pitchFamily="18" charset="0"/>
                <a:ea typeface="Merriweather"/>
                <a:cs typeface="Merriweather"/>
                <a:sym typeface="Merriweather"/>
              </a:rPr>
              <a:t>Archive Storage provides reliable and durable long-term data at one-tenth the cost of Oracle Object Storage, while using the same APIs for easy setup and integration. Data is monitored for integrity, automatically healed, and encrypted at rest. Data can be restored about an hour from the time a request is made. Data can be downloaded within 24 hrs(by default), or from 1 to 240 hours.</a:t>
            </a:r>
            <a:endParaRPr sz="1333" dirty="0">
              <a:latin typeface="Rockwell" pitchFamily="18" charset="0"/>
              <a:ea typeface="Merriweather"/>
              <a:cs typeface="Merriweather"/>
              <a:sym typeface="Merriweather"/>
            </a:endParaRPr>
          </a:p>
          <a:p>
            <a:pPr marL="0" indent="0">
              <a:lnSpc>
                <a:spcPct val="150000"/>
              </a:lnSpc>
              <a:spcBef>
                <a:spcPts val="1600"/>
              </a:spcBef>
              <a:buSzPct val="109310"/>
              <a:buNone/>
            </a:pPr>
            <a:r>
              <a:rPr lang="en" sz="1333" b="1" dirty="0">
                <a:latin typeface="Rockwell" pitchFamily="18" charset="0"/>
                <a:ea typeface="Merriweather"/>
                <a:cs typeface="Merriweather"/>
                <a:sym typeface="Merriweather"/>
              </a:rPr>
              <a:t>  </a:t>
            </a:r>
            <a:endParaRPr sz="1333" dirty="0">
              <a:latin typeface="Rockwell" pitchFamily="18" charset="0"/>
            </a:endParaRPr>
          </a:p>
        </p:txBody>
      </p:sp>
      <p:sp>
        <p:nvSpPr>
          <p:cNvPr id="3" name="TextBox 2">
            <a:extLst>
              <a:ext uri="{FF2B5EF4-FFF2-40B4-BE49-F238E27FC236}">
                <a16:creationId xmlns:a16="http://schemas.microsoft.com/office/drawing/2014/main" id="{5DDC34C9-0492-99C2-7E3B-F31241D1584F}"/>
              </a:ext>
            </a:extLst>
          </p:cNvPr>
          <p:cNvSpPr txBox="1"/>
          <p:nvPr/>
        </p:nvSpPr>
        <p:spPr>
          <a:xfrm>
            <a:off x="1539539" y="3603089"/>
            <a:ext cx="6646125" cy="2111475"/>
          </a:xfrm>
          <a:prstGeom prst="rect">
            <a:avLst/>
          </a:prstGeom>
          <a:noFill/>
        </p:spPr>
        <p:txBody>
          <a:bodyPr wrap="square">
            <a:spAutoFit/>
          </a:bodyPr>
          <a:lstStyle/>
          <a:p>
            <a:pPr marL="228594" indent="-228594">
              <a:lnSpc>
                <a:spcPct val="150000"/>
              </a:lnSpc>
              <a:spcBef>
                <a:spcPts val="1600"/>
              </a:spcBef>
              <a:buClr>
                <a:schemeClr val="dk1"/>
              </a:buClr>
              <a:buSzPct val="109310"/>
              <a:buFont typeface="Wingdings" panose="05000000000000000000" pitchFamily="2" charset="2"/>
              <a:buChar char="v"/>
            </a:pPr>
            <a:r>
              <a:rPr lang="en-US" sz="1333" b="1" dirty="0">
                <a:solidFill>
                  <a:schemeClr val="dk1"/>
                </a:solidFill>
                <a:latin typeface="Rockwell" pitchFamily="18" charset="0"/>
                <a:ea typeface="Merriweather"/>
                <a:cs typeface="Merriweather"/>
                <a:sym typeface="Merriweather"/>
              </a:rPr>
              <a:t>Features :                                                                                        </a:t>
            </a:r>
          </a:p>
          <a:p>
            <a:pPr marL="592652" indent="-351358">
              <a:lnSpc>
                <a:spcPct val="150000"/>
              </a:lnSpc>
              <a:spcBef>
                <a:spcPts val="1600"/>
              </a:spcBef>
              <a:buClr>
                <a:schemeClr val="dk1"/>
              </a:buClr>
              <a:buSzPct val="100000"/>
              <a:buFont typeface="Wingdings" panose="05000000000000000000" pitchFamily="2" charset="2"/>
              <a:buChar char="ü"/>
            </a:pPr>
            <a:r>
              <a:rPr lang="en-US" sz="1333" dirty="0">
                <a:solidFill>
                  <a:schemeClr val="dk1"/>
                </a:solidFill>
                <a:latin typeface="Rockwell" pitchFamily="18" charset="0"/>
                <a:ea typeface="Merriweather"/>
                <a:cs typeface="Merriweather"/>
                <a:sym typeface="Merriweather"/>
              </a:rPr>
              <a:t>Easy to use and integrate                                                                    </a:t>
            </a:r>
          </a:p>
          <a:p>
            <a:pPr marL="592652" indent="-351358">
              <a:lnSpc>
                <a:spcPct val="150000"/>
              </a:lnSpc>
              <a:buClr>
                <a:schemeClr val="dk1"/>
              </a:buClr>
              <a:buSzPct val="100000"/>
              <a:buFont typeface="Wingdings" panose="05000000000000000000" pitchFamily="2" charset="2"/>
              <a:buChar char="ü"/>
            </a:pPr>
            <a:r>
              <a:rPr lang="en-US" sz="1333" dirty="0">
                <a:solidFill>
                  <a:schemeClr val="dk1"/>
                </a:solidFill>
                <a:latin typeface="Rockwell" pitchFamily="18" charset="0"/>
                <a:ea typeface="Merriweather"/>
                <a:cs typeface="Merriweather"/>
                <a:sym typeface="Merriweather"/>
              </a:rPr>
              <a:t>Highly reliable and durable                                               </a:t>
            </a:r>
          </a:p>
          <a:p>
            <a:pPr marL="592652" indent="-351358">
              <a:lnSpc>
                <a:spcPct val="150000"/>
              </a:lnSpc>
              <a:buClr>
                <a:schemeClr val="dk1"/>
              </a:buClr>
              <a:buSzPct val="100000"/>
              <a:buFont typeface="Wingdings" panose="05000000000000000000" pitchFamily="2" charset="2"/>
              <a:buChar char="ü"/>
            </a:pPr>
            <a:r>
              <a:rPr lang="en-US" sz="1333" dirty="0">
                <a:solidFill>
                  <a:schemeClr val="dk1"/>
                </a:solidFill>
                <a:latin typeface="Rockwell" pitchFamily="18" charset="0"/>
                <a:ea typeface="Merriweather"/>
                <a:cs typeface="Merriweather"/>
                <a:sym typeface="Merriweather"/>
              </a:rPr>
              <a:t>No cost for inbound data transfer</a:t>
            </a:r>
          </a:p>
          <a:p>
            <a:pPr marL="592652" indent="-351358">
              <a:lnSpc>
                <a:spcPct val="150000"/>
              </a:lnSpc>
              <a:buClr>
                <a:schemeClr val="dk1"/>
              </a:buClr>
              <a:buSzPct val="100000"/>
              <a:buFont typeface="Wingdings" panose="05000000000000000000" pitchFamily="2" charset="2"/>
              <a:buChar char="ü"/>
            </a:pPr>
            <a:r>
              <a:rPr lang="en-US" sz="1333" dirty="0">
                <a:solidFill>
                  <a:schemeClr val="dk1"/>
                </a:solidFill>
                <a:latin typeface="Rockwell" pitchFamily="18" charset="0"/>
                <a:ea typeface="Merriweather"/>
                <a:cs typeface="Merriweather"/>
                <a:sym typeface="Merriweather"/>
              </a:rPr>
              <a:t>Encryption at rest by default using AES 256</a:t>
            </a:r>
          </a:p>
          <a:p>
            <a:pPr marL="592652" indent="-351358">
              <a:lnSpc>
                <a:spcPct val="150000"/>
              </a:lnSpc>
              <a:buClr>
                <a:schemeClr val="dk1"/>
              </a:buClr>
              <a:buSzPct val="100000"/>
              <a:buFont typeface="Wingdings" panose="05000000000000000000" pitchFamily="2" charset="2"/>
              <a:buChar char="ü"/>
            </a:pPr>
            <a:r>
              <a:rPr lang="en-US" sz="1333" dirty="0">
                <a:solidFill>
                  <a:schemeClr val="dk1"/>
                </a:solidFill>
                <a:latin typeface="Rockwell" pitchFamily="18" charset="0"/>
                <a:ea typeface="Merriweather"/>
                <a:cs typeface="Merriweather"/>
                <a:sym typeface="Merriweather"/>
              </a:rPr>
              <a:t>Automatic monitoring for data integrity</a:t>
            </a:r>
          </a:p>
        </p:txBody>
      </p:sp>
      <p:grpSp>
        <p:nvGrpSpPr>
          <p:cNvPr id="2" name="Group 1">
            <a:extLst>
              <a:ext uri="{FF2B5EF4-FFF2-40B4-BE49-F238E27FC236}">
                <a16:creationId xmlns:a16="http://schemas.microsoft.com/office/drawing/2014/main" id="{09A2676E-337F-6050-E669-C200374B38C1}"/>
              </a:ext>
            </a:extLst>
          </p:cNvPr>
          <p:cNvGrpSpPr/>
          <p:nvPr/>
        </p:nvGrpSpPr>
        <p:grpSpPr>
          <a:xfrm>
            <a:off x="211200" y="1675199"/>
            <a:ext cx="1584000" cy="925566"/>
            <a:chOff x="5431741" y="1287872"/>
            <a:chExt cx="913941" cy="614566"/>
          </a:xfrm>
        </p:grpSpPr>
        <p:pic>
          <p:nvPicPr>
            <p:cNvPr id="4" name="Picture 3">
              <a:extLst>
                <a:ext uri="{FF2B5EF4-FFF2-40B4-BE49-F238E27FC236}">
                  <a16:creationId xmlns:a16="http://schemas.microsoft.com/office/drawing/2014/main" id="{5E020A22-6A90-A98E-1FDA-70B00E3A22E8}"/>
                </a:ext>
              </a:extLst>
            </p:cNvPr>
            <p:cNvPicPr>
              <a:picLocks noChangeAspect="1"/>
            </p:cNvPicPr>
            <p:nvPr/>
          </p:nvPicPr>
          <p:blipFill>
            <a:blip r:embed="rId3" cstate="print">
              <a:duotone>
                <a:prstClr val="black"/>
                <a:srgbClr val="D9C3A5">
                  <a:tint val="50000"/>
                  <a:satMod val="180000"/>
                </a:srgbClr>
              </a:duotone>
            </a:blip>
            <a:stretch>
              <a:fillRect/>
            </a:stretch>
          </p:blipFill>
          <p:spPr>
            <a:xfrm>
              <a:off x="5631462" y="1287872"/>
              <a:ext cx="466200" cy="466200"/>
            </a:xfrm>
            <a:prstGeom prst="rect">
              <a:avLst/>
            </a:prstGeom>
          </p:spPr>
        </p:pic>
        <p:sp>
          <p:nvSpPr>
            <p:cNvPr id="5" name="TextBox 4">
              <a:extLst>
                <a:ext uri="{FF2B5EF4-FFF2-40B4-BE49-F238E27FC236}">
                  <a16:creationId xmlns:a16="http://schemas.microsoft.com/office/drawing/2014/main" id="{0F391E8F-0473-502B-16EA-5947EBC1829D}"/>
                </a:ext>
              </a:extLst>
            </p:cNvPr>
            <p:cNvSpPr txBox="1"/>
            <p:nvPr/>
          </p:nvSpPr>
          <p:spPr>
            <a:xfrm>
              <a:off x="5431741" y="1718514"/>
              <a:ext cx="913941" cy="183924"/>
            </a:xfrm>
            <a:prstGeom prst="rect">
              <a:avLst/>
            </a:prstGeom>
            <a:noFill/>
          </p:spPr>
          <p:txBody>
            <a:bodyPr wrap="square" rtlCol="0">
              <a:spAutoFit/>
            </a:bodyPr>
            <a:lstStyle/>
            <a:p>
              <a:pPr algn="ctr"/>
              <a:r>
                <a:rPr lang="en-IN" sz="1200" b="1"/>
                <a:t>Archive Storage</a:t>
              </a:r>
            </a:p>
          </p:txBody>
        </p:sp>
      </p:grpSp>
    </p:spTree>
    <p:extLst>
      <p:ext uri="{BB962C8B-B14F-4D97-AF65-F5344CB8AC3E}">
        <p14:creationId xmlns:p14="http://schemas.microsoft.com/office/powerpoint/2010/main" val="710697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158496" y="743712"/>
            <a:ext cx="3913172" cy="689600"/>
          </a:xfrm>
          <a:prstGeom prst="rect">
            <a:avLst/>
          </a:prstGeom>
          <a:noFill/>
          <a:ln>
            <a:noFill/>
          </a:ln>
        </p:spPr>
        <p:txBody>
          <a:bodyPr spcFirstLastPara="1" wrap="square" lIns="121900" tIns="121900" rIns="121900" bIns="121900" anchor="t" anchorCtr="0">
            <a:noAutofit/>
          </a:bodyPr>
          <a:lstStyle/>
          <a:p>
            <a:pPr indent="-76198"/>
            <a:r>
              <a:rPr lang="en-US" sz="2400" b="1" dirty="0">
                <a:latin typeface="Rockwell" pitchFamily="18" charset="0"/>
                <a:ea typeface="Karla"/>
                <a:cs typeface="Karla"/>
                <a:sym typeface="Karla"/>
              </a:rPr>
              <a:t>OCI </a:t>
            </a:r>
            <a:r>
              <a:rPr lang="en-US" sz="2400" dirty="0">
                <a:latin typeface="Rockwell" pitchFamily="18" charset="0"/>
                <a:ea typeface="Karla"/>
                <a:cs typeface="Karla"/>
                <a:sym typeface="Karla"/>
              </a:rPr>
              <a:t>- </a:t>
            </a:r>
            <a:r>
              <a:rPr lang="en" sz="2400" b="1" dirty="0">
                <a:solidFill>
                  <a:schemeClr val="tx1"/>
                </a:solidFill>
                <a:latin typeface="Rockwell" pitchFamily="18" charset="0"/>
                <a:ea typeface="Merriweather"/>
                <a:cs typeface="Merriweather"/>
                <a:sym typeface="Merriweather"/>
              </a:rPr>
              <a:t>Archive Storage</a:t>
            </a:r>
            <a:endParaRPr sz="2400" b="1" dirty="0">
              <a:solidFill>
                <a:schemeClr val="tx1"/>
              </a:solidFill>
              <a:latin typeface="Rockwell" pitchFamily="18" charset="0"/>
              <a:ea typeface="Merriweather"/>
              <a:cs typeface="Merriweather"/>
              <a:sym typeface="Merriweather"/>
            </a:endParaRPr>
          </a:p>
        </p:txBody>
      </p:sp>
      <p:sp>
        <p:nvSpPr>
          <p:cNvPr id="137" name="Google Shape;137;p21"/>
          <p:cNvSpPr txBox="1"/>
          <p:nvPr/>
        </p:nvSpPr>
        <p:spPr>
          <a:xfrm>
            <a:off x="1872225" y="1920915"/>
            <a:ext cx="6563052" cy="3015337"/>
          </a:xfrm>
          <a:prstGeom prst="rect">
            <a:avLst/>
          </a:prstGeom>
          <a:noFill/>
          <a:ln>
            <a:noFill/>
          </a:ln>
        </p:spPr>
        <p:txBody>
          <a:bodyPr spcFirstLastPara="1" wrap="square" lIns="121900" tIns="121900" rIns="121900" bIns="121900" anchor="t" anchorCtr="0">
            <a:spAutoFit/>
          </a:bodyPr>
          <a:lstStyle/>
          <a:p>
            <a:pPr marL="228594" indent="-228594" algn="just">
              <a:lnSpc>
                <a:spcPct val="150000"/>
              </a:lnSpc>
              <a:buClr>
                <a:schemeClr val="dk1"/>
              </a:buClr>
              <a:buSzPct val="120000"/>
              <a:buFont typeface="Wingdings" panose="05000000000000000000" pitchFamily="2" charset="2"/>
              <a:buChar char="v"/>
            </a:pPr>
            <a:r>
              <a:rPr lang="en" sz="1333" b="1">
                <a:solidFill>
                  <a:schemeClr val="dk1"/>
                </a:solidFill>
                <a:latin typeface="Rockwell" pitchFamily="18" charset="0"/>
                <a:ea typeface="Merriweather"/>
                <a:cs typeface="Merriweather"/>
                <a:sym typeface="Merriweather"/>
              </a:rPr>
              <a:t>     Limitations:</a:t>
            </a:r>
            <a:endParaRPr sz="1333" b="1">
              <a:solidFill>
                <a:schemeClr val="dk1"/>
              </a:solidFill>
              <a:latin typeface="Rockwell" pitchFamily="18" charset="0"/>
              <a:ea typeface="Merriweather"/>
              <a:cs typeface="Merriweather"/>
              <a:sym typeface="Merriweather"/>
            </a:endParaRPr>
          </a:p>
          <a:p>
            <a:pPr marL="713300" indent="-228594">
              <a:lnSpc>
                <a:spcPct val="200000"/>
              </a:lnSpc>
              <a:buClr>
                <a:schemeClr val="dk1"/>
              </a:buClr>
              <a:buSzPct val="80000"/>
              <a:buFont typeface="Wingdings" panose="05000000000000000000" pitchFamily="2" charset="2"/>
              <a:buChar char="ü"/>
            </a:pPr>
            <a:r>
              <a:rPr lang="en" sz="1333">
                <a:solidFill>
                  <a:schemeClr val="dk1"/>
                </a:solidFill>
                <a:latin typeface="Rockwell" pitchFamily="18" charset="0"/>
                <a:ea typeface="Merriweather"/>
                <a:cs typeface="Merriweather"/>
                <a:sym typeface="Merriweather"/>
              </a:rPr>
              <a:t>Number of namespaces per root compartment: 1</a:t>
            </a:r>
            <a:endParaRPr sz="1333">
              <a:solidFill>
                <a:schemeClr val="dk1"/>
              </a:solidFill>
              <a:latin typeface="Rockwell" pitchFamily="18" charset="0"/>
              <a:ea typeface="Merriweather"/>
              <a:cs typeface="Merriweather"/>
              <a:sym typeface="Merriweather"/>
            </a:endParaRPr>
          </a:p>
          <a:p>
            <a:pPr marL="713300" indent="-228594">
              <a:lnSpc>
                <a:spcPct val="200000"/>
              </a:lnSpc>
              <a:buClr>
                <a:schemeClr val="dk1"/>
              </a:buClr>
              <a:buSzPct val="80000"/>
              <a:buFont typeface="Wingdings" panose="05000000000000000000" pitchFamily="2" charset="2"/>
              <a:buChar char="ü"/>
            </a:pPr>
            <a:r>
              <a:rPr lang="en" sz="1333">
                <a:solidFill>
                  <a:schemeClr val="dk1"/>
                </a:solidFill>
                <a:latin typeface="Rockwell" pitchFamily="18" charset="0"/>
                <a:ea typeface="Merriweather"/>
                <a:cs typeface="Merriweather"/>
                <a:sym typeface="Merriweather"/>
              </a:rPr>
              <a:t>Maximum object size: 10 TiB</a:t>
            </a:r>
            <a:endParaRPr sz="1333">
              <a:solidFill>
                <a:schemeClr val="dk1"/>
              </a:solidFill>
              <a:latin typeface="Rockwell" pitchFamily="18" charset="0"/>
              <a:ea typeface="Merriweather"/>
              <a:cs typeface="Merriweather"/>
              <a:sym typeface="Merriweather"/>
            </a:endParaRPr>
          </a:p>
          <a:p>
            <a:pPr marL="713300" indent="-228594">
              <a:lnSpc>
                <a:spcPct val="200000"/>
              </a:lnSpc>
              <a:buClr>
                <a:schemeClr val="dk1"/>
              </a:buClr>
              <a:buSzPct val="80000"/>
              <a:buFont typeface="Wingdings" panose="05000000000000000000" pitchFamily="2" charset="2"/>
              <a:buChar char="ü"/>
            </a:pPr>
            <a:r>
              <a:rPr lang="en" sz="1333">
                <a:solidFill>
                  <a:schemeClr val="dk1"/>
                </a:solidFill>
                <a:latin typeface="Rockwell" pitchFamily="18" charset="0"/>
                <a:ea typeface="Merriweather"/>
                <a:cs typeface="Merriweather"/>
                <a:sym typeface="Merriweather"/>
              </a:rPr>
              <a:t>Maximum object part size in a multipart upload: 50 GiB</a:t>
            </a:r>
            <a:endParaRPr sz="1333">
              <a:solidFill>
                <a:schemeClr val="dk1"/>
              </a:solidFill>
              <a:latin typeface="Rockwell" pitchFamily="18" charset="0"/>
              <a:ea typeface="Merriweather"/>
              <a:cs typeface="Merriweather"/>
              <a:sym typeface="Merriweather"/>
            </a:endParaRPr>
          </a:p>
          <a:p>
            <a:pPr marL="713300" indent="-228594">
              <a:lnSpc>
                <a:spcPct val="200000"/>
              </a:lnSpc>
              <a:buClr>
                <a:schemeClr val="dk1"/>
              </a:buClr>
              <a:buSzPct val="80000"/>
              <a:buFont typeface="Wingdings" panose="05000000000000000000" pitchFamily="2" charset="2"/>
              <a:buChar char="ü"/>
            </a:pPr>
            <a:r>
              <a:rPr lang="en" sz="1333">
                <a:solidFill>
                  <a:schemeClr val="dk1"/>
                </a:solidFill>
                <a:latin typeface="Rockwell" pitchFamily="18" charset="0"/>
                <a:ea typeface="Merriweather"/>
                <a:cs typeface="Merriweather"/>
                <a:sym typeface="Merriweather"/>
              </a:rPr>
              <a:t>Maximum number of parts in a multipart upload: 10,000</a:t>
            </a:r>
            <a:endParaRPr sz="1333">
              <a:solidFill>
                <a:schemeClr val="dk1"/>
              </a:solidFill>
              <a:latin typeface="Rockwell" pitchFamily="18" charset="0"/>
              <a:ea typeface="Merriweather"/>
              <a:cs typeface="Merriweather"/>
              <a:sym typeface="Merriweather"/>
            </a:endParaRPr>
          </a:p>
          <a:p>
            <a:pPr marL="713300" indent="-228594">
              <a:lnSpc>
                <a:spcPct val="200000"/>
              </a:lnSpc>
              <a:buClr>
                <a:schemeClr val="dk1"/>
              </a:buClr>
              <a:buSzPct val="80000"/>
              <a:buFont typeface="Wingdings" panose="05000000000000000000" pitchFamily="2" charset="2"/>
              <a:buChar char="ü"/>
            </a:pPr>
            <a:r>
              <a:rPr lang="en" sz="1333">
                <a:solidFill>
                  <a:schemeClr val="dk1"/>
                </a:solidFill>
                <a:latin typeface="Rockwell" pitchFamily="18" charset="0"/>
                <a:ea typeface="Merriweather"/>
                <a:cs typeface="Merriweather"/>
                <a:sym typeface="Merriweather"/>
              </a:rPr>
              <a:t>Maximum object size allowed by PutObject API: 50 GiB</a:t>
            </a:r>
            <a:endParaRPr sz="1333">
              <a:solidFill>
                <a:schemeClr val="dk1"/>
              </a:solidFill>
              <a:latin typeface="Rockwell" pitchFamily="18" charset="0"/>
              <a:ea typeface="Merriweather"/>
              <a:cs typeface="Merriweather"/>
              <a:sym typeface="Merriweather"/>
            </a:endParaRPr>
          </a:p>
          <a:p>
            <a:pPr marL="713300" indent="-228594">
              <a:lnSpc>
                <a:spcPct val="200000"/>
              </a:lnSpc>
              <a:buClr>
                <a:schemeClr val="dk1"/>
              </a:buClr>
              <a:buSzPct val="80000"/>
              <a:buFont typeface="Wingdings" panose="05000000000000000000" pitchFamily="2" charset="2"/>
              <a:buChar char="ü"/>
            </a:pPr>
            <a:r>
              <a:rPr lang="en" sz="1333">
                <a:solidFill>
                  <a:schemeClr val="dk1"/>
                </a:solidFill>
                <a:latin typeface="Rockwell" pitchFamily="18" charset="0"/>
                <a:ea typeface="Merriweather"/>
                <a:cs typeface="Merriweather"/>
                <a:sym typeface="Merriweather"/>
              </a:rPr>
              <a:t>Maximum size of object metadata: 2 K</a:t>
            </a:r>
            <a:endParaRPr sz="1333">
              <a:solidFill>
                <a:schemeClr val="dk1"/>
              </a:solidFill>
              <a:latin typeface="Rockwell" pitchFamily="18" charset="0"/>
              <a:ea typeface="Merriweather"/>
              <a:cs typeface="Merriweather"/>
              <a:sym typeface="Merriweather"/>
            </a:endParaRPr>
          </a:p>
        </p:txBody>
      </p:sp>
      <p:grpSp>
        <p:nvGrpSpPr>
          <p:cNvPr id="2" name="Group 1">
            <a:extLst>
              <a:ext uri="{FF2B5EF4-FFF2-40B4-BE49-F238E27FC236}">
                <a16:creationId xmlns:a16="http://schemas.microsoft.com/office/drawing/2014/main" id="{8AC00C5A-E505-A196-8CD7-D43FABD445FE}"/>
              </a:ext>
            </a:extLst>
          </p:cNvPr>
          <p:cNvGrpSpPr/>
          <p:nvPr/>
        </p:nvGrpSpPr>
        <p:grpSpPr>
          <a:xfrm>
            <a:off x="211200" y="1675199"/>
            <a:ext cx="1584000" cy="925566"/>
            <a:chOff x="5431741" y="1287872"/>
            <a:chExt cx="913941" cy="614566"/>
          </a:xfrm>
        </p:grpSpPr>
        <p:pic>
          <p:nvPicPr>
            <p:cNvPr id="3" name="Picture 2">
              <a:extLst>
                <a:ext uri="{FF2B5EF4-FFF2-40B4-BE49-F238E27FC236}">
                  <a16:creationId xmlns:a16="http://schemas.microsoft.com/office/drawing/2014/main" id="{EABD3C9E-2B2B-D3E7-97BA-0498A2E8B493}"/>
                </a:ext>
              </a:extLst>
            </p:cNvPr>
            <p:cNvPicPr>
              <a:picLocks noChangeAspect="1"/>
            </p:cNvPicPr>
            <p:nvPr/>
          </p:nvPicPr>
          <p:blipFill>
            <a:blip r:embed="rId3" cstate="print">
              <a:duotone>
                <a:prstClr val="black"/>
                <a:srgbClr val="D9C3A5">
                  <a:tint val="50000"/>
                  <a:satMod val="180000"/>
                </a:srgbClr>
              </a:duotone>
            </a:blip>
            <a:stretch>
              <a:fillRect/>
            </a:stretch>
          </p:blipFill>
          <p:spPr>
            <a:xfrm>
              <a:off x="5631462" y="1287872"/>
              <a:ext cx="466200" cy="466200"/>
            </a:xfrm>
            <a:prstGeom prst="rect">
              <a:avLst/>
            </a:prstGeom>
          </p:spPr>
        </p:pic>
        <p:sp>
          <p:nvSpPr>
            <p:cNvPr id="4" name="TextBox 3">
              <a:extLst>
                <a:ext uri="{FF2B5EF4-FFF2-40B4-BE49-F238E27FC236}">
                  <a16:creationId xmlns:a16="http://schemas.microsoft.com/office/drawing/2014/main" id="{6180F24C-727B-EA1D-FEE2-74EAF0CA8ED7}"/>
                </a:ext>
              </a:extLst>
            </p:cNvPr>
            <p:cNvSpPr txBox="1"/>
            <p:nvPr/>
          </p:nvSpPr>
          <p:spPr>
            <a:xfrm>
              <a:off x="5431741" y="1718514"/>
              <a:ext cx="913941" cy="183924"/>
            </a:xfrm>
            <a:prstGeom prst="rect">
              <a:avLst/>
            </a:prstGeom>
            <a:noFill/>
          </p:spPr>
          <p:txBody>
            <a:bodyPr wrap="square" rtlCol="0">
              <a:spAutoFit/>
            </a:bodyPr>
            <a:lstStyle/>
            <a:p>
              <a:pPr algn="ctr"/>
              <a:r>
                <a:rPr lang="en-IN" sz="1200" b="1"/>
                <a:t>Archive Storage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A5FA207-670C-4E48-A15B-EB9FFA74B9F1}"/>
              </a:ext>
            </a:extLst>
          </p:cNvPr>
          <p:cNvSpPr>
            <a:spLocks noGrp="1"/>
          </p:cNvSpPr>
          <p:nvPr>
            <p:ph sz="quarter" idx="13"/>
          </p:nvPr>
        </p:nvSpPr>
        <p:spPr>
          <a:xfrm>
            <a:off x="3233184" y="2475745"/>
            <a:ext cx="4936031" cy="1576388"/>
          </a:xfrm>
        </p:spPr>
        <p:txBody>
          <a:bodyPr/>
          <a:lstStyle/>
          <a:p>
            <a:r>
              <a:rPr lang="en-US" sz="8800" dirty="0"/>
              <a:t>Thank You</a:t>
            </a:r>
          </a:p>
        </p:txBody>
      </p:sp>
    </p:spTree>
    <p:extLst>
      <p:ext uri="{BB962C8B-B14F-4D97-AF65-F5344CB8AC3E}">
        <p14:creationId xmlns:p14="http://schemas.microsoft.com/office/powerpoint/2010/main" val="319842073"/>
      </p:ext>
    </p:extLst>
  </p:cSld>
  <p:clrMapOvr>
    <a:masterClrMapping/>
  </p:clrMapOvr>
</p:sld>
</file>

<file path=ppt/theme/theme1.xml><?xml version="1.0" encoding="utf-8"?>
<a:theme xmlns:a="http://schemas.openxmlformats.org/drawingml/2006/main" name="POLA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LA Theme" id="{A5D8B19C-E3FB-4B44-AF57-1CB1C920BF33}" vid="{3841166D-874A-4ED4-A6D9-668D629E873E}"/>
    </a:ext>
  </a:extLst>
</a:theme>
</file>

<file path=ppt/theme/theme2.xml><?xml version="1.0" encoding="utf-8"?>
<a:theme xmlns:a="http://schemas.openxmlformats.org/drawingml/2006/main" name="2_Office Theme">
  <a:themeElements>
    <a:clrScheme name="2_Office Theme">
      <a:dk1>
        <a:srgbClr val="000000"/>
      </a:dk1>
      <a:lt1>
        <a:srgbClr val="FFFFFF"/>
      </a:lt1>
      <a:dk2>
        <a:srgbClr val="A7A7A7"/>
      </a:dk2>
      <a:lt2>
        <a:srgbClr val="535353"/>
      </a:lt2>
      <a:accent1>
        <a:srgbClr val="A5300F"/>
      </a:accent1>
      <a:accent2>
        <a:srgbClr val="D55816"/>
      </a:accent2>
      <a:accent3>
        <a:srgbClr val="E19825"/>
      </a:accent3>
      <a:accent4>
        <a:srgbClr val="B19C7D"/>
      </a:accent4>
      <a:accent5>
        <a:srgbClr val="7F5F52"/>
      </a:accent5>
      <a:accent6>
        <a:srgbClr val="B27D49"/>
      </a:accent6>
      <a:hlink>
        <a:srgbClr val="0000FF"/>
      </a:hlink>
      <a:folHlink>
        <a:srgbClr val="FF00FF"/>
      </a:folHlink>
    </a:clrScheme>
    <a:fontScheme name="2_Office Theme">
      <a:majorFont>
        <a:latin typeface="Calibri"/>
        <a:ea typeface="Calibri"/>
        <a:cs typeface="Calibri"/>
      </a:majorFont>
      <a:minorFont>
        <a:latin typeface="Helvetica"/>
        <a:ea typeface="Helvetica"/>
        <a:cs typeface="Helvetica"/>
      </a:minorFont>
    </a:fontScheme>
    <a:fmtScheme name="2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7F643D0313C64898F9867BA536D39B" ma:contentTypeVersion="20" ma:contentTypeDescription="Create a new document." ma:contentTypeScope="" ma:versionID="c41a8250e654114ed7adb7853b96978e">
  <xsd:schema xmlns:xsd="http://www.w3.org/2001/XMLSchema" xmlns:xs="http://www.w3.org/2001/XMLSchema" xmlns:p="http://schemas.microsoft.com/office/2006/metadata/properties" xmlns:ns1="http://schemas.microsoft.com/sharepoint/v3" xmlns:ns2="5b0e7f2d-017c-4318-b4fc-859f6e04b725" xmlns:ns3="1c29f7c8-e534-4f9b-b5e2-3fccdc44f6e1" xmlns:ns4="cd016b01-ce91-407e-8641-881a681ab7a7" targetNamespace="http://schemas.microsoft.com/office/2006/metadata/properties" ma:root="true" ma:fieldsID="5397cd41a70f929fda7d062e5166cedc" ns1:_="" ns2:_="" ns3:_="" ns4:_="">
    <xsd:import namespace="http://schemas.microsoft.com/sharepoint/v3"/>
    <xsd:import namespace="5b0e7f2d-017c-4318-b4fc-859f6e04b725"/>
    <xsd:import namespace="1c29f7c8-e534-4f9b-b5e2-3fccdc44f6e1"/>
    <xsd:import namespace="cd016b01-ce91-407e-8641-881a681ab7a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GenerationTime" minOccurs="0"/>
                <xsd:element ref="ns2:MediaServiceEventHashCode" minOccurs="0"/>
                <xsd:element ref="ns2:lcf76f155ced4ddcb4097134ff3c332f" minOccurs="0"/>
                <xsd:element ref="ns3:TaxCatchAll" minOccurs="0"/>
                <xsd:element ref="ns4:SharedWithUsers" minOccurs="0"/>
                <xsd:element ref="ns4:SharedWithDetails" minOccurs="0"/>
                <xsd:element ref="ns2:MediaServiceOCR" minOccurs="0"/>
                <xsd:element ref="ns1:_ip_UnifiedCompliancePolicyProperties" minOccurs="0"/>
                <xsd:element ref="ns1:_ip_UnifiedCompliancePolicyUIAction" minOccurs="0"/>
                <xsd:element ref="ns2:MediaServiceSearchProperties" minOccurs="0"/>
                <xsd:element ref="ns2:Note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0e7f2d-017c-4318-b4fc-859f6e04b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55bf7c4-1c5d-4d4a-9c64-4c52f9630240"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otes" ma:index="25" nillable="true" ma:displayName="Notes" ma:format="Dropdown" ma:internalName="Notes">
      <xsd:simpleType>
        <xsd:restriction base="dms:Text">
          <xsd:maxLength value="255"/>
        </xsd:restriction>
      </xsd:simpleType>
    </xsd:element>
    <xsd:element name="_Flow_SignoffStatus" ma:index="26"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c29f7c8-e534-4f9b-b5e2-3fccdc44f6e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d145603-9637-4428-a1d3-976c2ad26bb7}" ma:internalName="TaxCatchAll" ma:showField="CatchAllData" ma:web="cd016b01-ce91-407e-8641-881a681ab7a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016b01-ce91-407e-8641-881a681ab7a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b0e7f2d-017c-4318-b4fc-859f6e04b725">
      <Terms xmlns="http://schemas.microsoft.com/office/infopath/2007/PartnerControls"/>
    </lcf76f155ced4ddcb4097134ff3c332f>
    <_ip_UnifiedCompliancePolicyProperties xmlns="http://schemas.microsoft.com/sharepoint/v3" xsi:nil="true"/>
    <Notes xmlns="5b0e7f2d-017c-4318-b4fc-859f6e04b725" xsi:nil="true"/>
    <TaxCatchAll xmlns="1c29f7c8-e534-4f9b-b5e2-3fccdc44f6e1" xsi:nil="true"/>
    <_Flow_SignoffStatus xmlns="5b0e7f2d-017c-4318-b4fc-859f6e04b72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AB3840-84B5-4B3F-822D-136ED2C6D7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b0e7f2d-017c-4318-b4fc-859f6e04b725"/>
    <ds:schemaRef ds:uri="1c29f7c8-e534-4f9b-b5e2-3fccdc44f6e1"/>
    <ds:schemaRef ds:uri="cd016b01-ce91-407e-8641-881a681ab7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843D26-C79B-4ACA-88FC-E817E1FF983C}">
  <ds:schemaRefs>
    <ds:schemaRef ds:uri="1c29f7c8-e534-4f9b-b5e2-3fccdc44f6e1"/>
    <ds:schemaRef ds:uri="5b0e7f2d-017c-4318-b4fc-859f6e04b72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E1D14F67-8E59-4619-91C5-EBFD6F802C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POLA Theme</Template>
  <TotalTime>38</TotalTime>
  <Words>1885</Words>
  <Application>Microsoft Office PowerPoint</Application>
  <PresentationFormat>Widescreen</PresentationFormat>
  <Paragraphs>284</Paragraphs>
  <Slides>19</Slides>
  <Notes>15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Arial</vt:lpstr>
      <vt:lpstr>Calibri</vt:lpstr>
      <vt:lpstr>Calibri Light</vt:lpstr>
      <vt:lpstr>Helvetica</vt:lpstr>
      <vt:lpstr>Karla Medium</vt:lpstr>
      <vt:lpstr>KPMG Light</vt:lpstr>
      <vt:lpstr>Merriweather</vt:lpstr>
      <vt:lpstr>Rockwell</vt:lpstr>
      <vt:lpstr>Wingdings</vt:lpstr>
      <vt:lpstr>POLA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OCI - Archive Storage</vt:lpstr>
      <vt:lpstr>OCI - Archive Storage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ratissh krithick</dc:creator>
  <cp:lastModifiedBy>Chandira Sekaran</cp:lastModifiedBy>
  <cp:revision>4</cp:revision>
  <dcterms:created xsi:type="dcterms:W3CDTF">2022-09-15T16:22:36Z</dcterms:created>
  <dcterms:modified xsi:type="dcterms:W3CDTF">2023-05-10T16:30:36Z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0x0101002C7F643D0313C64898F9867BA536D39B</vt:lpwstr>
  </property>
  <property fmtid="{D5CDD505-2E9C-101B-9397-08002B2CF9AE}" pid="3" name="MediaServiceImageTags">
    <vt:lpwstr/>
  </property>
</Properties>
</file>